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62" r:id="rId2"/>
  </p:sldIdLst>
  <p:sldSz cx="12192000" cy="6858000"/>
  <p:notesSz cx="6858000" cy="9144000"/>
  <p:embeddedFontLst>
    <p:embeddedFont>
      <p:font typeface="Satoshi" pitchFamily="50" charset="0"/>
      <p:regular r:id="rId3"/>
      <p:bold r:id="rId4"/>
      <p:italic r:id="rId5"/>
      <p:boldItalic r:id="rId6"/>
    </p:embeddedFont>
    <p:embeddedFont>
      <p:font typeface="Satoshi Light" pitchFamily="50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912" userDrawn="1">
          <p15:clr>
            <a:srgbClr val="A4A3A4"/>
          </p15:clr>
        </p15:guide>
        <p15:guide id="3" pos="3768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E3E8"/>
    <a:srgbClr val="85AEDB"/>
    <a:srgbClr val="E6E9ED"/>
    <a:srgbClr val="E2E6E9"/>
    <a:srgbClr val="F4F6F9"/>
    <a:srgbClr val="E5E8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B19AA2-4735-411D-92EA-030D3BE96B3A}" v="90" dt="2026-03-24T10:06:45.950"/>
    <p1510:client id="{C53ACF08-A22B-4D72-B435-6F34F3976E26}" v="160" dt="2026-03-24T16:13:07.2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816" y="510"/>
      </p:cViewPr>
      <p:guideLst>
        <p:guide pos="3912"/>
        <p:guide pos="3768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bleStyles" Target="tableStyles.xml"/><Relationship Id="rId5" Type="http://schemas.openxmlformats.org/officeDocument/2006/relationships/font" Target="fonts/font3.fntdata"/><Relationship Id="rId10" Type="http://schemas.openxmlformats.org/officeDocument/2006/relationships/theme" Target="theme/theme1.xml"/><Relationship Id="rId4" Type="http://schemas.openxmlformats.org/officeDocument/2006/relationships/font" Target="fonts/font2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 not remove" hidden="1">
            <a:extLst>
              <a:ext uri="{FF2B5EF4-FFF2-40B4-BE49-F238E27FC236}">
                <a16:creationId xmlns:a16="http://schemas.microsoft.com/office/drawing/2014/main" id="{01038844-2EFB-602C-606D-2D3175DDE05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496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9FB1FE-D23F-264A-3688-3D5B78EC2CC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ack rectangle with white lines&#10;&#10;Description automatically generated">
            <a:extLst>
              <a:ext uri="{FF2B5EF4-FFF2-40B4-BE49-F238E27FC236}">
                <a16:creationId xmlns:a16="http://schemas.microsoft.com/office/drawing/2014/main" id="{AEE6DCF7-8A46-71E7-11B2-8B8D58AF10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12" t="28829"/>
          <a:stretch/>
        </p:blipFill>
        <p:spPr>
          <a:xfrm>
            <a:off x="0" y="0"/>
            <a:ext cx="4834348" cy="2910840"/>
          </a:xfrm>
          <a:prstGeom prst="rect">
            <a:avLst/>
          </a:prstGeom>
        </p:spPr>
      </p:pic>
      <p:pic>
        <p:nvPicPr>
          <p:cNvPr id="4" name="Picture 3" descr="A black rectangle with white lines&#10;&#10;Description automatically generated">
            <a:extLst>
              <a:ext uri="{FF2B5EF4-FFF2-40B4-BE49-F238E27FC236}">
                <a16:creationId xmlns:a16="http://schemas.microsoft.com/office/drawing/2014/main" id="{FD805690-B971-0360-7EE8-2CC77EF4E8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12" t="28829"/>
          <a:stretch/>
        </p:blipFill>
        <p:spPr>
          <a:xfrm rot="10800000">
            <a:off x="7357652" y="3947160"/>
            <a:ext cx="4834348" cy="291084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262413A-F083-3CC9-168D-340D7306CDA1}"/>
              </a:ext>
            </a:extLst>
          </p:cNvPr>
          <p:cNvSpPr/>
          <p:nvPr userDrawn="1"/>
        </p:nvSpPr>
        <p:spPr>
          <a:xfrm rot="5400000">
            <a:off x="5575870" y="1175449"/>
            <a:ext cx="106681" cy="11258422"/>
          </a:xfrm>
          <a:custGeom>
            <a:avLst/>
            <a:gdLst>
              <a:gd name="connsiteX0" fmla="*/ 0 w 106681"/>
              <a:gd name="connsiteY0" fmla="*/ 11258422 h 11258422"/>
              <a:gd name="connsiteX1" fmla="*/ 0 w 106681"/>
              <a:gd name="connsiteY1" fmla="*/ 106680 h 11258422"/>
              <a:gd name="connsiteX2" fmla="*/ 106680 w 106681"/>
              <a:gd name="connsiteY2" fmla="*/ 0 h 11258422"/>
              <a:gd name="connsiteX3" fmla="*/ 106681 w 106681"/>
              <a:gd name="connsiteY3" fmla="*/ 0 h 11258422"/>
              <a:gd name="connsiteX4" fmla="*/ 106680 w 106681"/>
              <a:gd name="connsiteY4" fmla="*/ 11258422 h 11258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681" h="11258422">
                <a:moveTo>
                  <a:pt x="0" y="11258422"/>
                </a:moveTo>
                <a:lnTo>
                  <a:pt x="0" y="106680"/>
                </a:lnTo>
                <a:cubicBezTo>
                  <a:pt x="0" y="47762"/>
                  <a:pt x="47762" y="0"/>
                  <a:pt x="106680" y="0"/>
                </a:cubicBezTo>
                <a:lnTo>
                  <a:pt x="106681" y="0"/>
                </a:lnTo>
                <a:lnTo>
                  <a:pt x="106680" y="11258422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6A5566D-7809-2822-03AD-5B13A7642847}"/>
              </a:ext>
            </a:extLst>
          </p:cNvPr>
          <p:cNvSpPr/>
          <p:nvPr userDrawn="1"/>
        </p:nvSpPr>
        <p:spPr>
          <a:xfrm>
            <a:off x="11408974" y="6751319"/>
            <a:ext cx="213360" cy="106680"/>
          </a:xfrm>
          <a:custGeom>
            <a:avLst/>
            <a:gdLst>
              <a:gd name="connsiteX0" fmla="*/ 106680 w 213360"/>
              <a:gd name="connsiteY0" fmla="*/ 0 h 106680"/>
              <a:gd name="connsiteX1" fmla="*/ 213360 w 213360"/>
              <a:gd name="connsiteY1" fmla="*/ 106680 h 106680"/>
              <a:gd name="connsiteX2" fmla="*/ 0 w 213360"/>
              <a:gd name="connsiteY2" fmla="*/ 106680 h 106680"/>
              <a:gd name="connsiteX3" fmla="*/ 106680 w 213360"/>
              <a:gd name="connsiteY3" fmla="*/ 0 h 106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360" h="106680">
                <a:moveTo>
                  <a:pt x="106680" y="0"/>
                </a:moveTo>
                <a:cubicBezTo>
                  <a:pt x="165598" y="0"/>
                  <a:pt x="213360" y="47762"/>
                  <a:pt x="213360" y="106680"/>
                </a:cubicBezTo>
                <a:lnTo>
                  <a:pt x="0" y="106680"/>
                </a:lnTo>
                <a:cubicBezTo>
                  <a:pt x="0" y="47762"/>
                  <a:pt x="47762" y="0"/>
                  <a:pt x="10668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2E73E5E-5BC9-FE6A-DA97-C50CA1D6E6D5}"/>
              </a:ext>
            </a:extLst>
          </p:cNvPr>
          <p:cNvSpPr/>
          <p:nvPr userDrawn="1"/>
        </p:nvSpPr>
        <p:spPr>
          <a:xfrm rot="10800000">
            <a:off x="11644415" y="6751319"/>
            <a:ext cx="213360" cy="106680"/>
          </a:xfrm>
          <a:custGeom>
            <a:avLst/>
            <a:gdLst>
              <a:gd name="connsiteX0" fmla="*/ 106680 w 213360"/>
              <a:gd name="connsiteY0" fmla="*/ 0 h 106680"/>
              <a:gd name="connsiteX1" fmla="*/ 213360 w 213360"/>
              <a:gd name="connsiteY1" fmla="*/ 106680 h 106680"/>
              <a:gd name="connsiteX2" fmla="*/ 0 w 213360"/>
              <a:gd name="connsiteY2" fmla="*/ 106680 h 106680"/>
              <a:gd name="connsiteX3" fmla="*/ 106680 w 213360"/>
              <a:gd name="connsiteY3" fmla="*/ 0 h 106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360" h="106680">
                <a:moveTo>
                  <a:pt x="106680" y="0"/>
                </a:moveTo>
                <a:cubicBezTo>
                  <a:pt x="165598" y="0"/>
                  <a:pt x="213360" y="47762"/>
                  <a:pt x="213360" y="106680"/>
                </a:cubicBezTo>
                <a:lnTo>
                  <a:pt x="0" y="106680"/>
                </a:lnTo>
                <a:cubicBezTo>
                  <a:pt x="0" y="47762"/>
                  <a:pt x="47762" y="0"/>
                  <a:pt x="10668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90ABA8E-1A16-0935-A014-EE32453E0970}"/>
              </a:ext>
            </a:extLst>
          </p:cNvPr>
          <p:cNvSpPr/>
          <p:nvPr userDrawn="1"/>
        </p:nvSpPr>
        <p:spPr>
          <a:xfrm rot="16200000">
            <a:off x="11887425" y="6751320"/>
            <a:ext cx="106680" cy="106680"/>
          </a:xfrm>
          <a:custGeom>
            <a:avLst/>
            <a:gdLst>
              <a:gd name="connsiteX0" fmla="*/ 106680 w 106680"/>
              <a:gd name="connsiteY0" fmla="*/ 106680 h 106680"/>
              <a:gd name="connsiteX1" fmla="*/ 0 w 106680"/>
              <a:gd name="connsiteY1" fmla="*/ 106680 h 106680"/>
              <a:gd name="connsiteX2" fmla="*/ 0 w 106680"/>
              <a:gd name="connsiteY2" fmla="*/ 0 h 106680"/>
              <a:gd name="connsiteX3" fmla="*/ 106680 w 106680"/>
              <a:gd name="connsiteY3" fmla="*/ 106680 h 106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680" h="106680">
                <a:moveTo>
                  <a:pt x="106680" y="106680"/>
                </a:moveTo>
                <a:lnTo>
                  <a:pt x="0" y="106680"/>
                </a:lnTo>
                <a:lnTo>
                  <a:pt x="0" y="0"/>
                </a:lnTo>
                <a:cubicBezTo>
                  <a:pt x="58918" y="0"/>
                  <a:pt x="106680" y="47762"/>
                  <a:pt x="106680" y="1066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755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4" userDrawn="1">
          <p15:clr>
            <a:srgbClr val="F26B43"/>
          </p15:clr>
        </p15:guide>
        <p15:guide id="2" pos="264" userDrawn="1">
          <p15:clr>
            <a:srgbClr val="F26B43"/>
          </p15:clr>
        </p15:guide>
        <p15:guide id="3" pos="741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ED473-C5A3-1810-DCCB-D3D17ECF9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7F8E9F83-91B0-1782-3720-8BAAD1F803B8}"/>
              </a:ext>
            </a:extLst>
          </p:cNvPr>
          <p:cNvGrpSpPr/>
          <p:nvPr/>
        </p:nvGrpSpPr>
        <p:grpSpPr>
          <a:xfrm>
            <a:off x="320040" y="103392"/>
            <a:ext cx="7909560" cy="772034"/>
            <a:chOff x="320040" y="160542"/>
            <a:chExt cx="7909560" cy="77203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DD1FBD4-6343-AF9D-DB2F-777E1443C6C9}"/>
                </a:ext>
              </a:extLst>
            </p:cNvPr>
            <p:cNvGrpSpPr/>
            <p:nvPr/>
          </p:nvGrpSpPr>
          <p:grpSpPr>
            <a:xfrm>
              <a:off x="320040" y="160542"/>
              <a:ext cx="7551420" cy="461665"/>
              <a:chOff x="320040" y="333791"/>
              <a:chExt cx="7551420" cy="461665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A8D6EA0-6787-EC6C-09CD-60BD9A1452D7}"/>
                  </a:ext>
                </a:extLst>
              </p:cNvPr>
              <p:cNvSpPr txBox="1"/>
              <p:nvPr/>
            </p:nvSpPr>
            <p:spPr>
              <a:xfrm>
                <a:off x="320040" y="333791"/>
                <a:ext cx="7551420" cy="46166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Bef>
                    <a:spcPts val="600"/>
                  </a:spcBef>
                  <a:buClr>
                    <a:srgbClr val="008DB9"/>
                  </a:buClr>
                </a:pPr>
                <a:r>
                  <a:rPr lang="en-US" sz="2400" dirty="0">
                    <a:solidFill>
                      <a:schemeClr val="accent1"/>
                    </a:solidFill>
                    <a:latin typeface="Satoshi" pitchFamily="50" charset="0"/>
                    <a:ea typeface="Verdana" panose="020B0604030504040204" pitchFamily="34" charset="0"/>
                    <a:cs typeface="Space Grotesk" pitchFamily="2" charset="0"/>
                  </a:rPr>
                  <a:t>Agentic Intake System — MVP1 Flow</a:t>
                </a:r>
              </a:p>
            </p:txBody>
          </p:sp>
          <p:cxnSp>
            <p:nvCxnSpPr>
              <p:cNvPr id="3" name="Straight Connector 2">
                <a:extLst>
                  <a:ext uri="{FF2B5EF4-FFF2-40B4-BE49-F238E27FC236}">
                    <a16:creationId xmlns:a16="http://schemas.microsoft.com/office/drawing/2014/main" id="{2F7B359E-BA1E-F3A6-9ACB-F242D73E3F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77151" y="795456"/>
                <a:ext cx="1625918" cy="0"/>
              </a:xfrm>
              <a:prstGeom prst="line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04696C7-60A1-492D-D7D3-60365F90FDF9}"/>
                </a:ext>
              </a:extLst>
            </p:cNvPr>
            <p:cNvSpPr txBox="1"/>
            <p:nvPr/>
          </p:nvSpPr>
          <p:spPr>
            <a:xfrm>
              <a:off x="320040" y="655577"/>
              <a:ext cx="7909560" cy="2769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spcBef>
                  <a:spcPts val="600"/>
                </a:spcBef>
                <a:buClr>
                  <a:srgbClr val="008DB9"/>
                </a:buClr>
              </a:pPr>
              <a:r>
                <a:rPr 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Conversational intake with validation, assistance, and platform submission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FB3C99C-6A5F-003F-A44E-072F13DEBA3B}"/>
              </a:ext>
            </a:extLst>
          </p:cNvPr>
          <p:cNvGrpSpPr/>
          <p:nvPr/>
        </p:nvGrpSpPr>
        <p:grpSpPr>
          <a:xfrm>
            <a:off x="419099" y="1045771"/>
            <a:ext cx="11359892" cy="5577966"/>
            <a:chOff x="419099" y="1045771"/>
            <a:chExt cx="11359892" cy="5577966"/>
          </a:xfrm>
        </p:grpSpPr>
        <p:grpSp>
          <p:nvGrpSpPr>
            <p:cNvPr id="587" name="Group 586">
              <a:extLst>
                <a:ext uri="{FF2B5EF4-FFF2-40B4-BE49-F238E27FC236}">
                  <a16:creationId xmlns:a16="http://schemas.microsoft.com/office/drawing/2014/main" id="{4185C483-37E7-F872-161F-8A704250CBFA}"/>
                </a:ext>
              </a:extLst>
            </p:cNvPr>
            <p:cNvGrpSpPr/>
            <p:nvPr/>
          </p:nvGrpSpPr>
          <p:grpSpPr>
            <a:xfrm>
              <a:off x="2494021" y="1045771"/>
              <a:ext cx="7203958" cy="4075067"/>
              <a:chOff x="2494022" y="1028807"/>
              <a:chExt cx="7203958" cy="4540547"/>
            </a:xfrm>
          </p:grpSpPr>
          <p:sp>
            <p:nvSpPr>
              <p:cNvPr id="237" name="Rectangle: Rounded Corners 236">
                <a:extLst>
                  <a:ext uri="{FF2B5EF4-FFF2-40B4-BE49-F238E27FC236}">
                    <a16:creationId xmlns:a16="http://schemas.microsoft.com/office/drawing/2014/main" id="{4468BDB1-F12A-F3CE-E6EB-15BF8B987288}"/>
                  </a:ext>
                </a:extLst>
              </p:cNvPr>
              <p:cNvSpPr/>
              <p:nvPr/>
            </p:nvSpPr>
            <p:spPr>
              <a:xfrm>
                <a:off x="2494022" y="1028807"/>
                <a:ext cx="7203958" cy="4540547"/>
              </a:xfrm>
              <a:prstGeom prst="roundRect">
                <a:avLst>
                  <a:gd name="adj" fmla="val 3916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660400" dist="215900" dir="2700000" sx="95000" sy="95000" algn="tl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D"/>
              </a:p>
            </p:txBody>
          </p:sp>
          <p:sp>
            <p:nvSpPr>
              <p:cNvPr id="240" name="Rectangle: Rounded Corners 239">
                <a:extLst>
                  <a:ext uri="{FF2B5EF4-FFF2-40B4-BE49-F238E27FC236}">
                    <a16:creationId xmlns:a16="http://schemas.microsoft.com/office/drawing/2014/main" id="{87AA4B8F-B1C4-E06F-F4F6-63F4DAF5C902}"/>
                  </a:ext>
                </a:extLst>
              </p:cNvPr>
              <p:cNvSpPr/>
              <p:nvPr/>
            </p:nvSpPr>
            <p:spPr>
              <a:xfrm>
                <a:off x="2617170" y="1480965"/>
                <a:ext cx="6957662" cy="3922695"/>
              </a:xfrm>
              <a:prstGeom prst="roundRect">
                <a:avLst>
                  <a:gd name="adj" fmla="val 5071"/>
                </a:avLst>
              </a:prstGeom>
              <a:solidFill>
                <a:schemeClr val="accent1">
                  <a:alpha val="8000"/>
                </a:schemeClr>
              </a:solidFill>
              <a:ln w="3175">
                <a:solidFill>
                  <a:schemeClr val="accent3"/>
                </a:solidFill>
              </a:ln>
              <a:effectLst>
                <a:outerShdw blurRad="660400" dist="215900" dir="2700000" sx="95000" sy="95000" algn="tl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D"/>
              </a:p>
            </p:txBody>
          </p:sp>
        </p:grpSp>
        <p:sp>
          <p:nvSpPr>
            <p:cNvPr id="416" name="TextBox 415">
              <a:extLst>
                <a:ext uri="{FF2B5EF4-FFF2-40B4-BE49-F238E27FC236}">
                  <a16:creationId xmlns:a16="http://schemas.microsoft.com/office/drawing/2014/main" id="{D441D617-6284-6DD9-178D-CFA31D5747A7}"/>
                </a:ext>
              </a:extLst>
            </p:cNvPr>
            <p:cNvSpPr txBox="1"/>
            <p:nvPr/>
          </p:nvSpPr>
          <p:spPr>
            <a:xfrm>
              <a:off x="7050347" y="1124628"/>
              <a:ext cx="2518410" cy="2769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r">
                <a:spcBef>
                  <a:spcPts val="600"/>
                </a:spcBef>
                <a:buClr>
                  <a:srgbClr val="008DB9"/>
                </a:buClr>
              </a:pPr>
              <a:r>
                <a:rPr lang="en-US" sz="1200">
                  <a:solidFill>
                    <a:schemeClr val="accent1"/>
                  </a:solidFill>
                  <a:latin typeface="Satoshi" pitchFamily="50" charset="0"/>
                  <a:ea typeface="Verdana" panose="020B0604030504040204" pitchFamily="34" charset="0"/>
                  <a:cs typeface="Poppins" pitchFamily="2" charset="77"/>
                </a:rPr>
                <a:t>Agentic Intake System Backend</a:t>
              </a:r>
            </a:p>
          </p:txBody>
        </p:sp>
        <p:sp>
          <p:nvSpPr>
            <p:cNvPr id="417" name="TextBox 416">
              <a:extLst>
                <a:ext uri="{FF2B5EF4-FFF2-40B4-BE49-F238E27FC236}">
                  <a16:creationId xmlns:a16="http://schemas.microsoft.com/office/drawing/2014/main" id="{1EA9776C-A199-4B88-6DA4-11B1D4483AAA}"/>
                </a:ext>
              </a:extLst>
            </p:cNvPr>
            <p:cNvSpPr txBox="1"/>
            <p:nvPr/>
          </p:nvSpPr>
          <p:spPr>
            <a:xfrm>
              <a:off x="2692408" y="1124628"/>
              <a:ext cx="1405891" cy="27699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spcBef>
                  <a:spcPts val="600"/>
                </a:spcBef>
                <a:buClr>
                  <a:srgbClr val="008DB9"/>
                </a:buClr>
              </a:pPr>
              <a:r>
                <a:rPr lang="en-US" sz="1200" err="1">
                  <a:solidFill>
                    <a:schemeClr val="accent1"/>
                  </a:solidFill>
                  <a:latin typeface="Satoshi" pitchFamily="50" charset="0"/>
                  <a:ea typeface="Verdana" panose="020B0604030504040204" pitchFamily="34" charset="0"/>
                  <a:cs typeface="Poppins" pitchFamily="2" charset="77"/>
                </a:rPr>
                <a:t>FastAPI</a:t>
              </a:r>
              <a:r>
                <a:rPr lang="en-US" sz="1200">
                  <a:solidFill>
                    <a:schemeClr val="accent1"/>
                  </a:solidFill>
                  <a:latin typeface="Satoshi" pitchFamily="50" charset="0"/>
                  <a:ea typeface="Verdana" panose="020B0604030504040204" pitchFamily="34" charset="0"/>
                  <a:cs typeface="Poppins" pitchFamily="2" charset="77"/>
                </a:rPr>
                <a:t> + Python</a:t>
              </a:r>
            </a:p>
          </p:txBody>
        </p:sp>
        <p:cxnSp>
          <p:nvCxnSpPr>
            <p:cNvPr id="506" name="Straight Connector 505">
              <a:extLst>
                <a:ext uri="{FF2B5EF4-FFF2-40B4-BE49-F238E27FC236}">
                  <a16:creationId xmlns:a16="http://schemas.microsoft.com/office/drawing/2014/main" id="{93CA81D0-29B7-409E-705B-978A5D792495}"/>
                </a:ext>
              </a:extLst>
            </p:cNvPr>
            <p:cNvCxnSpPr>
              <a:cxnSpLocks/>
            </p:cNvCxnSpPr>
            <p:nvPr/>
          </p:nvCxnSpPr>
          <p:spPr>
            <a:xfrm>
              <a:off x="4030533" y="2516431"/>
              <a:ext cx="89154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Straight Connector 506">
              <a:extLst>
                <a:ext uri="{FF2B5EF4-FFF2-40B4-BE49-F238E27FC236}">
                  <a16:creationId xmlns:a16="http://schemas.microsoft.com/office/drawing/2014/main" id="{5353BBA2-8F97-2EFC-838F-1C15FF317A33}"/>
                </a:ext>
              </a:extLst>
            </p:cNvPr>
            <p:cNvCxnSpPr>
              <a:cxnSpLocks/>
            </p:cNvCxnSpPr>
            <p:nvPr/>
          </p:nvCxnSpPr>
          <p:spPr>
            <a:xfrm>
              <a:off x="5377793" y="2516431"/>
              <a:ext cx="89154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507">
              <a:extLst>
                <a:ext uri="{FF2B5EF4-FFF2-40B4-BE49-F238E27FC236}">
                  <a16:creationId xmlns:a16="http://schemas.microsoft.com/office/drawing/2014/main" id="{98E8ED43-B86C-19AE-BE4C-63E45A11E43E}"/>
                </a:ext>
              </a:extLst>
            </p:cNvPr>
            <p:cNvCxnSpPr>
              <a:cxnSpLocks/>
            </p:cNvCxnSpPr>
            <p:nvPr/>
          </p:nvCxnSpPr>
          <p:spPr>
            <a:xfrm>
              <a:off x="6725053" y="2516431"/>
              <a:ext cx="89154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508">
              <a:extLst>
                <a:ext uri="{FF2B5EF4-FFF2-40B4-BE49-F238E27FC236}">
                  <a16:creationId xmlns:a16="http://schemas.microsoft.com/office/drawing/2014/main" id="{071FBCAC-C34D-42FE-32FC-0313A77E81D8}"/>
                </a:ext>
              </a:extLst>
            </p:cNvPr>
            <p:cNvCxnSpPr>
              <a:cxnSpLocks/>
            </p:cNvCxnSpPr>
            <p:nvPr/>
          </p:nvCxnSpPr>
          <p:spPr>
            <a:xfrm>
              <a:off x="8072313" y="2516431"/>
              <a:ext cx="89154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1" name="Arrow: Pentagon 500">
              <a:extLst>
                <a:ext uri="{FF2B5EF4-FFF2-40B4-BE49-F238E27FC236}">
                  <a16:creationId xmlns:a16="http://schemas.microsoft.com/office/drawing/2014/main" id="{C6445323-3D0B-2977-67AB-3CCCDF9F518D}"/>
                </a:ext>
              </a:extLst>
            </p:cNvPr>
            <p:cNvSpPr/>
            <p:nvPr/>
          </p:nvSpPr>
          <p:spPr>
            <a:xfrm>
              <a:off x="2795587" y="2254493"/>
              <a:ext cx="1211786" cy="523876"/>
            </a:xfrm>
            <a:prstGeom prst="homePlate">
              <a:avLst/>
            </a:prstGeom>
            <a:solidFill>
              <a:schemeClr val="accent2">
                <a:alpha val="15000"/>
              </a:schemeClr>
            </a:solidFill>
            <a:ln w="31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latin typeface="Satoshi" pitchFamily="50" charset="0"/>
              </a:endParaRPr>
            </a:p>
          </p:txBody>
        </p:sp>
        <p:sp>
          <p:nvSpPr>
            <p:cNvPr id="518" name="TextBox 51">
              <a:extLst>
                <a:ext uri="{FF2B5EF4-FFF2-40B4-BE49-F238E27FC236}">
                  <a16:creationId xmlns:a16="http://schemas.microsoft.com/office/drawing/2014/main" id="{A9D0ED68-A86D-4ED1-0196-B1EFDC876700}"/>
                </a:ext>
              </a:extLst>
            </p:cNvPr>
            <p:cNvSpPr txBox="1"/>
            <p:nvPr/>
          </p:nvSpPr>
          <p:spPr>
            <a:xfrm>
              <a:off x="2882765" y="2331765"/>
              <a:ext cx="978388" cy="36933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8DB9"/>
                </a:buClr>
                <a:defRPr sz="800" b="1">
                  <a:solidFill>
                    <a:srgbClr val="1B2A4A"/>
                  </a:solidFill>
                  <a:latin typeface="Segoe UI"/>
                  <a:ea typeface="Segoe UI"/>
                  <a:cs typeface="Segoe UI"/>
                  <a:sym typeface="Segoe UI"/>
                </a:defRPr>
              </a:pPr>
              <a:r>
                <a:rPr 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" pitchFamily="50" charset="0"/>
                  <a:ea typeface="Verdana" panose="020B0604030504040204" pitchFamily="34" charset="0"/>
                  <a:cs typeface="Poppins" pitchFamily="2" charset="77"/>
                </a:rPr>
                <a:t>Select</a:t>
              </a:r>
              <a:br>
                <a:rPr 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" pitchFamily="50" charset="0"/>
                  <a:ea typeface="Verdana" panose="020B0604030504040204" pitchFamily="34" charset="0"/>
                  <a:cs typeface="Poppins" pitchFamily="2" charset="77"/>
                </a:rPr>
              </a:br>
              <a:r>
                <a:rPr 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" pitchFamily="50" charset="0"/>
                  <a:ea typeface="Verdana" panose="020B0604030504040204" pitchFamily="34" charset="0"/>
                  <a:cs typeface="Poppins" pitchFamily="2" charset="77"/>
                </a:rPr>
                <a:t>Intake</a:t>
              </a:r>
            </a:p>
          </p:txBody>
        </p:sp>
        <p:sp>
          <p:nvSpPr>
            <p:cNvPr id="502" name="Arrow: Pentagon 501">
              <a:extLst>
                <a:ext uri="{FF2B5EF4-FFF2-40B4-BE49-F238E27FC236}">
                  <a16:creationId xmlns:a16="http://schemas.microsoft.com/office/drawing/2014/main" id="{CFB42F07-11C9-1860-289E-7E1E2B4D1DCC}"/>
                </a:ext>
              </a:extLst>
            </p:cNvPr>
            <p:cNvSpPr/>
            <p:nvPr/>
          </p:nvSpPr>
          <p:spPr>
            <a:xfrm>
              <a:off x="4142847" y="2254493"/>
              <a:ext cx="1211786" cy="523876"/>
            </a:xfrm>
            <a:prstGeom prst="homePlate">
              <a:avLst/>
            </a:prstGeom>
            <a:solidFill>
              <a:schemeClr val="accent2">
                <a:alpha val="15000"/>
              </a:schemeClr>
            </a:solidFill>
            <a:ln w="31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latin typeface="Satoshi" pitchFamily="50" charset="0"/>
              </a:endParaRPr>
            </a:p>
          </p:txBody>
        </p:sp>
        <p:sp>
          <p:nvSpPr>
            <p:cNvPr id="519" name="TextBox 61">
              <a:extLst>
                <a:ext uri="{FF2B5EF4-FFF2-40B4-BE49-F238E27FC236}">
                  <a16:creationId xmlns:a16="http://schemas.microsoft.com/office/drawing/2014/main" id="{DE1B368B-6C22-3DBE-4F61-713E627950AD}"/>
                </a:ext>
              </a:extLst>
            </p:cNvPr>
            <p:cNvSpPr txBox="1"/>
            <p:nvPr/>
          </p:nvSpPr>
          <p:spPr>
            <a:xfrm>
              <a:off x="4228819" y="2331765"/>
              <a:ext cx="1148974" cy="36933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8DB9"/>
                </a:buClr>
                <a:defRPr sz="800" b="1">
                  <a:solidFill>
                    <a:srgbClr val="1B2A4A"/>
                  </a:solidFill>
                  <a:latin typeface="Segoe UI"/>
                  <a:ea typeface="Segoe UI"/>
                  <a:cs typeface="Segoe UI"/>
                  <a:sym typeface="Segoe UI"/>
                </a:defRPr>
              </a:pPr>
              <a:r>
                <a:rPr 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" pitchFamily="50" charset="0"/>
                  <a:ea typeface="Verdana" panose="020B0604030504040204" pitchFamily="34" charset="0"/>
                  <a:cs typeface="Poppins" pitchFamily="2" charset="77"/>
                </a:rPr>
                <a:t>Load Config</a:t>
              </a:r>
              <a:br>
                <a:rPr 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" pitchFamily="50" charset="0"/>
                  <a:ea typeface="Verdana" panose="020B0604030504040204" pitchFamily="34" charset="0"/>
                  <a:cs typeface="Poppins" pitchFamily="2" charset="77"/>
                </a:rPr>
              </a:br>
              <a:r>
                <a:rPr 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" pitchFamily="50" charset="0"/>
                  <a:ea typeface="Verdana" panose="020B0604030504040204" pitchFamily="34" charset="0"/>
                  <a:cs typeface="Poppins" pitchFamily="2" charset="77"/>
                </a:rPr>
                <a:t>&amp; Create Session</a:t>
              </a:r>
            </a:p>
          </p:txBody>
        </p:sp>
        <p:sp>
          <p:nvSpPr>
            <p:cNvPr id="503" name="Arrow: Pentagon 502">
              <a:extLst>
                <a:ext uri="{FF2B5EF4-FFF2-40B4-BE49-F238E27FC236}">
                  <a16:creationId xmlns:a16="http://schemas.microsoft.com/office/drawing/2014/main" id="{D1D5F7FD-271D-AA20-D3C9-F9FB4F5D9370}"/>
                </a:ext>
              </a:extLst>
            </p:cNvPr>
            <p:cNvSpPr/>
            <p:nvPr/>
          </p:nvSpPr>
          <p:spPr>
            <a:xfrm>
              <a:off x="5490107" y="2254493"/>
              <a:ext cx="1211786" cy="523876"/>
            </a:xfrm>
            <a:prstGeom prst="homePlate">
              <a:avLst/>
            </a:prstGeom>
            <a:solidFill>
              <a:schemeClr val="accent2">
                <a:alpha val="15000"/>
              </a:schemeClr>
            </a:solidFill>
            <a:ln w="31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latin typeface="Satoshi" pitchFamily="50" charset="0"/>
              </a:endParaRPr>
            </a:p>
          </p:txBody>
        </p:sp>
        <p:sp>
          <p:nvSpPr>
            <p:cNvPr id="520" name="TextBox 62">
              <a:extLst>
                <a:ext uri="{FF2B5EF4-FFF2-40B4-BE49-F238E27FC236}">
                  <a16:creationId xmlns:a16="http://schemas.microsoft.com/office/drawing/2014/main" id="{D2D16B99-084E-1D86-E00C-286435B1E9B0}"/>
                </a:ext>
              </a:extLst>
            </p:cNvPr>
            <p:cNvSpPr txBox="1"/>
            <p:nvPr/>
          </p:nvSpPr>
          <p:spPr>
            <a:xfrm>
              <a:off x="5574871" y="2331765"/>
              <a:ext cx="1027034" cy="36933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8DB9"/>
                </a:buClr>
                <a:defRPr sz="800" b="1">
                  <a:solidFill>
                    <a:srgbClr val="1B2A4A"/>
                  </a:solidFill>
                  <a:latin typeface="Segoe UI"/>
                  <a:ea typeface="Segoe UI"/>
                  <a:cs typeface="Segoe UI"/>
                  <a:sym typeface="Segoe UI"/>
                </a:defRPr>
              </a:pPr>
              <a:r>
                <a:rPr 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" pitchFamily="50" charset="0"/>
                  <a:ea typeface="Verdana" panose="020B0604030504040204" pitchFamily="34" charset="0"/>
                  <a:cs typeface="Poppins" pitchFamily="2" charset="77"/>
                </a:rPr>
                <a:t>Conversational</a:t>
              </a:r>
              <a:br>
                <a:rPr 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" pitchFamily="50" charset="0"/>
                  <a:ea typeface="Verdana" panose="020B0604030504040204" pitchFamily="34" charset="0"/>
                  <a:cs typeface="Poppins" pitchFamily="2" charset="77"/>
                </a:rPr>
              </a:br>
              <a:r>
                <a:rPr 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" pitchFamily="50" charset="0"/>
                  <a:ea typeface="Verdana" panose="020B0604030504040204" pitchFamily="34" charset="0"/>
                  <a:cs typeface="Poppins" pitchFamily="2" charset="77"/>
                </a:rPr>
                <a:t>Q&amp;A</a:t>
              </a:r>
            </a:p>
          </p:txBody>
        </p:sp>
        <p:sp>
          <p:nvSpPr>
            <p:cNvPr id="504" name="Arrow: Pentagon 503">
              <a:extLst>
                <a:ext uri="{FF2B5EF4-FFF2-40B4-BE49-F238E27FC236}">
                  <a16:creationId xmlns:a16="http://schemas.microsoft.com/office/drawing/2014/main" id="{4B44718C-9FE4-9454-1D2C-CA54685F9614}"/>
                </a:ext>
              </a:extLst>
            </p:cNvPr>
            <p:cNvSpPr/>
            <p:nvPr/>
          </p:nvSpPr>
          <p:spPr>
            <a:xfrm>
              <a:off x="6837367" y="2254493"/>
              <a:ext cx="1211786" cy="523876"/>
            </a:xfrm>
            <a:prstGeom prst="homePlate">
              <a:avLst/>
            </a:prstGeom>
            <a:solidFill>
              <a:schemeClr val="accent2">
                <a:alpha val="15000"/>
              </a:schemeClr>
            </a:solidFill>
            <a:ln w="31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latin typeface="Satoshi" pitchFamily="50" charset="0"/>
              </a:endParaRPr>
            </a:p>
          </p:txBody>
        </p:sp>
        <p:sp>
          <p:nvSpPr>
            <p:cNvPr id="521" name="TextBox 69">
              <a:extLst>
                <a:ext uri="{FF2B5EF4-FFF2-40B4-BE49-F238E27FC236}">
                  <a16:creationId xmlns:a16="http://schemas.microsoft.com/office/drawing/2014/main" id="{9F5969E7-D222-A0A1-02C0-C7B8A6AAC979}"/>
                </a:ext>
              </a:extLst>
            </p:cNvPr>
            <p:cNvSpPr txBox="1"/>
            <p:nvPr/>
          </p:nvSpPr>
          <p:spPr>
            <a:xfrm>
              <a:off x="6920925" y="2331765"/>
              <a:ext cx="854893" cy="36933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8DB9"/>
                </a:buClr>
                <a:defRPr sz="800" b="1">
                  <a:solidFill>
                    <a:srgbClr val="1B2A4A"/>
                  </a:solidFill>
                  <a:latin typeface="Segoe UI"/>
                  <a:ea typeface="Segoe UI"/>
                  <a:cs typeface="Segoe UI"/>
                  <a:sym typeface="Segoe UI"/>
                </a:defRPr>
              </a:pPr>
              <a:r>
                <a:rPr 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" pitchFamily="50" charset="0"/>
                  <a:ea typeface="Verdana" panose="020B0604030504040204" pitchFamily="34" charset="0"/>
                  <a:cs typeface="Poppins" pitchFamily="2" charset="77"/>
                </a:rPr>
                <a:t>Review &amp;</a:t>
              </a:r>
              <a:br>
                <a:rPr 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" pitchFamily="50" charset="0"/>
                  <a:ea typeface="Verdana" panose="020B0604030504040204" pitchFamily="34" charset="0"/>
                  <a:cs typeface="Poppins" pitchFamily="2" charset="77"/>
                </a:rPr>
              </a:br>
              <a:r>
                <a:rPr 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" pitchFamily="50" charset="0"/>
                  <a:ea typeface="Verdana" panose="020B0604030504040204" pitchFamily="34" charset="0"/>
                  <a:cs typeface="Poppins" pitchFamily="2" charset="77"/>
                </a:rPr>
                <a:t>Confirm</a:t>
              </a:r>
            </a:p>
          </p:txBody>
        </p:sp>
        <p:sp>
          <p:nvSpPr>
            <p:cNvPr id="505" name="Arrow: Pentagon 504">
              <a:extLst>
                <a:ext uri="{FF2B5EF4-FFF2-40B4-BE49-F238E27FC236}">
                  <a16:creationId xmlns:a16="http://schemas.microsoft.com/office/drawing/2014/main" id="{48B354E8-B1D3-BF38-A00A-141867F39800}"/>
                </a:ext>
              </a:extLst>
            </p:cNvPr>
            <p:cNvSpPr/>
            <p:nvPr/>
          </p:nvSpPr>
          <p:spPr>
            <a:xfrm>
              <a:off x="8184627" y="2254493"/>
              <a:ext cx="1211786" cy="523876"/>
            </a:xfrm>
            <a:prstGeom prst="homePlate">
              <a:avLst/>
            </a:prstGeom>
            <a:solidFill>
              <a:schemeClr val="accent2">
                <a:alpha val="15000"/>
              </a:schemeClr>
            </a:solidFill>
            <a:ln w="31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latin typeface="Satoshi" pitchFamily="50" charset="0"/>
              </a:endParaRPr>
            </a:p>
          </p:txBody>
        </p:sp>
        <p:sp>
          <p:nvSpPr>
            <p:cNvPr id="522" name="TextBox 71">
              <a:extLst>
                <a:ext uri="{FF2B5EF4-FFF2-40B4-BE49-F238E27FC236}">
                  <a16:creationId xmlns:a16="http://schemas.microsoft.com/office/drawing/2014/main" id="{5DAB4C45-E298-69C0-7A85-42C100B8019C}"/>
                </a:ext>
              </a:extLst>
            </p:cNvPr>
            <p:cNvSpPr txBox="1"/>
            <p:nvPr/>
          </p:nvSpPr>
          <p:spPr>
            <a:xfrm>
              <a:off x="8266980" y="2331765"/>
              <a:ext cx="854893" cy="36933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buClr>
                  <a:srgbClr val="008DB9"/>
                </a:buClr>
                <a:defRPr sz="800" b="1">
                  <a:solidFill>
                    <a:srgbClr val="1B2A4A"/>
                  </a:solidFill>
                  <a:latin typeface="Segoe UI"/>
                  <a:ea typeface="Segoe UI"/>
                  <a:cs typeface="Segoe UI"/>
                  <a:sym typeface="Segoe UI"/>
                </a:defRPr>
              </a:pPr>
              <a:r>
                <a:rPr 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" pitchFamily="50" charset="0"/>
                  <a:ea typeface="Verdana" panose="020B0604030504040204" pitchFamily="34" charset="0"/>
                  <a:cs typeface="Poppins" pitchFamily="2" charset="77"/>
                </a:rPr>
                <a:t>Submit to</a:t>
              </a:r>
              <a:br>
                <a:rPr 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" pitchFamily="50" charset="0"/>
                  <a:ea typeface="Verdana" panose="020B0604030504040204" pitchFamily="34" charset="0"/>
                  <a:cs typeface="Poppins" pitchFamily="2" charset="77"/>
                </a:rPr>
              </a:br>
              <a:r>
                <a:rPr 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" pitchFamily="50" charset="0"/>
                  <a:ea typeface="Verdana" panose="020B0604030504040204" pitchFamily="34" charset="0"/>
                  <a:cs typeface="Poppins" pitchFamily="2" charset="77"/>
                </a:rPr>
                <a:t>Platform</a:t>
              </a:r>
            </a:p>
          </p:txBody>
        </p:sp>
        <p:sp>
          <p:nvSpPr>
            <p:cNvPr id="516" name="Circle">
              <a:extLst>
                <a:ext uri="{FF2B5EF4-FFF2-40B4-BE49-F238E27FC236}">
                  <a16:creationId xmlns:a16="http://schemas.microsoft.com/office/drawing/2014/main" id="{6736B73C-F3E4-BE5D-118E-DBF24E75EB35}"/>
                </a:ext>
              </a:extLst>
            </p:cNvPr>
            <p:cNvSpPr/>
            <p:nvPr/>
          </p:nvSpPr>
          <p:spPr>
            <a:xfrm>
              <a:off x="7041470" y="1988327"/>
              <a:ext cx="320043" cy="320043"/>
            </a:xfrm>
            <a:prstGeom prst="ellipse">
              <a:avLst/>
            </a:prstGeom>
            <a:solidFill>
              <a:srgbClr val="85AEDB"/>
            </a:solidFill>
            <a:ln w="12700" cap="flat">
              <a:noFill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200" b="1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defRPr>
              </a:pPr>
              <a:endParaRPr b="1">
                <a:latin typeface="Satoshi" pitchFamily="50" charset="0"/>
              </a:endParaRPr>
            </a:p>
          </p:txBody>
        </p:sp>
        <p:sp>
          <p:nvSpPr>
            <p:cNvPr id="517" name="3">
              <a:extLst>
                <a:ext uri="{FF2B5EF4-FFF2-40B4-BE49-F238E27FC236}">
                  <a16:creationId xmlns:a16="http://schemas.microsoft.com/office/drawing/2014/main" id="{F8B186A3-8FAE-4BDD-8C7B-9E2BD6E33671}"/>
                </a:ext>
              </a:extLst>
            </p:cNvPr>
            <p:cNvSpPr txBox="1"/>
            <p:nvPr/>
          </p:nvSpPr>
          <p:spPr>
            <a:xfrm>
              <a:off x="7105633" y="2009850"/>
              <a:ext cx="191718" cy="276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defPPr>
                <a:defRPr lang="en-US"/>
              </a:defPPr>
              <a:lvl1pPr marL="0" algn="ctr" defTabSz="914400" rtl="0" eaLnBrk="1" latinLnBrk="0" hangingPunct="1">
                <a:defRPr sz="1200" b="1" kern="12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latin typeface="Satoshi" pitchFamily="50" charset="0"/>
                </a:rPr>
                <a:t>4</a:t>
              </a:r>
              <a:endParaRPr>
                <a:latin typeface="Satoshi" pitchFamily="50" charset="0"/>
              </a:endParaRPr>
            </a:p>
          </p:txBody>
        </p:sp>
        <p:sp>
          <p:nvSpPr>
            <p:cNvPr id="514" name="Circle">
              <a:extLst>
                <a:ext uri="{FF2B5EF4-FFF2-40B4-BE49-F238E27FC236}">
                  <a16:creationId xmlns:a16="http://schemas.microsoft.com/office/drawing/2014/main" id="{FF033690-7272-633D-449C-585361346121}"/>
                </a:ext>
              </a:extLst>
            </p:cNvPr>
            <p:cNvSpPr/>
            <p:nvPr/>
          </p:nvSpPr>
          <p:spPr>
            <a:xfrm>
              <a:off x="8352205" y="1988327"/>
              <a:ext cx="320043" cy="320043"/>
            </a:xfrm>
            <a:prstGeom prst="ellipse">
              <a:avLst/>
            </a:prstGeom>
            <a:solidFill>
              <a:srgbClr val="1B2A4A"/>
            </a:solidFill>
            <a:ln w="12700" cap="flat">
              <a:noFill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200" b="1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defRPr>
              </a:pPr>
              <a:endParaRPr b="1">
                <a:latin typeface="Satoshi" pitchFamily="50" charset="0"/>
              </a:endParaRPr>
            </a:p>
          </p:txBody>
        </p:sp>
        <p:sp>
          <p:nvSpPr>
            <p:cNvPr id="515" name="3">
              <a:extLst>
                <a:ext uri="{FF2B5EF4-FFF2-40B4-BE49-F238E27FC236}">
                  <a16:creationId xmlns:a16="http://schemas.microsoft.com/office/drawing/2014/main" id="{C67FBA3B-5B4C-FF6C-6F90-648AA3E20AB6}"/>
                </a:ext>
              </a:extLst>
            </p:cNvPr>
            <p:cNvSpPr txBox="1"/>
            <p:nvPr/>
          </p:nvSpPr>
          <p:spPr>
            <a:xfrm>
              <a:off x="8419574" y="2009850"/>
              <a:ext cx="185306" cy="276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defPPr>
                <a:defRPr lang="en-US"/>
              </a:defPPr>
              <a:lvl1pPr marL="0" algn="ctr" defTabSz="914400" rtl="0" eaLnBrk="1" latinLnBrk="0" hangingPunct="1">
                <a:defRPr sz="1200" b="1" kern="12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latin typeface="Satoshi" pitchFamily="50" charset="0"/>
                </a:rPr>
                <a:t>5</a:t>
              </a:r>
              <a:endParaRPr>
                <a:latin typeface="Satoshi" pitchFamily="50" charset="0"/>
              </a:endParaRPr>
            </a:p>
          </p:txBody>
        </p:sp>
        <p:sp>
          <p:nvSpPr>
            <p:cNvPr id="524" name="Circle">
              <a:extLst>
                <a:ext uri="{FF2B5EF4-FFF2-40B4-BE49-F238E27FC236}">
                  <a16:creationId xmlns:a16="http://schemas.microsoft.com/office/drawing/2014/main" id="{E4C33628-9260-1E4E-6216-6E876406B2C4}"/>
                </a:ext>
              </a:extLst>
            </p:cNvPr>
            <p:cNvSpPr/>
            <p:nvPr/>
          </p:nvSpPr>
          <p:spPr>
            <a:xfrm>
              <a:off x="5730735" y="1988327"/>
              <a:ext cx="320043" cy="320043"/>
            </a:xfrm>
            <a:prstGeom prst="ellipse">
              <a:avLst/>
            </a:prstGeom>
            <a:solidFill>
              <a:srgbClr val="1B2A4A"/>
            </a:solidFill>
            <a:ln w="12700" cap="flat">
              <a:noFill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200" b="1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defRPr>
              </a:pPr>
              <a:endParaRPr b="1">
                <a:latin typeface="Satoshi" pitchFamily="50" charset="0"/>
              </a:endParaRPr>
            </a:p>
          </p:txBody>
        </p:sp>
        <p:sp>
          <p:nvSpPr>
            <p:cNvPr id="525" name="3">
              <a:extLst>
                <a:ext uri="{FF2B5EF4-FFF2-40B4-BE49-F238E27FC236}">
                  <a16:creationId xmlns:a16="http://schemas.microsoft.com/office/drawing/2014/main" id="{4E1A7099-721B-149A-E9AC-699E7DDB5447}"/>
                </a:ext>
              </a:extLst>
            </p:cNvPr>
            <p:cNvSpPr txBox="1"/>
            <p:nvPr/>
          </p:nvSpPr>
          <p:spPr>
            <a:xfrm>
              <a:off x="5800508" y="2009850"/>
              <a:ext cx="180497" cy="276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defPPr>
                <a:defRPr lang="en-US"/>
              </a:defPPr>
              <a:lvl1pPr marL="0" algn="ctr" defTabSz="914400" rtl="0" eaLnBrk="1" latinLnBrk="0" hangingPunct="1">
                <a:defRPr sz="1200" b="1" kern="12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latin typeface="Satoshi" pitchFamily="50" charset="0"/>
                </a:rPr>
                <a:t>3</a:t>
              </a:r>
              <a:endParaRPr>
                <a:latin typeface="Satoshi" pitchFamily="50" charset="0"/>
              </a:endParaRPr>
            </a:p>
          </p:txBody>
        </p:sp>
        <p:sp>
          <p:nvSpPr>
            <p:cNvPr id="527" name="Circle">
              <a:extLst>
                <a:ext uri="{FF2B5EF4-FFF2-40B4-BE49-F238E27FC236}">
                  <a16:creationId xmlns:a16="http://schemas.microsoft.com/office/drawing/2014/main" id="{04B696F4-815C-C5B2-CCB8-4C1A04B2EACB}"/>
                </a:ext>
              </a:extLst>
            </p:cNvPr>
            <p:cNvSpPr/>
            <p:nvPr/>
          </p:nvSpPr>
          <p:spPr>
            <a:xfrm>
              <a:off x="4420000" y="1988327"/>
              <a:ext cx="320043" cy="320043"/>
            </a:xfrm>
            <a:prstGeom prst="ellipse">
              <a:avLst/>
            </a:prstGeom>
            <a:solidFill>
              <a:srgbClr val="85AEDB"/>
            </a:solidFill>
            <a:ln w="12700" cap="flat">
              <a:noFill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200" b="1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defRPr>
              </a:pPr>
              <a:endParaRPr b="1">
                <a:latin typeface="Satoshi" pitchFamily="50" charset="0"/>
              </a:endParaRPr>
            </a:p>
          </p:txBody>
        </p:sp>
        <p:sp>
          <p:nvSpPr>
            <p:cNvPr id="528" name="3">
              <a:extLst>
                <a:ext uri="{FF2B5EF4-FFF2-40B4-BE49-F238E27FC236}">
                  <a16:creationId xmlns:a16="http://schemas.microsoft.com/office/drawing/2014/main" id="{EC66D425-85D3-6E59-221B-922265BF33A9}"/>
                </a:ext>
              </a:extLst>
            </p:cNvPr>
            <p:cNvSpPr txBox="1"/>
            <p:nvPr/>
          </p:nvSpPr>
          <p:spPr>
            <a:xfrm>
              <a:off x="4488170" y="2009850"/>
              <a:ext cx="183703" cy="276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defPPr>
                <a:defRPr lang="en-US"/>
              </a:defPPr>
              <a:lvl1pPr marL="0" algn="ctr" defTabSz="914400" rtl="0" eaLnBrk="1" latinLnBrk="0" hangingPunct="1">
                <a:defRPr sz="1200" b="1" kern="12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latin typeface="Satoshi" pitchFamily="50" charset="0"/>
                </a:rPr>
                <a:t>2</a:t>
              </a:r>
              <a:endParaRPr>
                <a:latin typeface="Satoshi" pitchFamily="50" charset="0"/>
              </a:endParaRPr>
            </a:p>
          </p:txBody>
        </p:sp>
        <p:sp>
          <p:nvSpPr>
            <p:cNvPr id="530" name="Circle">
              <a:extLst>
                <a:ext uri="{FF2B5EF4-FFF2-40B4-BE49-F238E27FC236}">
                  <a16:creationId xmlns:a16="http://schemas.microsoft.com/office/drawing/2014/main" id="{6642702B-6E18-3A88-0FBD-0F919B2C2CC1}"/>
                </a:ext>
              </a:extLst>
            </p:cNvPr>
            <p:cNvSpPr/>
            <p:nvPr/>
          </p:nvSpPr>
          <p:spPr>
            <a:xfrm>
              <a:off x="3109265" y="1988327"/>
              <a:ext cx="320043" cy="320043"/>
            </a:xfrm>
            <a:prstGeom prst="ellipse">
              <a:avLst/>
            </a:prstGeom>
            <a:solidFill>
              <a:srgbClr val="1B2A4A"/>
            </a:solidFill>
            <a:ln w="12700" cap="flat">
              <a:noFill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200" b="1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defRPr>
              </a:pPr>
              <a:endParaRPr b="1">
                <a:latin typeface="Satoshi" pitchFamily="50" charset="0"/>
              </a:endParaRPr>
            </a:p>
          </p:txBody>
        </p:sp>
        <p:sp>
          <p:nvSpPr>
            <p:cNvPr id="531" name="3">
              <a:extLst>
                <a:ext uri="{FF2B5EF4-FFF2-40B4-BE49-F238E27FC236}">
                  <a16:creationId xmlns:a16="http://schemas.microsoft.com/office/drawing/2014/main" id="{CB47E82A-4928-5593-885D-D530107C5B07}"/>
                </a:ext>
              </a:extLst>
            </p:cNvPr>
            <p:cNvSpPr txBox="1"/>
            <p:nvPr/>
          </p:nvSpPr>
          <p:spPr>
            <a:xfrm>
              <a:off x="3192664" y="2009850"/>
              <a:ext cx="153246" cy="276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defPPr>
                <a:defRPr lang="en-US"/>
              </a:defPPr>
              <a:lvl1pPr marL="0" algn="ctr" defTabSz="914400" rtl="0" eaLnBrk="1" latinLnBrk="0" hangingPunct="1">
                <a:defRPr sz="1200" b="1" kern="1200">
                  <a:solidFill>
                    <a:srgbClr val="FFFFFF"/>
                  </a:solidFill>
                  <a:latin typeface="Segoe UI"/>
                  <a:ea typeface="Segoe UI"/>
                  <a:cs typeface="Segoe UI"/>
                  <a:sym typeface="Segoe UI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latin typeface="Satoshi" pitchFamily="50" charset="0"/>
                </a:rPr>
                <a:t>1</a:t>
              </a:r>
              <a:endParaRPr>
                <a:latin typeface="Satoshi" pitchFamily="50" charset="0"/>
              </a:endParaRPr>
            </a:p>
          </p:txBody>
        </p:sp>
        <p:grpSp>
          <p:nvGrpSpPr>
            <p:cNvPr id="547" name="Group 546">
              <a:extLst>
                <a:ext uri="{FF2B5EF4-FFF2-40B4-BE49-F238E27FC236}">
                  <a16:creationId xmlns:a16="http://schemas.microsoft.com/office/drawing/2014/main" id="{3DD29F50-9DF2-C772-DA39-2528C9D089FC}"/>
                </a:ext>
              </a:extLst>
            </p:cNvPr>
            <p:cNvGrpSpPr/>
            <p:nvPr/>
          </p:nvGrpSpPr>
          <p:grpSpPr>
            <a:xfrm>
              <a:off x="5270723" y="1220956"/>
              <a:ext cx="1650554" cy="699896"/>
              <a:chOff x="4612134" y="1386178"/>
              <a:chExt cx="1650554" cy="699896"/>
            </a:xfrm>
          </p:grpSpPr>
          <p:sp>
            <p:nvSpPr>
              <p:cNvPr id="541" name="Rectangle: Rounded Corners 540">
                <a:extLst>
                  <a:ext uri="{FF2B5EF4-FFF2-40B4-BE49-F238E27FC236}">
                    <a16:creationId xmlns:a16="http://schemas.microsoft.com/office/drawing/2014/main" id="{9055E2AC-E5D4-0280-CEBA-A4B39E941264}"/>
                  </a:ext>
                </a:extLst>
              </p:cNvPr>
              <p:cNvSpPr/>
              <p:nvPr/>
            </p:nvSpPr>
            <p:spPr>
              <a:xfrm>
                <a:off x="4630168" y="1386178"/>
                <a:ext cx="1614486" cy="699896"/>
              </a:xfrm>
              <a:prstGeom prst="roundRect">
                <a:avLst>
                  <a:gd name="adj" fmla="val 5173"/>
                </a:avLst>
              </a:prstGeom>
              <a:solidFill>
                <a:schemeClr val="accent1"/>
              </a:solidFill>
              <a:ln>
                <a:noFill/>
              </a:ln>
              <a:effectLst>
                <a:outerShdw blurRad="660400" dist="215900" dir="2700000" sx="95000" sy="95000" algn="tl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D"/>
              </a:p>
            </p:txBody>
          </p:sp>
          <p:grpSp>
            <p:nvGrpSpPr>
              <p:cNvPr id="546" name="Group 545">
                <a:extLst>
                  <a:ext uri="{FF2B5EF4-FFF2-40B4-BE49-F238E27FC236}">
                    <a16:creationId xmlns:a16="http://schemas.microsoft.com/office/drawing/2014/main" id="{3CC417DD-7B4C-231E-E70D-F0110475DB68}"/>
                  </a:ext>
                </a:extLst>
              </p:cNvPr>
              <p:cNvGrpSpPr/>
              <p:nvPr/>
            </p:nvGrpSpPr>
            <p:grpSpPr>
              <a:xfrm>
                <a:off x="4612134" y="1432723"/>
                <a:ext cx="1650554" cy="606807"/>
                <a:chOff x="4612134" y="1455620"/>
                <a:chExt cx="1650554" cy="606807"/>
              </a:xfrm>
            </p:grpSpPr>
            <p:sp>
              <p:nvSpPr>
                <p:cNvPr id="542" name="Rectangle: Rounded Corners 541">
                  <a:extLst>
                    <a:ext uri="{FF2B5EF4-FFF2-40B4-BE49-F238E27FC236}">
                      <a16:creationId xmlns:a16="http://schemas.microsoft.com/office/drawing/2014/main" id="{6E3D56A6-EB9D-E5B8-FEBA-B29F39A9C727}"/>
                    </a:ext>
                  </a:extLst>
                </p:cNvPr>
                <p:cNvSpPr/>
                <p:nvPr/>
              </p:nvSpPr>
              <p:spPr>
                <a:xfrm>
                  <a:off x="4830932" y="1468951"/>
                  <a:ext cx="1180628" cy="20417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3" name="TextBox 542">
                  <a:extLst>
                    <a:ext uri="{FF2B5EF4-FFF2-40B4-BE49-F238E27FC236}">
                      <a16:creationId xmlns:a16="http://schemas.microsoft.com/office/drawing/2014/main" id="{191C0FC0-D724-155B-3CBE-348027FDFA6C}"/>
                    </a:ext>
                  </a:extLst>
                </p:cNvPr>
                <p:cNvSpPr txBox="1"/>
                <p:nvPr/>
              </p:nvSpPr>
              <p:spPr>
                <a:xfrm>
                  <a:off x="5030333" y="1455620"/>
                  <a:ext cx="781826" cy="230832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/>
                <a:p>
                  <a:pPr algn="ctr">
                    <a:spcBef>
                      <a:spcPts val="600"/>
                    </a:spcBef>
                    <a:buClr>
                      <a:srgbClr val="008DB9"/>
                    </a:buClr>
                  </a:pPr>
                  <a:r>
                    <a:rPr lang="en-US" sz="900">
                      <a:solidFill>
                        <a:schemeClr val="accent1"/>
                      </a:solidFill>
                      <a:latin typeface="Satoshi" pitchFamily="50" charset="0"/>
                      <a:ea typeface="Verdana" panose="020B0604030504040204" pitchFamily="34" charset="0"/>
                      <a:cs typeface="Poppins" pitchFamily="2" charset="77"/>
                    </a:rPr>
                    <a:t>ACTIVE</a:t>
                  </a:r>
                </a:p>
              </p:txBody>
            </p:sp>
            <p:sp>
              <p:nvSpPr>
                <p:cNvPr id="544" name="TextBox 543">
                  <a:extLst>
                    <a:ext uri="{FF2B5EF4-FFF2-40B4-BE49-F238E27FC236}">
                      <a16:creationId xmlns:a16="http://schemas.microsoft.com/office/drawing/2014/main" id="{69F8FCD7-AAC8-4703-12FB-A99786E66289}"/>
                    </a:ext>
                  </a:extLst>
                </p:cNvPr>
                <p:cNvSpPr txBox="1"/>
                <p:nvPr/>
              </p:nvSpPr>
              <p:spPr>
                <a:xfrm>
                  <a:off x="4612134" y="1693095"/>
                  <a:ext cx="1650554" cy="369332"/>
                </a:xfrm>
                <a:prstGeom prst="rect">
                  <a:avLst/>
                </a:prstGeom>
                <a:noFill/>
              </p:spPr>
              <p:txBody>
                <a:bodyPr wrap="square" anchor="t">
                  <a:spAutoFit/>
                </a:bodyPr>
                <a:lstStyle/>
                <a:p>
                  <a:pPr algn="ctr">
                    <a:spcBef>
                      <a:spcPts val="600"/>
                    </a:spcBef>
                    <a:buClr>
                      <a:srgbClr val="008DB9"/>
                    </a:buClr>
                  </a:pPr>
                  <a:r>
                    <a:rPr lang="en-US" sz="900">
                      <a:solidFill>
                        <a:schemeClr val="bg1"/>
                      </a:solidFill>
                      <a:latin typeface="Satoshi Light" pitchFamily="50" charset="0"/>
                      <a:ea typeface="Verdana" panose="020B0604030504040204" pitchFamily="34" charset="0"/>
                      <a:cs typeface="Poppins" pitchFamily="2" charset="77"/>
                    </a:rPr>
                    <a:t>MVP1 — Quality: Validation Agent + Assist Agent</a:t>
                  </a:r>
                </a:p>
              </p:txBody>
            </p:sp>
          </p:grpSp>
        </p:grpSp>
        <p:sp>
          <p:nvSpPr>
            <p:cNvPr id="548" name="TextBox 547">
              <a:extLst>
                <a:ext uri="{FF2B5EF4-FFF2-40B4-BE49-F238E27FC236}">
                  <a16:creationId xmlns:a16="http://schemas.microsoft.com/office/drawing/2014/main" id="{FF358AD6-A1DC-67CD-E9BB-4F9F07393030}"/>
                </a:ext>
              </a:extLst>
            </p:cNvPr>
            <p:cNvSpPr txBox="1"/>
            <p:nvPr/>
          </p:nvSpPr>
          <p:spPr>
            <a:xfrm>
              <a:off x="2741258" y="1520742"/>
              <a:ext cx="2342454" cy="40011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spcBef>
                  <a:spcPts val="600"/>
                </a:spcBef>
                <a:buClr>
                  <a:srgbClr val="008DB9"/>
                </a:buClr>
              </a:pPr>
              <a:r>
                <a:rPr lang="en-US" sz="1000">
                  <a:solidFill>
                    <a:schemeClr val="accent1"/>
                  </a:solidFill>
                  <a:latin typeface="Satoshi" pitchFamily="50" charset="0"/>
                  <a:ea typeface="Verdana" panose="020B0604030504040204" pitchFamily="34" charset="0"/>
                  <a:cs typeface="Poppins" pitchFamily="2" charset="77"/>
                </a:rPr>
                <a:t>Google ADK (Agent Development Kit) — MVP1 Pipeline</a:t>
              </a:r>
            </a:p>
          </p:txBody>
        </p:sp>
        <p:grpSp>
          <p:nvGrpSpPr>
            <p:cNvPr id="693" name="Group 692">
              <a:extLst>
                <a:ext uri="{FF2B5EF4-FFF2-40B4-BE49-F238E27FC236}">
                  <a16:creationId xmlns:a16="http://schemas.microsoft.com/office/drawing/2014/main" id="{42F78537-BAC4-791B-6B07-DF19B143FAB3}"/>
                </a:ext>
              </a:extLst>
            </p:cNvPr>
            <p:cNvGrpSpPr/>
            <p:nvPr/>
          </p:nvGrpSpPr>
          <p:grpSpPr>
            <a:xfrm>
              <a:off x="2795587" y="3734612"/>
              <a:ext cx="6600826" cy="699897"/>
              <a:chOff x="2795587" y="3768066"/>
              <a:chExt cx="6600826" cy="699897"/>
            </a:xfrm>
          </p:grpSpPr>
          <p:sp>
            <p:nvSpPr>
              <p:cNvPr id="549" name="Rectangle: Rounded Corners 548">
                <a:extLst>
                  <a:ext uri="{FF2B5EF4-FFF2-40B4-BE49-F238E27FC236}">
                    <a16:creationId xmlns:a16="http://schemas.microsoft.com/office/drawing/2014/main" id="{11FEFD31-9CC7-2356-645D-B767FD36BF7C}"/>
                  </a:ext>
                </a:extLst>
              </p:cNvPr>
              <p:cNvSpPr/>
              <p:nvPr/>
            </p:nvSpPr>
            <p:spPr>
              <a:xfrm>
                <a:off x="2795587" y="3768066"/>
                <a:ext cx="2092694" cy="699897"/>
              </a:xfrm>
              <a:prstGeom prst="roundRect">
                <a:avLst>
                  <a:gd name="adj" fmla="val 5173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660400" dist="215900" dir="2700000" sx="95000" sy="95000" algn="tl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D"/>
              </a:p>
            </p:txBody>
          </p:sp>
          <p:sp>
            <p:nvSpPr>
              <p:cNvPr id="550" name="Rectangle: Rounded Corners 549">
                <a:extLst>
                  <a:ext uri="{FF2B5EF4-FFF2-40B4-BE49-F238E27FC236}">
                    <a16:creationId xmlns:a16="http://schemas.microsoft.com/office/drawing/2014/main" id="{27C6FC59-AB17-A2B3-B519-124A6BBE864C}"/>
                  </a:ext>
                </a:extLst>
              </p:cNvPr>
              <p:cNvSpPr/>
              <p:nvPr/>
            </p:nvSpPr>
            <p:spPr>
              <a:xfrm>
                <a:off x="2968168" y="3845301"/>
                <a:ext cx="1700954" cy="19051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1" name="TextBox 550">
                <a:extLst>
                  <a:ext uri="{FF2B5EF4-FFF2-40B4-BE49-F238E27FC236}">
                    <a16:creationId xmlns:a16="http://schemas.microsoft.com/office/drawing/2014/main" id="{517EFBCA-B007-1D5F-F57B-EB6C69E392DF}"/>
                  </a:ext>
                </a:extLst>
              </p:cNvPr>
              <p:cNvSpPr txBox="1"/>
              <p:nvPr/>
            </p:nvSpPr>
            <p:spPr>
              <a:xfrm>
                <a:off x="3255449" y="3832862"/>
                <a:ext cx="1126392" cy="21538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>
                  <a:spcBef>
                    <a:spcPts val="600"/>
                  </a:spcBef>
                  <a:buClr>
                    <a:srgbClr val="008DB9"/>
                  </a:buClr>
                </a:pPr>
                <a:r>
                  <a:rPr lang="en-US" sz="900" dirty="0">
                    <a:solidFill>
                      <a:schemeClr val="accent1"/>
                    </a:solidFill>
                    <a:latin typeface="Satoshi" pitchFamily="50" charset="0"/>
                    <a:ea typeface="Verdana" panose="020B0604030504040204" pitchFamily="34" charset="0"/>
                    <a:cs typeface="Poppins" pitchFamily="2" charset="77"/>
                  </a:rPr>
                  <a:t>PLANNED</a:t>
                </a:r>
              </a:p>
            </p:txBody>
          </p:sp>
          <p:sp>
            <p:nvSpPr>
              <p:cNvPr id="552" name="Rectangle: Rounded Corners 551">
                <a:extLst>
                  <a:ext uri="{FF2B5EF4-FFF2-40B4-BE49-F238E27FC236}">
                    <a16:creationId xmlns:a16="http://schemas.microsoft.com/office/drawing/2014/main" id="{7984B5A1-68ED-6B31-B6EC-689BA26826F8}"/>
                  </a:ext>
                </a:extLst>
              </p:cNvPr>
              <p:cNvSpPr/>
              <p:nvPr/>
            </p:nvSpPr>
            <p:spPr>
              <a:xfrm>
                <a:off x="5051601" y="3768066"/>
                <a:ext cx="2092694" cy="699897"/>
              </a:xfrm>
              <a:prstGeom prst="roundRect">
                <a:avLst>
                  <a:gd name="adj" fmla="val 5173"/>
                </a:avLst>
              </a:prstGeom>
              <a:solidFill>
                <a:srgbClr val="85AEDB"/>
              </a:solidFill>
              <a:ln>
                <a:noFill/>
              </a:ln>
              <a:effectLst>
                <a:outerShdw blurRad="660400" dist="215900" dir="2700000" sx="95000" sy="95000" algn="tl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D"/>
              </a:p>
            </p:txBody>
          </p:sp>
          <p:sp>
            <p:nvSpPr>
              <p:cNvPr id="553" name="Rectangle: Rounded Corners 552">
                <a:extLst>
                  <a:ext uri="{FF2B5EF4-FFF2-40B4-BE49-F238E27FC236}">
                    <a16:creationId xmlns:a16="http://schemas.microsoft.com/office/drawing/2014/main" id="{2B846D90-F417-74BA-5167-5586E1991AB9}"/>
                  </a:ext>
                </a:extLst>
              </p:cNvPr>
              <p:cNvSpPr/>
              <p:nvPr/>
            </p:nvSpPr>
            <p:spPr>
              <a:xfrm>
                <a:off x="5222233" y="3845301"/>
                <a:ext cx="1700954" cy="19051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4" name="TextBox 553">
                <a:extLst>
                  <a:ext uri="{FF2B5EF4-FFF2-40B4-BE49-F238E27FC236}">
                    <a16:creationId xmlns:a16="http://schemas.microsoft.com/office/drawing/2014/main" id="{7228702F-453A-5D77-5566-FAAED78AEA5B}"/>
                  </a:ext>
                </a:extLst>
              </p:cNvPr>
              <p:cNvSpPr txBox="1"/>
              <p:nvPr/>
            </p:nvSpPr>
            <p:spPr>
              <a:xfrm>
                <a:off x="5509514" y="3832862"/>
                <a:ext cx="1126392" cy="21538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>
                  <a:spcBef>
                    <a:spcPts val="600"/>
                  </a:spcBef>
                  <a:buClr>
                    <a:srgbClr val="008DB9"/>
                  </a:buClr>
                </a:pPr>
                <a:r>
                  <a:rPr lang="en-US" sz="900">
                    <a:solidFill>
                      <a:schemeClr val="accent1"/>
                    </a:solidFill>
                    <a:latin typeface="Satoshi" pitchFamily="50" charset="0"/>
                    <a:ea typeface="Verdana" panose="020B0604030504040204" pitchFamily="34" charset="0"/>
                    <a:cs typeface="Poppins" pitchFamily="2" charset="77"/>
                  </a:rPr>
                  <a:t>PLANNED</a:t>
                </a:r>
              </a:p>
            </p:txBody>
          </p:sp>
          <p:sp>
            <p:nvSpPr>
              <p:cNvPr id="555" name="Rectangle: Rounded Corners 554">
                <a:extLst>
                  <a:ext uri="{FF2B5EF4-FFF2-40B4-BE49-F238E27FC236}">
                    <a16:creationId xmlns:a16="http://schemas.microsoft.com/office/drawing/2014/main" id="{3FE0A3C1-7C39-F94F-DBA6-3D19925AA9C8}"/>
                  </a:ext>
                </a:extLst>
              </p:cNvPr>
              <p:cNvSpPr/>
              <p:nvPr/>
            </p:nvSpPr>
            <p:spPr>
              <a:xfrm>
                <a:off x="7303719" y="3768066"/>
                <a:ext cx="2092694" cy="699897"/>
              </a:xfrm>
              <a:prstGeom prst="roundRect">
                <a:avLst>
                  <a:gd name="adj" fmla="val 5173"/>
                </a:avLst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  <a:effectLst>
                <a:outerShdw blurRad="660400" dist="215900" dir="2700000" sx="95000" sy="95000" algn="tl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D"/>
              </a:p>
            </p:txBody>
          </p:sp>
          <p:sp>
            <p:nvSpPr>
              <p:cNvPr id="556" name="Rectangle: Rounded Corners 555">
                <a:extLst>
                  <a:ext uri="{FF2B5EF4-FFF2-40B4-BE49-F238E27FC236}">
                    <a16:creationId xmlns:a16="http://schemas.microsoft.com/office/drawing/2014/main" id="{1CD6624E-089F-423B-3646-556F2B855E80}"/>
                  </a:ext>
                </a:extLst>
              </p:cNvPr>
              <p:cNvSpPr/>
              <p:nvPr/>
            </p:nvSpPr>
            <p:spPr>
              <a:xfrm>
                <a:off x="7476300" y="3845301"/>
                <a:ext cx="1700954" cy="19051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7" name="TextBox 556">
                <a:extLst>
                  <a:ext uri="{FF2B5EF4-FFF2-40B4-BE49-F238E27FC236}">
                    <a16:creationId xmlns:a16="http://schemas.microsoft.com/office/drawing/2014/main" id="{89880C4A-56A4-396D-9377-5C069EE51853}"/>
                  </a:ext>
                </a:extLst>
              </p:cNvPr>
              <p:cNvSpPr txBox="1"/>
              <p:nvPr/>
            </p:nvSpPr>
            <p:spPr>
              <a:xfrm>
                <a:off x="7763580" y="3832862"/>
                <a:ext cx="1126392" cy="21538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>
                  <a:spcBef>
                    <a:spcPts val="600"/>
                  </a:spcBef>
                  <a:buClr>
                    <a:srgbClr val="008DB9"/>
                  </a:buClr>
                </a:pPr>
                <a:r>
                  <a:rPr lang="en-US" sz="900">
                    <a:solidFill>
                      <a:schemeClr val="accent1"/>
                    </a:solidFill>
                    <a:latin typeface="Satoshi" pitchFamily="50" charset="0"/>
                    <a:ea typeface="Verdana" panose="020B0604030504040204" pitchFamily="34" charset="0"/>
                    <a:cs typeface="Poppins" pitchFamily="2" charset="77"/>
                  </a:rPr>
                  <a:t>PLANNED</a:t>
                </a:r>
              </a:p>
            </p:txBody>
          </p:sp>
          <p:sp>
            <p:nvSpPr>
              <p:cNvPr id="558" name="TextBox 557">
                <a:extLst>
                  <a:ext uri="{FF2B5EF4-FFF2-40B4-BE49-F238E27FC236}">
                    <a16:creationId xmlns:a16="http://schemas.microsoft.com/office/drawing/2014/main" id="{E9A34F6B-46B4-F9BB-DF42-E460AF0900FE}"/>
                  </a:ext>
                </a:extLst>
              </p:cNvPr>
              <p:cNvSpPr txBox="1"/>
              <p:nvPr/>
            </p:nvSpPr>
            <p:spPr>
              <a:xfrm>
                <a:off x="2943825" y="4076513"/>
                <a:ext cx="1796218" cy="344621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>
                  <a:spcBef>
                    <a:spcPts val="600"/>
                  </a:spcBef>
                  <a:buClr>
                    <a:srgbClr val="008DB9"/>
                  </a:buClr>
                </a:pPr>
                <a:r>
                  <a:rPr lang="en-US" sz="900">
                    <a:solidFill>
                      <a:schemeClr val="bg1"/>
                    </a:solidFill>
                    <a:latin typeface="Satoshi Light" pitchFamily="50" charset="0"/>
                    <a:ea typeface="Verdana" panose="020B0604030504040204" pitchFamily="34" charset="0"/>
                    <a:cs typeface="Poppins" pitchFamily="2" charset="77"/>
                  </a:rPr>
                  <a:t>MVP2 — Duplicate Detection (exact + fuzzy + semantic)</a:t>
                </a:r>
              </a:p>
            </p:txBody>
          </p:sp>
          <p:sp>
            <p:nvSpPr>
              <p:cNvPr id="559" name="TextBox 558">
                <a:extLst>
                  <a:ext uri="{FF2B5EF4-FFF2-40B4-BE49-F238E27FC236}">
                    <a16:creationId xmlns:a16="http://schemas.microsoft.com/office/drawing/2014/main" id="{7FF29C78-6975-8BE5-6299-CECBAD132915}"/>
                  </a:ext>
                </a:extLst>
              </p:cNvPr>
              <p:cNvSpPr txBox="1"/>
              <p:nvPr/>
            </p:nvSpPr>
            <p:spPr>
              <a:xfrm>
                <a:off x="5145551" y="4076513"/>
                <a:ext cx="1904796" cy="3693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>
                  <a:spcBef>
                    <a:spcPts val="600"/>
                  </a:spcBef>
                  <a:buClr>
                    <a:srgbClr val="008DB9"/>
                  </a:buClr>
                </a:pPr>
                <a:r>
                  <a:rPr lang="en-US" sz="900">
                    <a:solidFill>
                      <a:schemeClr val="bg1"/>
                    </a:solidFill>
                    <a:latin typeface="Satoshi Light" pitchFamily="50" charset="0"/>
                    <a:ea typeface="Verdana" panose="020B0604030504040204" pitchFamily="34" charset="0"/>
                    <a:cs typeface="Poppins" pitchFamily="2" charset="77"/>
                  </a:rPr>
                  <a:t>MVP3 — Intake Classification (auto-categorize)</a:t>
                </a:r>
              </a:p>
            </p:txBody>
          </p:sp>
          <p:sp>
            <p:nvSpPr>
              <p:cNvPr id="560" name="TextBox 559">
                <a:extLst>
                  <a:ext uri="{FF2B5EF4-FFF2-40B4-BE49-F238E27FC236}">
                    <a16:creationId xmlns:a16="http://schemas.microsoft.com/office/drawing/2014/main" id="{A48F45AA-AD86-5B23-D14C-08C6790CBF39}"/>
                  </a:ext>
                </a:extLst>
              </p:cNvPr>
              <p:cNvSpPr txBox="1"/>
              <p:nvPr/>
            </p:nvSpPr>
            <p:spPr>
              <a:xfrm>
                <a:off x="7398970" y="4076513"/>
                <a:ext cx="1902192" cy="3693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>
                  <a:spcBef>
                    <a:spcPts val="600"/>
                  </a:spcBef>
                  <a:buClr>
                    <a:srgbClr val="008DB9"/>
                  </a:buClr>
                </a:pPr>
                <a:r>
                  <a:rPr lang="en-US" sz="900">
                    <a:solidFill>
                      <a:schemeClr val="bg1"/>
                    </a:solidFill>
                    <a:latin typeface="Satoshi Light" pitchFamily="50" charset="0"/>
                    <a:ea typeface="Verdana" panose="020B0604030504040204" pitchFamily="34" charset="0"/>
                    <a:cs typeface="Poppins" pitchFamily="2" charset="77"/>
                  </a:rPr>
                  <a:t>MVP4 — Agile Artifacts (</a:t>
                </a:r>
                <a:r>
                  <a:rPr lang="en-US" sz="900" err="1">
                    <a:solidFill>
                      <a:schemeClr val="bg1"/>
                    </a:solidFill>
                    <a:latin typeface="Satoshi Light" pitchFamily="50" charset="0"/>
                    <a:ea typeface="Verdana" panose="020B0604030504040204" pitchFamily="34" charset="0"/>
                    <a:cs typeface="Poppins" pitchFamily="2" charset="77"/>
                  </a:rPr>
                  <a:t>StoryDev</a:t>
                </a:r>
                <a:r>
                  <a:rPr lang="en-US" sz="900">
                    <a:solidFill>
                      <a:schemeClr val="bg1"/>
                    </a:solidFill>
                    <a:latin typeface="Satoshi Light" pitchFamily="50" charset="0"/>
                    <a:ea typeface="Verdana" panose="020B0604030504040204" pitchFamily="34" charset="0"/>
                    <a:cs typeface="Poppins" pitchFamily="2" charset="77"/>
                  </a:rPr>
                  <a:t>: Epics &amp; Features)</a:t>
                </a:r>
              </a:p>
            </p:txBody>
          </p:sp>
        </p:grpSp>
        <p:grpSp>
          <p:nvGrpSpPr>
            <p:cNvPr id="586" name="Group 585">
              <a:extLst>
                <a:ext uri="{FF2B5EF4-FFF2-40B4-BE49-F238E27FC236}">
                  <a16:creationId xmlns:a16="http://schemas.microsoft.com/office/drawing/2014/main" id="{C955EEC5-D43F-2D3C-8BFB-2E5A19D8973F}"/>
                </a:ext>
              </a:extLst>
            </p:cNvPr>
            <p:cNvGrpSpPr/>
            <p:nvPr/>
          </p:nvGrpSpPr>
          <p:grpSpPr>
            <a:xfrm>
              <a:off x="2796716" y="2848067"/>
              <a:ext cx="6599697" cy="764132"/>
              <a:chOff x="2796717" y="2905916"/>
              <a:chExt cx="6599697" cy="764132"/>
            </a:xfrm>
          </p:grpSpPr>
          <p:grpSp>
            <p:nvGrpSpPr>
              <p:cNvPr id="573" name="Group 572">
                <a:extLst>
                  <a:ext uri="{FF2B5EF4-FFF2-40B4-BE49-F238E27FC236}">
                    <a16:creationId xmlns:a16="http://schemas.microsoft.com/office/drawing/2014/main" id="{64BE5F16-3715-EE38-4B51-FF4F967C15F1}"/>
                  </a:ext>
                </a:extLst>
              </p:cNvPr>
              <p:cNvGrpSpPr/>
              <p:nvPr/>
            </p:nvGrpSpPr>
            <p:grpSpPr>
              <a:xfrm>
                <a:off x="2796717" y="2905916"/>
                <a:ext cx="1221857" cy="764132"/>
                <a:chOff x="2796717" y="2905916"/>
                <a:chExt cx="1221857" cy="764132"/>
              </a:xfrm>
            </p:grpSpPr>
            <p:sp>
              <p:nvSpPr>
                <p:cNvPr id="564" name="Rectangle: Rounded Corners 563">
                  <a:extLst>
                    <a:ext uri="{FF2B5EF4-FFF2-40B4-BE49-F238E27FC236}">
                      <a16:creationId xmlns:a16="http://schemas.microsoft.com/office/drawing/2014/main" id="{FA38C21A-7677-A1D9-FDDC-AF999ABCBB71}"/>
                    </a:ext>
                  </a:extLst>
                </p:cNvPr>
                <p:cNvSpPr/>
                <p:nvPr/>
              </p:nvSpPr>
              <p:spPr>
                <a:xfrm>
                  <a:off x="2801752" y="2905916"/>
                  <a:ext cx="1211786" cy="764132"/>
                </a:xfrm>
                <a:prstGeom prst="roundRect">
                  <a:avLst>
                    <a:gd name="adj" fmla="val 5255"/>
                  </a:avLst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60400" dist="215900" dir="2700000" sx="95000" sy="95000" algn="tl" rotWithShape="0">
                    <a:prstClr val="black">
                      <a:alpha val="1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D"/>
                </a:p>
              </p:txBody>
            </p:sp>
            <p:sp>
              <p:nvSpPr>
                <p:cNvPr id="570" name="TextBox 569">
                  <a:extLst>
                    <a:ext uri="{FF2B5EF4-FFF2-40B4-BE49-F238E27FC236}">
                      <a16:creationId xmlns:a16="http://schemas.microsoft.com/office/drawing/2014/main" id="{D1806D1A-8D59-12FD-EBFB-E73053F4824D}"/>
                    </a:ext>
                  </a:extLst>
                </p:cNvPr>
                <p:cNvSpPr txBox="1"/>
                <p:nvPr/>
              </p:nvSpPr>
              <p:spPr>
                <a:xfrm>
                  <a:off x="2796717" y="2934039"/>
                  <a:ext cx="1221857" cy="338554"/>
                </a:xfrm>
                <a:prstGeom prst="rect">
                  <a:avLst/>
                </a:prstGeom>
                <a:noFill/>
              </p:spPr>
              <p:txBody>
                <a:bodyPr wrap="square" anchor="t">
                  <a:spAutoFit/>
                </a:bodyPr>
                <a:lstStyle/>
                <a:p>
                  <a:pPr>
                    <a:spcBef>
                      <a:spcPts val="600"/>
                    </a:spcBef>
                    <a:buClr>
                      <a:srgbClr val="008DB9"/>
                    </a:buClr>
                  </a:pPr>
                  <a:r>
                    <a:rPr lang="en-US" sz="8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atoshi Light" pitchFamily="50" charset="0"/>
                      <a:ea typeface="Verdana" panose="020B0604030504040204" pitchFamily="34" charset="0"/>
                      <a:cs typeface="Poppins" pitchFamily="2" charset="77"/>
                    </a:rPr>
                    <a:t>User browses the intake catalog enables intake.</a:t>
                  </a:r>
                </a:p>
              </p:txBody>
            </p:sp>
          </p:grpSp>
          <p:grpSp>
            <p:nvGrpSpPr>
              <p:cNvPr id="574" name="Group 573">
                <a:extLst>
                  <a:ext uri="{FF2B5EF4-FFF2-40B4-BE49-F238E27FC236}">
                    <a16:creationId xmlns:a16="http://schemas.microsoft.com/office/drawing/2014/main" id="{D7543826-B94D-8361-6F3D-5A617592A4F6}"/>
                  </a:ext>
                </a:extLst>
              </p:cNvPr>
              <p:cNvGrpSpPr/>
              <p:nvPr/>
            </p:nvGrpSpPr>
            <p:grpSpPr>
              <a:xfrm>
                <a:off x="4139767" y="2905916"/>
                <a:ext cx="1454584" cy="764132"/>
                <a:chOff x="2795589" y="2905916"/>
                <a:chExt cx="1454584" cy="764132"/>
              </a:xfrm>
            </p:grpSpPr>
            <p:sp>
              <p:nvSpPr>
                <p:cNvPr id="575" name="Rectangle: Rounded Corners 574">
                  <a:extLst>
                    <a:ext uri="{FF2B5EF4-FFF2-40B4-BE49-F238E27FC236}">
                      <a16:creationId xmlns:a16="http://schemas.microsoft.com/office/drawing/2014/main" id="{9125464B-B014-1457-0B38-170B973E0F3B}"/>
                    </a:ext>
                  </a:extLst>
                </p:cNvPr>
                <p:cNvSpPr/>
                <p:nvPr/>
              </p:nvSpPr>
              <p:spPr>
                <a:xfrm>
                  <a:off x="2795589" y="2905916"/>
                  <a:ext cx="1211786" cy="764132"/>
                </a:xfrm>
                <a:prstGeom prst="roundRect">
                  <a:avLst>
                    <a:gd name="adj" fmla="val 5255"/>
                  </a:avLst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60400" dist="215900" dir="2700000" sx="95000" sy="95000" algn="tl" rotWithShape="0">
                    <a:prstClr val="black">
                      <a:alpha val="1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D"/>
                </a:p>
              </p:txBody>
            </p:sp>
            <p:sp>
              <p:nvSpPr>
                <p:cNvPr id="576" name="TextBox 575">
                  <a:extLst>
                    <a:ext uri="{FF2B5EF4-FFF2-40B4-BE49-F238E27FC236}">
                      <a16:creationId xmlns:a16="http://schemas.microsoft.com/office/drawing/2014/main" id="{459AB495-1E6B-54FD-7057-1B29091F3B67}"/>
                    </a:ext>
                  </a:extLst>
                </p:cNvPr>
                <p:cNvSpPr txBox="1"/>
                <p:nvPr/>
              </p:nvSpPr>
              <p:spPr>
                <a:xfrm>
                  <a:off x="2797844" y="2934039"/>
                  <a:ext cx="1452329" cy="338554"/>
                </a:xfrm>
                <a:prstGeom prst="rect">
                  <a:avLst/>
                </a:prstGeom>
                <a:noFill/>
              </p:spPr>
              <p:txBody>
                <a:bodyPr wrap="square" anchor="t">
                  <a:spAutoFit/>
                </a:bodyPr>
                <a:lstStyle/>
                <a:p>
                  <a:pPr>
                    <a:spcBef>
                      <a:spcPts val="600"/>
                    </a:spcBef>
                    <a:buClr>
                      <a:srgbClr val="008DB9"/>
                    </a:buClr>
                  </a:pPr>
                  <a:r>
                    <a:rPr lang="en-US" sz="8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atoshi Light" pitchFamily="50" charset="0"/>
                      <a:ea typeface="Verdana" panose="020B0604030504040204" pitchFamily="34" charset="0"/>
                      <a:cs typeface="Poppins" pitchFamily="2" charset="77"/>
                    </a:rPr>
                    <a:t>Full YAML config loaded</a:t>
                  </a:r>
                  <a:br>
                    <a:rPr lang="en-US" sz="8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atoshi Light" pitchFamily="50" charset="0"/>
                      <a:ea typeface="Verdana" panose="020B0604030504040204" pitchFamily="34" charset="0"/>
                      <a:cs typeface="Poppins" pitchFamily="2" charset="77"/>
                    </a:rPr>
                  </a:br>
                  <a:r>
                    <a:rPr lang="en-US" sz="8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atoshi Light" pitchFamily="50" charset="0"/>
                      <a:ea typeface="Verdana" panose="020B0604030504040204" pitchFamily="34" charset="0"/>
                      <a:cs typeface="Poppins" pitchFamily="2" charset="77"/>
                    </a:rPr>
                    <a:t>from MongoDB.</a:t>
                  </a:r>
                </a:p>
              </p:txBody>
            </p:sp>
          </p:grpSp>
          <p:grpSp>
            <p:nvGrpSpPr>
              <p:cNvPr id="577" name="Group 576">
                <a:extLst>
                  <a:ext uri="{FF2B5EF4-FFF2-40B4-BE49-F238E27FC236}">
                    <a16:creationId xmlns:a16="http://schemas.microsoft.com/office/drawing/2014/main" id="{C1BD3628-9A2F-B649-A7D8-7D6289AA9866}"/>
                  </a:ext>
                </a:extLst>
              </p:cNvPr>
              <p:cNvGrpSpPr/>
              <p:nvPr/>
            </p:nvGrpSpPr>
            <p:grpSpPr>
              <a:xfrm>
                <a:off x="5483945" y="2905916"/>
                <a:ext cx="1224112" cy="764132"/>
                <a:chOff x="2795589" y="2905916"/>
                <a:chExt cx="1224112" cy="764132"/>
              </a:xfrm>
            </p:grpSpPr>
            <p:sp>
              <p:nvSpPr>
                <p:cNvPr id="578" name="Rectangle: Rounded Corners 577">
                  <a:extLst>
                    <a:ext uri="{FF2B5EF4-FFF2-40B4-BE49-F238E27FC236}">
                      <a16:creationId xmlns:a16="http://schemas.microsoft.com/office/drawing/2014/main" id="{434B88C6-37B9-C2F7-4D97-7D544749D2BC}"/>
                    </a:ext>
                  </a:extLst>
                </p:cNvPr>
                <p:cNvSpPr/>
                <p:nvPr/>
              </p:nvSpPr>
              <p:spPr>
                <a:xfrm>
                  <a:off x="2795589" y="2905916"/>
                  <a:ext cx="1211786" cy="764132"/>
                </a:xfrm>
                <a:prstGeom prst="roundRect">
                  <a:avLst>
                    <a:gd name="adj" fmla="val 5255"/>
                  </a:avLst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60400" dist="215900" dir="2700000" sx="95000" sy="95000" algn="tl" rotWithShape="0">
                    <a:prstClr val="black">
                      <a:alpha val="1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D"/>
                </a:p>
              </p:txBody>
            </p:sp>
            <p:sp>
              <p:nvSpPr>
                <p:cNvPr id="579" name="TextBox 578">
                  <a:extLst>
                    <a:ext uri="{FF2B5EF4-FFF2-40B4-BE49-F238E27FC236}">
                      <a16:creationId xmlns:a16="http://schemas.microsoft.com/office/drawing/2014/main" id="{E781ED85-FEF5-F1E2-DDF3-B03DF7C8E7F0}"/>
                    </a:ext>
                  </a:extLst>
                </p:cNvPr>
                <p:cNvSpPr txBox="1"/>
                <p:nvPr/>
              </p:nvSpPr>
              <p:spPr>
                <a:xfrm>
                  <a:off x="2797844" y="2934039"/>
                  <a:ext cx="1221857" cy="707886"/>
                </a:xfrm>
                <a:prstGeom prst="rect">
                  <a:avLst/>
                </a:prstGeom>
                <a:noFill/>
              </p:spPr>
              <p:txBody>
                <a:bodyPr wrap="square" anchor="t">
                  <a:spAutoFit/>
                </a:bodyPr>
                <a:lstStyle/>
                <a:p>
                  <a:pPr>
                    <a:spcBef>
                      <a:spcPts val="600"/>
                    </a:spcBef>
                    <a:buClr>
                      <a:srgbClr val="008DB9"/>
                    </a:buClr>
                  </a:pPr>
                  <a:r>
                    <a:rPr lang="en-US" sz="8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atoshi Light" pitchFamily="50" charset="0"/>
                      <a:ea typeface="Verdana" panose="020B0604030504040204" pitchFamily="34" charset="0"/>
                      <a:cs typeface="Poppins" pitchFamily="2" charset="77"/>
                    </a:rPr>
                    <a:t>Agent asks questions one at a time. Validates answers against YAML criteria. Helps stuck users. Retries up to 3x.</a:t>
                  </a:r>
                </a:p>
              </p:txBody>
            </p:sp>
          </p:grpSp>
          <p:grpSp>
            <p:nvGrpSpPr>
              <p:cNvPr id="580" name="Group 579">
                <a:extLst>
                  <a:ext uri="{FF2B5EF4-FFF2-40B4-BE49-F238E27FC236}">
                    <a16:creationId xmlns:a16="http://schemas.microsoft.com/office/drawing/2014/main" id="{91F847C1-AAEB-A861-86D0-6D069E507E8A}"/>
                  </a:ext>
                </a:extLst>
              </p:cNvPr>
              <p:cNvGrpSpPr/>
              <p:nvPr/>
            </p:nvGrpSpPr>
            <p:grpSpPr>
              <a:xfrm>
                <a:off x="6828123" y="2905916"/>
                <a:ext cx="1244191" cy="764132"/>
                <a:chOff x="2795589" y="2905916"/>
                <a:chExt cx="1244191" cy="764132"/>
              </a:xfrm>
            </p:grpSpPr>
            <p:sp>
              <p:nvSpPr>
                <p:cNvPr id="581" name="Rectangle: Rounded Corners 580">
                  <a:extLst>
                    <a:ext uri="{FF2B5EF4-FFF2-40B4-BE49-F238E27FC236}">
                      <a16:creationId xmlns:a16="http://schemas.microsoft.com/office/drawing/2014/main" id="{101D932A-FD8C-B81B-55DF-A8E22318027C}"/>
                    </a:ext>
                  </a:extLst>
                </p:cNvPr>
                <p:cNvSpPr/>
                <p:nvPr/>
              </p:nvSpPr>
              <p:spPr>
                <a:xfrm>
                  <a:off x="2795589" y="2905916"/>
                  <a:ext cx="1211786" cy="764132"/>
                </a:xfrm>
                <a:prstGeom prst="roundRect">
                  <a:avLst>
                    <a:gd name="adj" fmla="val 5255"/>
                  </a:avLst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60400" dist="215900" dir="2700000" sx="95000" sy="95000" algn="tl" rotWithShape="0">
                    <a:prstClr val="black">
                      <a:alpha val="1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D"/>
                </a:p>
              </p:txBody>
            </p:sp>
            <p:sp>
              <p:nvSpPr>
                <p:cNvPr id="582" name="TextBox 581">
                  <a:extLst>
                    <a:ext uri="{FF2B5EF4-FFF2-40B4-BE49-F238E27FC236}">
                      <a16:creationId xmlns:a16="http://schemas.microsoft.com/office/drawing/2014/main" id="{3A2A95FC-3266-E3A8-1823-5B6CA7240493}"/>
                    </a:ext>
                  </a:extLst>
                </p:cNvPr>
                <p:cNvSpPr txBox="1"/>
                <p:nvPr/>
              </p:nvSpPr>
              <p:spPr>
                <a:xfrm>
                  <a:off x="2797844" y="2934039"/>
                  <a:ext cx="1241936" cy="707886"/>
                </a:xfrm>
                <a:prstGeom prst="rect">
                  <a:avLst/>
                </a:prstGeom>
                <a:noFill/>
              </p:spPr>
              <p:txBody>
                <a:bodyPr wrap="square" anchor="t">
                  <a:spAutoFit/>
                </a:bodyPr>
                <a:lstStyle/>
                <a:p>
                  <a:pPr>
                    <a:spcBef>
                      <a:spcPts val="600"/>
                    </a:spcBef>
                    <a:buClr>
                      <a:srgbClr val="008DB9"/>
                    </a:buClr>
                  </a:pPr>
                  <a:r>
                    <a:rPr lang="en-US" sz="8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atoshi Light" pitchFamily="50" charset="0"/>
                      <a:ea typeface="Verdana" panose="020B0604030504040204" pitchFamily="34" charset="0"/>
                      <a:cs typeface="Poppins" pitchFamily="2" charset="77"/>
                    </a:rPr>
                    <a:t>All questions answered. Agent presents a formatted summary. User confirms or requests changes.</a:t>
                  </a:r>
                </a:p>
              </p:txBody>
            </p:sp>
          </p:grpSp>
          <p:grpSp>
            <p:nvGrpSpPr>
              <p:cNvPr id="583" name="Group 582">
                <a:extLst>
                  <a:ext uri="{FF2B5EF4-FFF2-40B4-BE49-F238E27FC236}">
                    <a16:creationId xmlns:a16="http://schemas.microsoft.com/office/drawing/2014/main" id="{6EA88E3A-27CD-6B2B-24A6-1E34BE607B62}"/>
                  </a:ext>
                </a:extLst>
              </p:cNvPr>
              <p:cNvGrpSpPr/>
              <p:nvPr/>
            </p:nvGrpSpPr>
            <p:grpSpPr>
              <a:xfrm>
                <a:off x="8172302" y="2905916"/>
                <a:ext cx="1224112" cy="764132"/>
                <a:chOff x="2795589" y="2905916"/>
                <a:chExt cx="1224112" cy="764132"/>
              </a:xfrm>
            </p:grpSpPr>
            <p:sp>
              <p:nvSpPr>
                <p:cNvPr id="584" name="Rectangle: Rounded Corners 583">
                  <a:extLst>
                    <a:ext uri="{FF2B5EF4-FFF2-40B4-BE49-F238E27FC236}">
                      <a16:creationId xmlns:a16="http://schemas.microsoft.com/office/drawing/2014/main" id="{57C962DA-48D6-72F8-ED34-F4B80F56050B}"/>
                    </a:ext>
                  </a:extLst>
                </p:cNvPr>
                <p:cNvSpPr/>
                <p:nvPr/>
              </p:nvSpPr>
              <p:spPr>
                <a:xfrm>
                  <a:off x="2795589" y="2905916"/>
                  <a:ext cx="1211786" cy="764132"/>
                </a:xfrm>
                <a:prstGeom prst="roundRect">
                  <a:avLst>
                    <a:gd name="adj" fmla="val 5255"/>
                  </a:avLst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60400" dist="215900" dir="2700000" sx="95000" sy="95000" algn="tl" rotWithShape="0">
                    <a:prstClr val="black">
                      <a:alpha val="1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D"/>
                </a:p>
              </p:txBody>
            </p:sp>
            <p:sp>
              <p:nvSpPr>
                <p:cNvPr id="585" name="TextBox 584">
                  <a:extLst>
                    <a:ext uri="{FF2B5EF4-FFF2-40B4-BE49-F238E27FC236}">
                      <a16:creationId xmlns:a16="http://schemas.microsoft.com/office/drawing/2014/main" id="{A7B6B714-BC80-2859-8B8F-809A3284F639}"/>
                    </a:ext>
                  </a:extLst>
                </p:cNvPr>
                <p:cNvSpPr txBox="1"/>
                <p:nvPr/>
              </p:nvSpPr>
              <p:spPr>
                <a:xfrm>
                  <a:off x="2797844" y="2934039"/>
                  <a:ext cx="1221857" cy="338554"/>
                </a:xfrm>
                <a:prstGeom prst="rect">
                  <a:avLst/>
                </a:prstGeom>
                <a:noFill/>
              </p:spPr>
              <p:txBody>
                <a:bodyPr wrap="square" anchor="t">
                  <a:spAutoFit/>
                </a:bodyPr>
                <a:lstStyle/>
                <a:p>
                  <a:pPr>
                    <a:spcBef>
                      <a:spcPts val="600"/>
                    </a:spcBef>
                    <a:buClr>
                      <a:srgbClr val="008DB9"/>
                    </a:buClr>
                  </a:pPr>
                  <a:r>
                    <a:rPr lang="en-US" sz="8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atoshi Light" pitchFamily="50" charset="0"/>
                      <a:ea typeface="Verdana" panose="020B0604030504040204" pitchFamily="34" charset="0"/>
                      <a:cs typeface="Poppins" pitchFamily="2" charset="77"/>
                    </a:rPr>
                    <a:t>Answers mapped to platform fields</a:t>
                  </a:r>
                </a:p>
              </p:txBody>
            </p:sp>
          </p:grpSp>
        </p:grpSp>
        <p:sp>
          <p:nvSpPr>
            <p:cNvPr id="589" name="Rectangle: Rounded Corners 588">
              <a:extLst>
                <a:ext uri="{FF2B5EF4-FFF2-40B4-BE49-F238E27FC236}">
                  <a16:creationId xmlns:a16="http://schemas.microsoft.com/office/drawing/2014/main" id="{BC4CA9F3-DA92-AAFA-5736-603DEA1B9A0C}"/>
                </a:ext>
              </a:extLst>
            </p:cNvPr>
            <p:cNvSpPr/>
            <p:nvPr/>
          </p:nvSpPr>
          <p:spPr>
            <a:xfrm>
              <a:off x="8382148" y="5196256"/>
              <a:ext cx="3390752" cy="1427481"/>
            </a:xfrm>
            <a:prstGeom prst="roundRect">
              <a:avLst>
                <a:gd name="adj" fmla="val 5173"/>
              </a:avLst>
            </a:prstGeom>
            <a:solidFill>
              <a:schemeClr val="accent2">
                <a:lumMod val="50000"/>
                <a:alpha val="10000"/>
              </a:schemeClr>
            </a:solidFill>
            <a:ln w="3175">
              <a:solidFill>
                <a:schemeClr val="accent2"/>
              </a:solidFill>
            </a:ln>
            <a:effectLst>
              <a:outerShdw blurRad="660400" dist="215900" dir="2700000" sx="95000" sy="95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596" name="TextBox 595">
              <a:extLst>
                <a:ext uri="{FF2B5EF4-FFF2-40B4-BE49-F238E27FC236}">
                  <a16:creationId xmlns:a16="http://schemas.microsoft.com/office/drawing/2014/main" id="{976784E9-DC70-475A-8955-12FE5A4B12D0}"/>
                </a:ext>
              </a:extLst>
            </p:cNvPr>
            <p:cNvSpPr txBox="1"/>
            <p:nvPr/>
          </p:nvSpPr>
          <p:spPr>
            <a:xfrm>
              <a:off x="8517648" y="5662461"/>
              <a:ext cx="3204452" cy="761747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spcBef>
                  <a:spcPts val="300"/>
                </a:spcBef>
                <a:buClr>
                  <a:srgbClr val="008DB9"/>
                </a:buClr>
              </a:pPr>
              <a:r>
                <a:rPr 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" pitchFamily="50" charset="0"/>
                  <a:ea typeface="Verdana" panose="020B0604030504040204" pitchFamily="34" charset="0"/>
                  <a:cs typeface="Poppins" pitchFamily="2" charset="77"/>
                </a:rPr>
                <a:t>app.log — application events &amp; HTTP</a:t>
              </a:r>
            </a:p>
            <a:p>
              <a:pPr>
                <a:spcBef>
                  <a:spcPts val="300"/>
                </a:spcBef>
                <a:buClr>
                  <a:srgbClr val="008DB9"/>
                </a:buClr>
              </a:pPr>
              <a:r>
                <a:rPr 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" pitchFamily="50" charset="0"/>
                  <a:ea typeface="Verdana" panose="020B0604030504040204" pitchFamily="34" charset="0"/>
                  <a:cs typeface="Poppins" pitchFamily="2" charset="77"/>
                </a:rPr>
                <a:t>agent_audit.log — LLM calls &amp; agent decisions</a:t>
              </a:r>
            </a:p>
            <a:p>
              <a:pPr>
                <a:spcBef>
                  <a:spcPts val="300"/>
                </a:spcBef>
                <a:buClr>
                  <a:srgbClr val="008DB9"/>
                </a:buClr>
              </a:pPr>
              <a:r>
                <a:rPr 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" pitchFamily="50" charset="0"/>
                  <a:ea typeface="Verdana" panose="020B0604030504040204" pitchFamily="34" charset="0"/>
                  <a:cs typeface="Poppins" pitchFamily="2" charset="77"/>
                </a:rPr>
                <a:t>conversation_audit.log — full chat history</a:t>
              </a:r>
            </a:p>
            <a:p>
              <a:pPr>
                <a:spcBef>
                  <a:spcPts val="300"/>
                </a:spcBef>
                <a:buClr>
                  <a:srgbClr val="008DB9"/>
                </a:buClr>
              </a:pPr>
              <a:r>
                <a:rPr 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" pitchFamily="50" charset="0"/>
                  <a:ea typeface="Verdana" panose="020B0604030504040204" pitchFamily="34" charset="0"/>
                  <a:cs typeface="Poppins" pitchFamily="2" charset="77"/>
                </a:rPr>
                <a:t>platform_audit.log — Jira/ServiceNow API calls (sanitized)</a:t>
              </a:r>
            </a:p>
          </p:txBody>
        </p:sp>
        <p:sp>
          <p:nvSpPr>
            <p:cNvPr id="597" name="TextBox 596">
              <a:extLst>
                <a:ext uri="{FF2B5EF4-FFF2-40B4-BE49-F238E27FC236}">
                  <a16:creationId xmlns:a16="http://schemas.microsoft.com/office/drawing/2014/main" id="{D4456BC4-E02D-F78A-0E95-9DEFD906C3C6}"/>
                </a:ext>
              </a:extLst>
            </p:cNvPr>
            <p:cNvSpPr txBox="1"/>
            <p:nvPr/>
          </p:nvSpPr>
          <p:spPr>
            <a:xfrm>
              <a:off x="8513640" y="5408545"/>
              <a:ext cx="2504148" cy="25391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spcBef>
                  <a:spcPts val="600"/>
                </a:spcBef>
                <a:buClr>
                  <a:srgbClr val="008DB9"/>
                </a:buClr>
              </a:pPr>
              <a:r>
                <a:rPr lang="nl-NL" sz="1000" dirty="0">
                  <a:solidFill>
                    <a:schemeClr val="accent2">
                      <a:lumMod val="75000"/>
                    </a:schemeClr>
                  </a:solidFill>
                  <a:latin typeface="Satoshi" pitchFamily="50" charset="0"/>
                  <a:ea typeface="Verdana" panose="020B0604030504040204" pitchFamily="34" charset="0"/>
                  <a:cs typeface="Poppins" pitchFamily="2" charset="77"/>
                </a:rPr>
                <a:t>Structured JSON Logs</a:t>
              </a:r>
            </a:p>
          </p:txBody>
        </p:sp>
        <p:sp>
          <p:nvSpPr>
            <p:cNvPr id="598" name="Oval 597">
              <a:extLst>
                <a:ext uri="{FF2B5EF4-FFF2-40B4-BE49-F238E27FC236}">
                  <a16:creationId xmlns:a16="http://schemas.microsoft.com/office/drawing/2014/main" id="{41B4155C-E232-4F5A-5645-274083705112}"/>
                </a:ext>
              </a:extLst>
            </p:cNvPr>
            <p:cNvSpPr/>
            <p:nvPr/>
          </p:nvSpPr>
          <p:spPr>
            <a:xfrm>
              <a:off x="11342859" y="5262021"/>
              <a:ext cx="328612" cy="32861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99" name="Graphic 598">
              <a:extLst>
                <a:ext uri="{FF2B5EF4-FFF2-40B4-BE49-F238E27FC236}">
                  <a16:creationId xmlns:a16="http://schemas.microsoft.com/office/drawing/2014/main" id="{32BFFF66-5CAB-72E5-8129-282A9800961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411720" y="5330882"/>
              <a:ext cx="190890" cy="190890"/>
            </a:xfrm>
            <a:prstGeom prst="rect">
              <a:avLst/>
            </a:prstGeom>
          </p:spPr>
        </p:pic>
        <p:sp>
          <p:nvSpPr>
            <p:cNvPr id="608" name="Rectangle: Rounded Corners 607">
              <a:extLst>
                <a:ext uri="{FF2B5EF4-FFF2-40B4-BE49-F238E27FC236}">
                  <a16:creationId xmlns:a16="http://schemas.microsoft.com/office/drawing/2014/main" id="{18AAB11C-1CDB-731F-4450-C39FA0690558}"/>
                </a:ext>
              </a:extLst>
            </p:cNvPr>
            <p:cNvSpPr/>
            <p:nvPr/>
          </p:nvSpPr>
          <p:spPr>
            <a:xfrm>
              <a:off x="4817659" y="5196256"/>
              <a:ext cx="3390752" cy="1427481"/>
            </a:xfrm>
            <a:prstGeom prst="roundRect">
              <a:avLst>
                <a:gd name="adj" fmla="val 5173"/>
              </a:avLst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 w="3175">
              <a:solidFill>
                <a:schemeClr val="accent2"/>
              </a:solidFill>
            </a:ln>
            <a:effectLst>
              <a:outerShdw blurRad="660400" dist="215900" dir="2700000" sx="95000" sy="95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609" name="TextBox 608">
              <a:extLst>
                <a:ext uri="{FF2B5EF4-FFF2-40B4-BE49-F238E27FC236}">
                  <a16:creationId xmlns:a16="http://schemas.microsoft.com/office/drawing/2014/main" id="{158476E4-9771-EB62-8124-2034CEF0495E}"/>
                </a:ext>
              </a:extLst>
            </p:cNvPr>
            <p:cNvSpPr txBox="1"/>
            <p:nvPr/>
          </p:nvSpPr>
          <p:spPr>
            <a:xfrm>
              <a:off x="4903857" y="5408545"/>
              <a:ext cx="3215425" cy="25391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spcBef>
                  <a:spcPts val="600"/>
                </a:spcBef>
                <a:buClr>
                  <a:srgbClr val="008DB9"/>
                </a:buClr>
              </a:pPr>
              <a:r>
                <a:rPr lang="nl-NL" sz="1000" dirty="0">
                  <a:solidFill>
                    <a:schemeClr val="accent2">
                      <a:lumMod val="75000"/>
                    </a:schemeClr>
                  </a:solidFill>
                  <a:latin typeface="Satoshi" pitchFamily="50" charset="0"/>
                  <a:ea typeface="Verdana" panose="020B0604030504040204" pitchFamily="34" charset="0"/>
                  <a:cs typeface="Poppins" pitchFamily="2" charset="77"/>
                </a:rPr>
                <a:t>Google Gemini 2.0 Flash  (LLM)</a:t>
              </a:r>
            </a:p>
          </p:txBody>
        </p:sp>
        <p:sp>
          <p:nvSpPr>
            <p:cNvPr id="611" name="Rectangle: Rounded Corners 610">
              <a:extLst>
                <a:ext uri="{FF2B5EF4-FFF2-40B4-BE49-F238E27FC236}">
                  <a16:creationId xmlns:a16="http://schemas.microsoft.com/office/drawing/2014/main" id="{167704E9-A93B-0DB5-9F38-8F6BC4E6E148}"/>
                </a:ext>
              </a:extLst>
            </p:cNvPr>
            <p:cNvSpPr/>
            <p:nvPr/>
          </p:nvSpPr>
          <p:spPr>
            <a:xfrm>
              <a:off x="4948757" y="5747828"/>
              <a:ext cx="1529529" cy="764132"/>
            </a:xfrm>
            <a:prstGeom prst="roundRect">
              <a:avLst>
                <a:gd name="adj" fmla="val 5255"/>
              </a:avLst>
            </a:prstGeom>
            <a:solidFill>
              <a:schemeClr val="bg1"/>
            </a:solidFill>
            <a:ln>
              <a:noFill/>
            </a:ln>
            <a:effectLst>
              <a:outerShdw blurRad="660400" dist="215900" dir="2700000" sx="95000" sy="95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612" name="Rectangle: Rounded Corners 611">
              <a:extLst>
                <a:ext uri="{FF2B5EF4-FFF2-40B4-BE49-F238E27FC236}">
                  <a16:creationId xmlns:a16="http://schemas.microsoft.com/office/drawing/2014/main" id="{13DE6E0C-0D1F-2C84-2DB7-5811A8AE0F1B}"/>
                </a:ext>
              </a:extLst>
            </p:cNvPr>
            <p:cNvSpPr/>
            <p:nvPr/>
          </p:nvSpPr>
          <p:spPr>
            <a:xfrm>
              <a:off x="6547784" y="5747828"/>
              <a:ext cx="1529529" cy="764132"/>
            </a:xfrm>
            <a:prstGeom prst="roundRect">
              <a:avLst>
                <a:gd name="adj" fmla="val 5255"/>
              </a:avLst>
            </a:prstGeom>
            <a:solidFill>
              <a:schemeClr val="bg1"/>
            </a:solidFill>
            <a:ln>
              <a:noFill/>
            </a:ln>
            <a:effectLst>
              <a:outerShdw blurRad="660400" dist="215900" dir="2700000" sx="95000" sy="95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613" name="TextBox 612">
              <a:extLst>
                <a:ext uri="{FF2B5EF4-FFF2-40B4-BE49-F238E27FC236}">
                  <a16:creationId xmlns:a16="http://schemas.microsoft.com/office/drawing/2014/main" id="{D3ABFED4-6FC1-EBA8-3C87-C6736D2BA352}"/>
                </a:ext>
              </a:extLst>
            </p:cNvPr>
            <p:cNvSpPr txBox="1"/>
            <p:nvPr/>
          </p:nvSpPr>
          <p:spPr>
            <a:xfrm>
              <a:off x="5074243" y="5875979"/>
              <a:ext cx="1278556" cy="507831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spcBef>
                  <a:spcPts val="600"/>
                </a:spcBef>
                <a:buClr>
                  <a:srgbClr val="008DB9"/>
                </a:buClr>
              </a:pPr>
              <a:r>
                <a:rPr 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Agent LLM Calls</a:t>
              </a:r>
              <a:br>
                <a:rPr 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</a:br>
              <a:r>
                <a:rPr 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(reasoning, validation,</a:t>
              </a:r>
              <a:br>
                <a:rPr 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</a:br>
              <a:r>
                <a:rPr 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classification, assist)</a:t>
              </a:r>
            </a:p>
          </p:txBody>
        </p:sp>
        <p:sp>
          <p:nvSpPr>
            <p:cNvPr id="614" name="TextBox 613">
              <a:extLst>
                <a:ext uri="{FF2B5EF4-FFF2-40B4-BE49-F238E27FC236}">
                  <a16:creationId xmlns:a16="http://schemas.microsoft.com/office/drawing/2014/main" id="{CA252407-A43A-01DB-E9AD-772C24B4A950}"/>
                </a:ext>
              </a:extLst>
            </p:cNvPr>
            <p:cNvSpPr txBox="1"/>
            <p:nvPr/>
          </p:nvSpPr>
          <p:spPr>
            <a:xfrm>
              <a:off x="6673270" y="5875979"/>
              <a:ext cx="1278556" cy="507831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spcBef>
                  <a:spcPts val="600"/>
                </a:spcBef>
                <a:buClr>
                  <a:srgbClr val="008DB9"/>
                </a:buClr>
              </a:pPr>
              <a:r>
                <a:rPr 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ADK Runner</a:t>
              </a:r>
              <a:br>
                <a:rPr 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</a:br>
              <a:r>
                <a:rPr 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Orchestration &amp;</a:t>
              </a:r>
              <a:br>
                <a:rPr 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</a:br>
              <a:r>
                <a:rPr lang="en-US" sz="9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Session </a:t>
              </a:r>
              <a:r>
                <a:rPr lang="en-US" sz="9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Mgmt</a:t>
              </a:r>
              <a:endParaRPr 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Satoshi Light" pitchFamily="50" charset="0"/>
                <a:ea typeface="Verdana" panose="020B0604030504040204" pitchFamily="34" charset="0"/>
                <a:cs typeface="Poppins" pitchFamily="2" charset="77"/>
              </a:endParaRP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2D124215-A85B-41A3-B088-01AB73C8FF42}"/>
                </a:ext>
              </a:extLst>
            </p:cNvPr>
            <p:cNvGrpSpPr/>
            <p:nvPr/>
          </p:nvGrpSpPr>
          <p:grpSpPr>
            <a:xfrm>
              <a:off x="7802362" y="5262021"/>
              <a:ext cx="328612" cy="328612"/>
              <a:chOff x="7802362" y="5262021"/>
              <a:chExt cx="328612" cy="328612"/>
            </a:xfrm>
          </p:grpSpPr>
          <p:sp>
            <p:nvSpPr>
              <p:cNvPr id="610" name="Oval 609">
                <a:extLst>
                  <a:ext uri="{FF2B5EF4-FFF2-40B4-BE49-F238E27FC236}">
                    <a16:creationId xmlns:a16="http://schemas.microsoft.com/office/drawing/2014/main" id="{A79272C2-ABFE-7C30-4310-7CBB7FA5E27A}"/>
                  </a:ext>
                </a:extLst>
              </p:cNvPr>
              <p:cNvSpPr/>
              <p:nvPr/>
            </p:nvSpPr>
            <p:spPr>
              <a:xfrm>
                <a:off x="7802362" y="5262021"/>
                <a:ext cx="328612" cy="328612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615" name="Graphic 614">
                <a:extLst>
                  <a:ext uri="{FF2B5EF4-FFF2-40B4-BE49-F238E27FC236}">
                    <a16:creationId xmlns:a16="http://schemas.microsoft.com/office/drawing/2014/main" id="{2A1584AE-016A-9C13-50B7-A0CEF455BA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7871223" y="5330882"/>
                <a:ext cx="190890" cy="190890"/>
              </a:xfrm>
              <a:prstGeom prst="rect">
                <a:avLst/>
              </a:prstGeom>
            </p:spPr>
          </p:pic>
        </p:grpSp>
        <p:grpSp>
          <p:nvGrpSpPr>
            <p:cNvPr id="675" name="Group 674">
              <a:extLst>
                <a:ext uri="{FF2B5EF4-FFF2-40B4-BE49-F238E27FC236}">
                  <a16:creationId xmlns:a16="http://schemas.microsoft.com/office/drawing/2014/main" id="{2AFD0F1C-CC5E-8DC7-6C07-332C3295BA0B}"/>
                </a:ext>
              </a:extLst>
            </p:cNvPr>
            <p:cNvGrpSpPr/>
            <p:nvPr/>
          </p:nvGrpSpPr>
          <p:grpSpPr>
            <a:xfrm>
              <a:off x="9811687" y="3764844"/>
              <a:ext cx="1967304" cy="873026"/>
              <a:chOff x="9811687" y="3901849"/>
              <a:chExt cx="1967304" cy="873026"/>
            </a:xfrm>
          </p:grpSpPr>
          <p:sp>
            <p:nvSpPr>
              <p:cNvPr id="617" name="Rectangle: Rounded Corners 616">
                <a:extLst>
                  <a:ext uri="{FF2B5EF4-FFF2-40B4-BE49-F238E27FC236}">
                    <a16:creationId xmlns:a16="http://schemas.microsoft.com/office/drawing/2014/main" id="{EFEB6640-082E-67C9-F193-70D57CE4371C}"/>
                  </a:ext>
                </a:extLst>
              </p:cNvPr>
              <p:cNvSpPr/>
              <p:nvPr/>
            </p:nvSpPr>
            <p:spPr>
              <a:xfrm>
                <a:off x="9811687" y="3901849"/>
                <a:ext cx="1967304" cy="873026"/>
              </a:xfrm>
              <a:prstGeom prst="roundRect">
                <a:avLst>
                  <a:gd name="adj" fmla="val 8612"/>
                </a:avLst>
              </a:prstGeom>
              <a:solidFill>
                <a:schemeClr val="bg1">
                  <a:lumMod val="95000"/>
                  <a:alpha val="10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>
                <a:outerShdw blurRad="660400" dist="215900" dir="2700000" sx="95000" sy="95000" algn="tl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D"/>
              </a:p>
            </p:txBody>
          </p:sp>
          <p:grpSp>
            <p:nvGrpSpPr>
              <p:cNvPr id="647" name="Group 646">
                <a:extLst>
                  <a:ext uri="{FF2B5EF4-FFF2-40B4-BE49-F238E27FC236}">
                    <a16:creationId xmlns:a16="http://schemas.microsoft.com/office/drawing/2014/main" id="{E4E08E55-4DF3-7762-CDE7-4C78D44EE2AF}"/>
                  </a:ext>
                </a:extLst>
              </p:cNvPr>
              <p:cNvGrpSpPr/>
              <p:nvPr/>
            </p:nvGrpSpPr>
            <p:grpSpPr>
              <a:xfrm>
                <a:off x="9852339" y="4015459"/>
                <a:ext cx="1886001" cy="645806"/>
                <a:chOff x="9852339" y="4092098"/>
                <a:chExt cx="1886001" cy="645806"/>
              </a:xfrm>
            </p:grpSpPr>
            <p:grpSp>
              <p:nvGrpSpPr>
                <p:cNvPr id="619" name="Group 618">
                  <a:extLst>
                    <a:ext uri="{FF2B5EF4-FFF2-40B4-BE49-F238E27FC236}">
                      <a16:creationId xmlns:a16="http://schemas.microsoft.com/office/drawing/2014/main" id="{2FD63F02-255B-36E5-259B-B7DAA6FFABDC}"/>
                    </a:ext>
                  </a:extLst>
                </p:cNvPr>
                <p:cNvGrpSpPr/>
                <p:nvPr/>
              </p:nvGrpSpPr>
              <p:grpSpPr>
                <a:xfrm>
                  <a:off x="9852339" y="4408410"/>
                  <a:ext cx="1886001" cy="329494"/>
                  <a:chOff x="9602081" y="4205288"/>
                  <a:chExt cx="2186408" cy="381978"/>
                </a:xfrm>
              </p:grpSpPr>
              <p:sp>
                <p:nvSpPr>
                  <p:cNvPr id="620" name="Oval 619">
                    <a:extLst>
                      <a:ext uri="{FF2B5EF4-FFF2-40B4-BE49-F238E27FC236}">
                        <a16:creationId xmlns:a16="http://schemas.microsoft.com/office/drawing/2014/main" id="{00AD825C-39AA-A7F2-9062-2A450FE9F7D7}"/>
                      </a:ext>
                    </a:extLst>
                  </p:cNvPr>
                  <p:cNvSpPr/>
                  <p:nvPr/>
                </p:nvSpPr>
                <p:spPr>
                  <a:xfrm>
                    <a:off x="9847133" y="4205288"/>
                    <a:ext cx="114300" cy="114300"/>
                  </a:xfrm>
                  <a:prstGeom prst="ellipse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21" name="TextBox 620">
                    <a:extLst>
                      <a:ext uri="{FF2B5EF4-FFF2-40B4-BE49-F238E27FC236}">
                        <a16:creationId xmlns:a16="http://schemas.microsoft.com/office/drawing/2014/main" id="{4A7E1A6B-201C-E5C9-5D93-562CCAEB4183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081" y="4337504"/>
                    <a:ext cx="604406" cy="249762"/>
                  </a:xfrm>
                  <a:prstGeom prst="rect">
                    <a:avLst/>
                  </a:prstGeom>
                  <a:noFill/>
                </p:spPr>
                <p:txBody>
                  <a:bodyPr wrap="square" anchor="ctr">
                    <a:spAutoFit/>
                  </a:bodyPr>
                  <a:lstStyle/>
                  <a:p>
                    <a:pPr algn="ctr">
                      <a:spcBef>
                        <a:spcPts val="600"/>
                      </a:spcBef>
                      <a:buClr>
                        <a:srgbClr val="008DB9"/>
                      </a:buClr>
                    </a:pPr>
                    <a:r>
                      <a:rPr lang="en-US" sz="8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Satoshi Light" pitchFamily="50" charset="0"/>
                        <a:ea typeface="Verdana" panose="020B0604030504040204" pitchFamily="34" charset="0"/>
                        <a:cs typeface="Poppins" pitchFamily="2" charset="77"/>
                      </a:rPr>
                      <a:t>Quality </a:t>
                    </a:r>
                  </a:p>
                </p:txBody>
              </p:sp>
              <p:sp>
                <p:nvSpPr>
                  <p:cNvPr id="622" name="Oval 621">
                    <a:extLst>
                      <a:ext uri="{FF2B5EF4-FFF2-40B4-BE49-F238E27FC236}">
                        <a16:creationId xmlns:a16="http://schemas.microsoft.com/office/drawing/2014/main" id="{7138DFAD-BFA6-9A89-A93B-5A4B6963E038}"/>
                      </a:ext>
                    </a:extLst>
                  </p:cNvPr>
                  <p:cNvSpPr/>
                  <p:nvPr/>
                </p:nvSpPr>
                <p:spPr>
                  <a:xfrm>
                    <a:off x="10371008" y="4205288"/>
                    <a:ext cx="114300" cy="114300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23" name="TextBox 622">
                    <a:extLst>
                      <a:ext uri="{FF2B5EF4-FFF2-40B4-BE49-F238E27FC236}">
                        <a16:creationId xmlns:a16="http://schemas.microsoft.com/office/drawing/2014/main" id="{1DC84DE9-4A37-9D32-01F5-E32E6ED45A8C}"/>
                      </a:ext>
                    </a:extLst>
                  </p:cNvPr>
                  <p:cNvSpPr txBox="1"/>
                  <p:nvPr/>
                </p:nvSpPr>
                <p:spPr>
                  <a:xfrm>
                    <a:off x="10125954" y="4337504"/>
                    <a:ext cx="604406" cy="249762"/>
                  </a:xfrm>
                  <a:prstGeom prst="rect">
                    <a:avLst/>
                  </a:prstGeom>
                  <a:noFill/>
                </p:spPr>
                <p:txBody>
                  <a:bodyPr wrap="square" anchor="ctr">
                    <a:spAutoFit/>
                  </a:bodyPr>
                  <a:lstStyle/>
                  <a:p>
                    <a:pPr algn="ctr">
                      <a:spcBef>
                        <a:spcPts val="600"/>
                      </a:spcBef>
                      <a:buClr>
                        <a:srgbClr val="008DB9"/>
                      </a:buClr>
                    </a:pPr>
                    <a:r>
                      <a:rPr lang="en-US" sz="800" err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Satoshi Light" pitchFamily="50" charset="0"/>
                        <a:ea typeface="Verdana" panose="020B0604030504040204" pitchFamily="34" charset="0"/>
                        <a:cs typeface="Poppins" pitchFamily="2" charset="77"/>
                      </a:rPr>
                      <a:t>Dedup</a:t>
                    </a:r>
                    <a:endParaRPr lang="en-US" sz="8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Satoshi Light" pitchFamily="50" charset="0"/>
                      <a:ea typeface="Verdana" panose="020B0604030504040204" pitchFamily="34" charset="0"/>
                      <a:cs typeface="Poppins" pitchFamily="2" charset="77"/>
                    </a:endParaRPr>
                  </a:p>
                </p:txBody>
              </p:sp>
              <p:sp>
                <p:nvSpPr>
                  <p:cNvPr id="624" name="Oval 623">
                    <a:extLst>
                      <a:ext uri="{FF2B5EF4-FFF2-40B4-BE49-F238E27FC236}">
                        <a16:creationId xmlns:a16="http://schemas.microsoft.com/office/drawing/2014/main" id="{3DD2EBE2-7801-674B-5F90-E567E6CADC71}"/>
                      </a:ext>
                    </a:extLst>
                  </p:cNvPr>
                  <p:cNvSpPr/>
                  <p:nvPr/>
                </p:nvSpPr>
                <p:spPr>
                  <a:xfrm>
                    <a:off x="10894883" y="4205288"/>
                    <a:ext cx="114300" cy="114300"/>
                  </a:xfrm>
                  <a:prstGeom prst="ellips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25" name="TextBox 624">
                    <a:extLst>
                      <a:ext uri="{FF2B5EF4-FFF2-40B4-BE49-F238E27FC236}">
                        <a16:creationId xmlns:a16="http://schemas.microsoft.com/office/drawing/2014/main" id="{917F86E3-8476-3EF6-E0F5-81638F506275}"/>
                      </a:ext>
                    </a:extLst>
                  </p:cNvPr>
                  <p:cNvSpPr txBox="1"/>
                  <p:nvPr/>
                </p:nvSpPr>
                <p:spPr>
                  <a:xfrm>
                    <a:off x="10649828" y="4337504"/>
                    <a:ext cx="604406" cy="249762"/>
                  </a:xfrm>
                  <a:prstGeom prst="rect">
                    <a:avLst/>
                  </a:prstGeom>
                  <a:noFill/>
                </p:spPr>
                <p:txBody>
                  <a:bodyPr wrap="square" anchor="ctr">
                    <a:spAutoFit/>
                  </a:bodyPr>
                  <a:lstStyle/>
                  <a:p>
                    <a:pPr algn="ctr">
                      <a:spcBef>
                        <a:spcPts val="600"/>
                      </a:spcBef>
                      <a:buClr>
                        <a:srgbClr val="008DB9"/>
                      </a:buClr>
                    </a:pPr>
                    <a:r>
                      <a:rPr lang="en-US" sz="8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Satoshi Light" pitchFamily="50" charset="0"/>
                        <a:ea typeface="Verdana" panose="020B0604030504040204" pitchFamily="34" charset="0"/>
                        <a:cs typeface="Poppins" pitchFamily="2" charset="77"/>
                      </a:rPr>
                      <a:t>Classify</a:t>
                    </a:r>
                  </a:p>
                </p:txBody>
              </p:sp>
              <p:sp>
                <p:nvSpPr>
                  <p:cNvPr id="626" name="Oval 625">
                    <a:extLst>
                      <a:ext uri="{FF2B5EF4-FFF2-40B4-BE49-F238E27FC236}">
                        <a16:creationId xmlns:a16="http://schemas.microsoft.com/office/drawing/2014/main" id="{0650CBFA-9DDC-F0D6-C28E-3000A4F15973}"/>
                      </a:ext>
                    </a:extLst>
                  </p:cNvPr>
                  <p:cNvSpPr/>
                  <p:nvPr/>
                </p:nvSpPr>
                <p:spPr>
                  <a:xfrm>
                    <a:off x="11418758" y="4205288"/>
                    <a:ext cx="114300" cy="114300"/>
                  </a:xfrm>
                  <a:prstGeom prst="ellipse">
                    <a:avLst/>
                  </a:prstGeom>
                  <a:solidFill>
                    <a:schemeClr val="accent3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27" name="TextBox 626">
                    <a:extLst>
                      <a:ext uri="{FF2B5EF4-FFF2-40B4-BE49-F238E27FC236}">
                        <a16:creationId xmlns:a16="http://schemas.microsoft.com/office/drawing/2014/main" id="{DEF58299-754A-A55A-3085-613A7A71E581}"/>
                      </a:ext>
                    </a:extLst>
                  </p:cNvPr>
                  <p:cNvSpPr txBox="1"/>
                  <p:nvPr/>
                </p:nvSpPr>
                <p:spPr>
                  <a:xfrm>
                    <a:off x="11163323" y="4337504"/>
                    <a:ext cx="625166" cy="249762"/>
                  </a:xfrm>
                  <a:prstGeom prst="rect">
                    <a:avLst/>
                  </a:prstGeom>
                  <a:noFill/>
                </p:spPr>
                <p:txBody>
                  <a:bodyPr wrap="square" anchor="ctr">
                    <a:spAutoFit/>
                  </a:bodyPr>
                  <a:lstStyle/>
                  <a:p>
                    <a:pPr algn="ctr">
                      <a:spcBef>
                        <a:spcPts val="600"/>
                      </a:spcBef>
                      <a:buClr>
                        <a:srgbClr val="008DB9"/>
                      </a:buClr>
                    </a:pPr>
                    <a:r>
                      <a:rPr lang="en-US" sz="8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Satoshi Light" pitchFamily="50" charset="0"/>
                        <a:ea typeface="Verdana" panose="020B0604030504040204" pitchFamily="34" charset="0"/>
                        <a:cs typeface="Poppins" pitchFamily="2" charset="77"/>
                      </a:rPr>
                      <a:t>Artifacts</a:t>
                    </a:r>
                  </a:p>
                </p:txBody>
              </p:sp>
            </p:grpSp>
            <p:grpSp>
              <p:nvGrpSpPr>
                <p:cNvPr id="631" name="Group 630">
                  <a:extLst>
                    <a:ext uri="{FF2B5EF4-FFF2-40B4-BE49-F238E27FC236}">
                      <a16:creationId xmlns:a16="http://schemas.microsoft.com/office/drawing/2014/main" id="{BEA3F0C0-18AA-BCC8-4F1F-B858B09C6C49}"/>
                    </a:ext>
                  </a:extLst>
                </p:cNvPr>
                <p:cNvGrpSpPr/>
                <p:nvPr/>
              </p:nvGrpSpPr>
              <p:grpSpPr>
                <a:xfrm>
                  <a:off x="9889671" y="4092098"/>
                  <a:ext cx="1811337" cy="230832"/>
                  <a:chOff x="9891713" y="4184700"/>
                  <a:chExt cx="1811337" cy="230832"/>
                </a:xfrm>
              </p:grpSpPr>
              <p:sp>
                <p:nvSpPr>
                  <p:cNvPr id="618" name="TextBox 617">
                    <a:extLst>
                      <a:ext uri="{FF2B5EF4-FFF2-40B4-BE49-F238E27FC236}">
                        <a16:creationId xmlns:a16="http://schemas.microsoft.com/office/drawing/2014/main" id="{87442AFE-0384-E110-3FA9-E0F2B84F18E1}"/>
                      </a:ext>
                    </a:extLst>
                  </p:cNvPr>
                  <p:cNvSpPr txBox="1"/>
                  <p:nvPr/>
                </p:nvSpPr>
                <p:spPr>
                  <a:xfrm>
                    <a:off x="10288407" y="4184700"/>
                    <a:ext cx="1017948" cy="230832"/>
                  </a:xfrm>
                  <a:prstGeom prst="rect">
                    <a:avLst/>
                  </a:prstGeom>
                  <a:noFill/>
                </p:spPr>
                <p:txBody>
                  <a:bodyPr wrap="square" anchor="t">
                    <a:spAutoFit/>
                  </a:bodyPr>
                  <a:lstStyle/>
                  <a:p>
                    <a:pPr algn="ctr">
                      <a:spcBef>
                        <a:spcPts val="600"/>
                      </a:spcBef>
                      <a:buClr>
                        <a:srgbClr val="008DB9"/>
                      </a:buClr>
                    </a:pPr>
                    <a:r>
                      <a:rPr lang="en-US" sz="900">
                        <a:solidFill>
                          <a:schemeClr val="accent1"/>
                        </a:solidFill>
                        <a:latin typeface="Satoshi" pitchFamily="50" charset="0"/>
                        <a:ea typeface="Verdana" panose="020B0604030504040204" pitchFamily="34" charset="0"/>
                        <a:cs typeface="Poppins" pitchFamily="2" charset="77"/>
                      </a:rPr>
                      <a:t>MVP Roadmap</a:t>
                    </a:r>
                  </a:p>
                </p:txBody>
              </p:sp>
              <p:cxnSp>
                <p:nvCxnSpPr>
                  <p:cNvPr id="628" name="Straight Connector 627">
                    <a:extLst>
                      <a:ext uri="{FF2B5EF4-FFF2-40B4-BE49-F238E27FC236}">
                        <a16:creationId xmlns:a16="http://schemas.microsoft.com/office/drawing/2014/main" id="{F67D6D3A-9506-0BDD-B98C-BE612875829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891713" y="4415071"/>
                    <a:ext cx="1811337" cy="0"/>
                  </a:xfrm>
                  <a:prstGeom prst="line">
                    <a:avLst/>
                  </a:prstGeom>
                  <a:ln w="3175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674" name="Group 673">
              <a:extLst>
                <a:ext uri="{FF2B5EF4-FFF2-40B4-BE49-F238E27FC236}">
                  <a16:creationId xmlns:a16="http://schemas.microsoft.com/office/drawing/2014/main" id="{A87DC047-949F-C02A-95A4-B79FD10FB0B5}"/>
                </a:ext>
              </a:extLst>
            </p:cNvPr>
            <p:cNvGrpSpPr/>
            <p:nvPr/>
          </p:nvGrpSpPr>
          <p:grpSpPr>
            <a:xfrm>
              <a:off x="9811687" y="1045773"/>
              <a:ext cx="1967304" cy="2592777"/>
              <a:chOff x="9811687" y="1083873"/>
              <a:chExt cx="1967304" cy="2752782"/>
            </a:xfrm>
          </p:grpSpPr>
          <p:sp>
            <p:nvSpPr>
              <p:cNvPr id="634" name="Rectangle: Rounded Corners 633">
                <a:extLst>
                  <a:ext uri="{FF2B5EF4-FFF2-40B4-BE49-F238E27FC236}">
                    <a16:creationId xmlns:a16="http://schemas.microsoft.com/office/drawing/2014/main" id="{831FB7C0-D76D-D045-456C-58D95EACC47C}"/>
                  </a:ext>
                </a:extLst>
              </p:cNvPr>
              <p:cNvSpPr/>
              <p:nvPr/>
            </p:nvSpPr>
            <p:spPr>
              <a:xfrm>
                <a:off x="9811687" y="1083873"/>
                <a:ext cx="1967304" cy="2752782"/>
              </a:xfrm>
              <a:prstGeom prst="roundRect">
                <a:avLst>
                  <a:gd name="adj" fmla="val 5713"/>
                </a:avLst>
              </a:prstGeom>
              <a:solidFill>
                <a:schemeClr val="bg1">
                  <a:lumMod val="50000"/>
                  <a:alpha val="5000"/>
                </a:schemeClr>
              </a:solidFill>
              <a:ln w="3175">
                <a:solidFill>
                  <a:schemeClr val="bg1">
                    <a:lumMod val="65000"/>
                  </a:schemeClr>
                </a:solidFill>
              </a:ln>
              <a:effectLst>
                <a:outerShdw blurRad="660400" dist="215900" dir="2700000" sx="95000" sy="95000" algn="tl" rotWithShape="0">
                  <a:prstClr val="black">
                    <a:alpha val="1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D" sz="1200"/>
              </a:p>
            </p:txBody>
          </p:sp>
          <p:sp>
            <p:nvSpPr>
              <p:cNvPr id="639" name="TextBox 638">
                <a:extLst>
                  <a:ext uri="{FF2B5EF4-FFF2-40B4-BE49-F238E27FC236}">
                    <a16:creationId xmlns:a16="http://schemas.microsoft.com/office/drawing/2014/main" id="{1B89934D-8F5B-9456-4A99-1BD158E316EE}"/>
                  </a:ext>
                </a:extLst>
              </p:cNvPr>
              <p:cNvSpPr txBox="1"/>
              <p:nvPr/>
            </p:nvSpPr>
            <p:spPr>
              <a:xfrm>
                <a:off x="9946471" y="1231632"/>
                <a:ext cx="1697736" cy="27699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>
                  <a:spcBef>
                    <a:spcPts val="600"/>
                  </a:spcBef>
                  <a:buClr>
                    <a:srgbClr val="008DB9"/>
                  </a:buClr>
                </a:pPr>
                <a:r>
                  <a:rPr lang="en-US" sz="1200">
                    <a:solidFill>
                      <a:schemeClr val="accent1"/>
                    </a:solidFill>
                    <a:latin typeface="Satoshi" pitchFamily="50" charset="0"/>
                    <a:ea typeface="Verdana" panose="020B0604030504040204" pitchFamily="34" charset="0"/>
                    <a:cs typeface="Poppins" pitchFamily="2" charset="77"/>
                  </a:rPr>
                  <a:t>Ticketing Platforms</a:t>
                </a:r>
              </a:p>
            </p:txBody>
          </p:sp>
          <p:grpSp>
            <p:nvGrpSpPr>
              <p:cNvPr id="651" name="Group 650">
                <a:extLst>
                  <a:ext uri="{FF2B5EF4-FFF2-40B4-BE49-F238E27FC236}">
                    <a16:creationId xmlns:a16="http://schemas.microsoft.com/office/drawing/2014/main" id="{73EC1C6B-10A2-A7A4-1FE6-0A777926738E}"/>
                  </a:ext>
                </a:extLst>
              </p:cNvPr>
              <p:cNvGrpSpPr/>
              <p:nvPr/>
            </p:nvGrpSpPr>
            <p:grpSpPr>
              <a:xfrm>
                <a:off x="9876422" y="1613466"/>
                <a:ext cx="1837834" cy="2139384"/>
                <a:chOff x="9876422" y="1613466"/>
                <a:chExt cx="1837834" cy="1700240"/>
              </a:xfrm>
            </p:grpSpPr>
            <p:grpSp>
              <p:nvGrpSpPr>
                <p:cNvPr id="650" name="Group 649">
                  <a:extLst>
                    <a:ext uri="{FF2B5EF4-FFF2-40B4-BE49-F238E27FC236}">
                      <a16:creationId xmlns:a16="http://schemas.microsoft.com/office/drawing/2014/main" id="{6178B0CE-11E3-840B-1EAF-F73722DFB2AC}"/>
                    </a:ext>
                  </a:extLst>
                </p:cNvPr>
                <p:cNvGrpSpPr/>
                <p:nvPr/>
              </p:nvGrpSpPr>
              <p:grpSpPr>
                <a:xfrm>
                  <a:off x="9876422" y="1613466"/>
                  <a:ext cx="1837834" cy="518320"/>
                  <a:chOff x="9876422" y="1613466"/>
                  <a:chExt cx="1837834" cy="518320"/>
                </a:xfrm>
              </p:grpSpPr>
              <p:sp>
                <p:nvSpPr>
                  <p:cNvPr id="635" name="Rectangle: Rounded Corners 634">
                    <a:extLst>
                      <a:ext uri="{FF2B5EF4-FFF2-40B4-BE49-F238E27FC236}">
                        <a16:creationId xmlns:a16="http://schemas.microsoft.com/office/drawing/2014/main" id="{052E850E-5B59-917B-15C4-1B62C72FEFBF}"/>
                      </a:ext>
                    </a:extLst>
                  </p:cNvPr>
                  <p:cNvSpPr/>
                  <p:nvPr/>
                </p:nvSpPr>
                <p:spPr>
                  <a:xfrm>
                    <a:off x="9876422" y="1613466"/>
                    <a:ext cx="1837834" cy="518320"/>
                  </a:xfrm>
                  <a:prstGeom prst="roundRect">
                    <a:avLst>
                      <a:gd name="adj" fmla="val 10858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  <a:effectLst>
                    <a:outerShdw blurRad="660400" dist="215900" dir="2700000" sx="95000" sy="95000" algn="tl" rotWithShape="0">
                      <a:prstClr val="black">
                        <a:alpha val="1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ID" sz="1000"/>
                  </a:p>
                </p:txBody>
              </p:sp>
              <p:sp>
                <p:nvSpPr>
                  <p:cNvPr id="640" name="TextBox 639">
                    <a:extLst>
                      <a:ext uri="{FF2B5EF4-FFF2-40B4-BE49-F238E27FC236}">
                        <a16:creationId xmlns:a16="http://schemas.microsoft.com/office/drawing/2014/main" id="{2B9607A9-FA56-92EC-2F7F-D165DB0AD3B9}"/>
                      </a:ext>
                    </a:extLst>
                  </p:cNvPr>
                  <p:cNvSpPr txBox="1"/>
                  <p:nvPr/>
                </p:nvSpPr>
                <p:spPr>
                  <a:xfrm>
                    <a:off x="10055143" y="1774785"/>
                    <a:ext cx="1480391" cy="195680"/>
                  </a:xfrm>
                  <a:prstGeom prst="rect">
                    <a:avLst/>
                  </a:prstGeom>
                  <a:noFill/>
                </p:spPr>
                <p:txBody>
                  <a:bodyPr wrap="square" anchor="ctr">
                    <a:spAutoFit/>
                  </a:bodyPr>
                  <a:lstStyle/>
                  <a:p>
                    <a:pPr algn="ctr">
                      <a:spcBef>
                        <a:spcPts val="600"/>
                      </a:spcBef>
                      <a:buClr>
                        <a:srgbClr val="008DB9"/>
                      </a:buClr>
                    </a:pPr>
                    <a:r>
                      <a:rPr lang="en-US" sz="1000">
                        <a:solidFill>
                          <a:schemeClr val="bg1"/>
                        </a:solidFill>
                        <a:latin typeface="Satoshi Light" pitchFamily="50" charset="0"/>
                        <a:ea typeface="Verdana" panose="020B0604030504040204" pitchFamily="34" charset="0"/>
                        <a:cs typeface="Poppins" pitchFamily="2" charset="77"/>
                      </a:rPr>
                      <a:t>Jira</a:t>
                    </a:r>
                  </a:p>
                </p:txBody>
              </p:sp>
            </p:grpSp>
            <p:grpSp>
              <p:nvGrpSpPr>
                <p:cNvPr id="646" name="Group 645">
                  <a:extLst>
                    <a:ext uri="{FF2B5EF4-FFF2-40B4-BE49-F238E27FC236}">
                      <a16:creationId xmlns:a16="http://schemas.microsoft.com/office/drawing/2014/main" id="{CF24571A-C635-8FDC-2F71-A79CB51ED5E3}"/>
                    </a:ext>
                  </a:extLst>
                </p:cNvPr>
                <p:cNvGrpSpPr/>
                <p:nvPr/>
              </p:nvGrpSpPr>
              <p:grpSpPr>
                <a:xfrm>
                  <a:off x="9876422" y="2204426"/>
                  <a:ext cx="1837834" cy="518320"/>
                  <a:chOff x="9876422" y="2211873"/>
                  <a:chExt cx="1837834" cy="518320"/>
                </a:xfrm>
              </p:grpSpPr>
              <p:sp>
                <p:nvSpPr>
                  <p:cNvPr id="637" name="Rectangle: Rounded Corners 636">
                    <a:extLst>
                      <a:ext uri="{FF2B5EF4-FFF2-40B4-BE49-F238E27FC236}">
                        <a16:creationId xmlns:a16="http://schemas.microsoft.com/office/drawing/2014/main" id="{2DEAB9A3-CE97-31A9-BDB9-8922F89A8715}"/>
                      </a:ext>
                    </a:extLst>
                  </p:cNvPr>
                  <p:cNvSpPr/>
                  <p:nvPr/>
                </p:nvSpPr>
                <p:spPr>
                  <a:xfrm>
                    <a:off x="9876422" y="2211873"/>
                    <a:ext cx="1837834" cy="518320"/>
                  </a:xfrm>
                  <a:prstGeom prst="roundRect">
                    <a:avLst>
                      <a:gd name="adj" fmla="val 10858"/>
                    </a:avLst>
                  </a:prstGeom>
                  <a:solidFill>
                    <a:schemeClr val="bg2">
                      <a:lumMod val="50000"/>
                    </a:schemeClr>
                  </a:solidFill>
                  <a:ln>
                    <a:noFill/>
                  </a:ln>
                  <a:effectLst>
                    <a:outerShdw blurRad="660400" dist="215900" dir="2700000" sx="95000" sy="95000" algn="tl" rotWithShape="0">
                      <a:prstClr val="black">
                        <a:alpha val="1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ID" sz="1000"/>
                  </a:p>
                </p:txBody>
              </p:sp>
              <p:sp>
                <p:nvSpPr>
                  <p:cNvPr id="642" name="TextBox 641">
                    <a:extLst>
                      <a:ext uri="{FF2B5EF4-FFF2-40B4-BE49-F238E27FC236}">
                        <a16:creationId xmlns:a16="http://schemas.microsoft.com/office/drawing/2014/main" id="{C6E0C486-3903-DC01-DAC4-0999815F0C1E}"/>
                      </a:ext>
                    </a:extLst>
                  </p:cNvPr>
                  <p:cNvSpPr txBox="1"/>
                  <p:nvPr/>
                </p:nvSpPr>
                <p:spPr>
                  <a:xfrm>
                    <a:off x="10055143" y="2373194"/>
                    <a:ext cx="1480391" cy="195680"/>
                  </a:xfrm>
                  <a:prstGeom prst="rect">
                    <a:avLst/>
                  </a:prstGeom>
                  <a:noFill/>
                </p:spPr>
                <p:txBody>
                  <a:bodyPr wrap="square" anchor="ctr">
                    <a:spAutoFit/>
                  </a:bodyPr>
                  <a:lstStyle/>
                  <a:p>
                    <a:pPr algn="ctr">
                      <a:spcBef>
                        <a:spcPts val="600"/>
                      </a:spcBef>
                      <a:buClr>
                        <a:srgbClr val="008DB9"/>
                      </a:buClr>
                    </a:pPr>
                    <a:r>
                      <a:rPr lang="en-US" sz="1000">
                        <a:solidFill>
                          <a:schemeClr val="bg1"/>
                        </a:solidFill>
                        <a:latin typeface="Satoshi Light" pitchFamily="50" charset="0"/>
                        <a:ea typeface="Verdana" panose="020B0604030504040204" pitchFamily="34" charset="0"/>
                        <a:cs typeface="Poppins" pitchFamily="2" charset="77"/>
                      </a:rPr>
                      <a:t>Webhook</a:t>
                    </a:r>
                  </a:p>
                </p:txBody>
              </p:sp>
            </p:grpSp>
            <p:grpSp>
              <p:nvGrpSpPr>
                <p:cNvPr id="645" name="Group 644">
                  <a:extLst>
                    <a:ext uri="{FF2B5EF4-FFF2-40B4-BE49-F238E27FC236}">
                      <a16:creationId xmlns:a16="http://schemas.microsoft.com/office/drawing/2014/main" id="{2149BDB8-716C-4FE6-282E-4991ED26A3F3}"/>
                    </a:ext>
                  </a:extLst>
                </p:cNvPr>
                <p:cNvGrpSpPr/>
                <p:nvPr/>
              </p:nvGrpSpPr>
              <p:grpSpPr>
                <a:xfrm>
                  <a:off x="9876422" y="2795386"/>
                  <a:ext cx="1837834" cy="518320"/>
                  <a:chOff x="9876422" y="2795386"/>
                  <a:chExt cx="1837834" cy="518320"/>
                </a:xfrm>
              </p:grpSpPr>
              <p:sp>
                <p:nvSpPr>
                  <p:cNvPr id="638" name="Rectangle: Rounded Corners 637">
                    <a:extLst>
                      <a:ext uri="{FF2B5EF4-FFF2-40B4-BE49-F238E27FC236}">
                        <a16:creationId xmlns:a16="http://schemas.microsoft.com/office/drawing/2014/main" id="{E44BCB3E-71D0-FD1B-356D-C64AD0739B8A}"/>
                      </a:ext>
                    </a:extLst>
                  </p:cNvPr>
                  <p:cNvSpPr/>
                  <p:nvPr/>
                </p:nvSpPr>
                <p:spPr>
                  <a:xfrm>
                    <a:off x="9876422" y="2795386"/>
                    <a:ext cx="1837834" cy="518320"/>
                  </a:xfrm>
                  <a:prstGeom prst="roundRect">
                    <a:avLst>
                      <a:gd name="adj" fmla="val 10858"/>
                    </a:avLst>
                  </a:prstGeom>
                  <a:solidFill>
                    <a:schemeClr val="accent2">
                      <a:lumMod val="60000"/>
                      <a:lumOff val="40000"/>
                      <a:alpha val="10000"/>
                    </a:schemeClr>
                  </a:solidFill>
                  <a:ln w="3175">
                    <a:solidFill>
                      <a:schemeClr val="accent2"/>
                    </a:solidFill>
                  </a:ln>
                  <a:effectLst>
                    <a:outerShdw blurRad="660400" dist="215900" dir="2700000" sx="95000" sy="95000" algn="tl" rotWithShape="0">
                      <a:prstClr val="black">
                        <a:alpha val="1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ID" sz="1000"/>
                  </a:p>
                </p:txBody>
              </p:sp>
              <p:sp>
                <p:nvSpPr>
                  <p:cNvPr id="643" name="TextBox 642">
                    <a:extLst>
                      <a:ext uri="{FF2B5EF4-FFF2-40B4-BE49-F238E27FC236}">
                        <a16:creationId xmlns:a16="http://schemas.microsoft.com/office/drawing/2014/main" id="{4AC99564-6997-BE52-C793-C2727C92A323}"/>
                      </a:ext>
                    </a:extLst>
                  </p:cNvPr>
                  <p:cNvSpPr txBox="1"/>
                  <p:nvPr/>
                </p:nvSpPr>
                <p:spPr>
                  <a:xfrm>
                    <a:off x="10055143" y="2956707"/>
                    <a:ext cx="1480391" cy="195680"/>
                  </a:xfrm>
                  <a:prstGeom prst="rect">
                    <a:avLst/>
                  </a:prstGeom>
                  <a:noFill/>
                </p:spPr>
                <p:txBody>
                  <a:bodyPr wrap="square" anchor="ctr">
                    <a:spAutoFit/>
                  </a:bodyPr>
                  <a:lstStyle/>
                  <a:p>
                    <a:pPr algn="ctr">
                      <a:spcBef>
                        <a:spcPts val="600"/>
                      </a:spcBef>
                      <a:buClr>
                        <a:srgbClr val="008DB9"/>
                      </a:buClr>
                    </a:pPr>
                    <a:r>
                      <a:rPr lang="en-US" sz="10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Satoshi Light" pitchFamily="50" charset="0"/>
                        <a:ea typeface="Verdana" panose="020B0604030504040204" pitchFamily="34" charset="0"/>
                        <a:cs typeface="Poppins" pitchFamily="2" charset="77"/>
                      </a:rPr>
                      <a:t>Test Adapter (demo)</a:t>
                    </a:r>
                  </a:p>
                </p:txBody>
              </p:sp>
            </p:grpSp>
          </p:grpSp>
        </p:grpSp>
        <p:sp>
          <p:nvSpPr>
            <p:cNvPr id="652" name="Rectangle: Rounded Corners 651">
              <a:extLst>
                <a:ext uri="{FF2B5EF4-FFF2-40B4-BE49-F238E27FC236}">
                  <a16:creationId xmlns:a16="http://schemas.microsoft.com/office/drawing/2014/main" id="{3D746BB0-B737-47E9-502E-C01606D49172}"/>
                </a:ext>
              </a:extLst>
            </p:cNvPr>
            <p:cNvSpPr/>
            <p:nvPr/>
          </p:nvSpPr>
          <p:spPr>
            <a:xfrm>
              <a:off x="424196" y="1045773"/>
              <a:ext cx="1967304" cy="3592098"/>
            </a:xfrm>
            <a:prstGeom prst="roundRect">
              <a:avLst>
                <a:gd name="adj" fmla="val 5713"/>
              </a:avLst>
            </a:prstGeom>
            <a:solidFill>
              <a:schemeClr val="bg1">
                <a:lumMod val="50000"/>
                <a:alpha val="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  <a:effectLst>
              <a:outerShdw blurRad="660400" dist="215900" dir="2700000" sx="95000" sy="95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 sz="1200"/>
            </a:p>
          </p:txBody>
        </p:sp>
        <p:grpSp>
          <p:nvGrpSpPr>
            <p:cNvPr id="661" name="Group 660">
              <a:extLst>
                <a:ext uri="{FF2B5EF4-FFF2-40B4-BE49-F238E27FC236}">
                  <a16:creationId xmlns:a16="http://schemas.microsoft.com/office/drawing/2014/main" id="{CC21FA58-EDF5-2870-EBA5-FE13E176C0AB}"/>
                </a:ext>
              </a:extLst>
            </p:cNvPr>
            <p:cNvGrpSpPr/>
            <p:nvPr/>
          </p:nvGrpSpPr>
          <p:grpSpPr>
            <a:xfrm>
              <a:off x="552976" y="1773944"/>
              <a:ext cx="1709744" cy="1577876"/>
              <a:chOff x="550592" y="1423147"/>
              <a:chExt cx="1709744" cy="1577876"/>
            </a:xfrm>
          </p:grpSpPr>
          <p:grpSp>
            <p:nvGrpSpPr>
              <p:cNvPr id="655" name="Group 654">
                <a:extLst>
                  <a:ext uri="{FF2B5EF4-FFF2-40B4-BE49-F238E27FC236}">
                    <a16:creationId xmlns:a16="http://schemas.microsoft.com/office/drawing/2014/main" id="{FB356F8E-5989-51DC-CCB0-E2C37418113D}"/>
                  </a:ext>
                </a:extLst>
              </p:cNvPr>
              <p:cNvGrpSpPr/>
              <p:nvPr/>
            </p:nvGrpSpPr>
            <p:grpSpPr>
              <a:xfrm>
                <a:off x="568852" y="1423147"/>
                <a:ext cx="1673225" cy="288906"/>
                <a:chOff x="419100" y="1423147"/>
                <a:chExt cx="1673225" cy="288906"/>
              </a:xfrm>
            </p:grpSpPr>
            <p:sp>
              <p:nvSpPr>
                <p:cNvPr id="653" name="TextBox 652">
                  <a:extLst>
                    <a:ext uri="{FF2B5EF4-FFF2-40B4-BE49-F238E27FC236}">
                      <a16:creationId xmlns:a16="http://schemas.microsoft.com/office/drawing/2014/main" id="{B6BD688A-C61B-9030-6F8B-5E50B5563314}"/>
                    </a:ext>
                  </a:extLst>
                </p:cNvPr>
                <p:cNvSpPr txBox="1"/>
                <p:nvPr/>
              </p:nvSpPr>
              <p:spPr>
                <a:xfrm>
                  <a:off x="419100" y="1423147"/>
                  <a:ext cx="1673225" cy="276999"/>
                </a:xfrm>
                <a:prstGeom prst="rect">
                  <a:avLst/>
                </a:prstGeom>
                <a:noFill/>
              </p:spPr>
              <p:txBody>
                <a:bodyPr wrap="square" anchor="t">
                  <a:spAutoFit/>
                </a:bodyPr>
                <a:lstStyle/>
                <a:p>
                  <a:pPr algn="ctr">
                    <a:spcBef>
                      <a:spcPts val="600"/>
                    </a:spcBef>
                    <a:buClr>
                      <a:srgbClr val="008DB9"/>
                    </a:buClr>
                  </a:pPr>
                  <a:r>
                    <a:rPr lang="en-US" sz="1200">
                      <a:solidFill>
                        <a:schemeClr val="accent1"/>
                      </a:solidFill>
                      <a:latin typeface="Satoshi" pitchFamily="50" charset="0"/>
                      <a:ea typeface="Verdana" panose="020B0604030504040204" pitchFamily="34" charset="0"/>
                      <a:cs typeface="Poppins" pitchFamily="2" charset="77"/>
                    </a:rPr>
                    <a:t>Intake Users</a:t>
                  </a:r>
                </a:p>
              </p:txBody>
            </p:sp>
            <p:cxnSp>
              <p:nvCxnSpPr>
                <p:cNvPr id="654" name="Straight Connector 653">
                  <a:extLst>
                    <a:ext uri="{FF2B5EF4-FFF2-40B4-BE49-F238E27FC236}">
                      <a16:creationId xmlns:a16="http://schemas.microsoft.com/office/drawing/2014/main" id="{D67C2365-9D6F-9C10-D5A2-2493E836FEB7}"/>
                    </a:ext>
                  </a:extLst>
                </p:cNvPr>
                <p:cNvCxnSpPr/>
                <p:nvPr/>
              </p:nvCxnSpPr>
              <p:spPr>
                <a:xfrm>
                  <a:off x="425844" y="1712053"/>
                  <a:ext cx="1665305" cy="0"/>
                </a:xfrm>
                <a:prstGeom prst="line">
                  <a:avLst/>
                </a:prstGeom>
                <a:ln w="635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60" name="Group 659">
                <a:extLst>
                  <a:ext uri="{FF2B5EF4-FFF2-40B4-BE49-F238E27FC236}">
                    <a16:creationId xmlns:a16="http://schemas.microsoft.com/office/drawing/2014/main" id="{7D558975-0EEA-C737-11F1-BA4B6E31485F}"/>
                  </a:ext>
                </a:extLst>
              </p:cNvPr>
              <p:cNvGrpSpPr/>
              <p:nvPr/>
            </p:nvGrpSpPr>
            <p:grpSpPr>
              <a:xfrm>
                <a:off x="550592" y="1789717"/>
                <a:ext cx="1709744" cy="1211306"/>
                <a:chOff x="420675" y="1765257"/>
                <a:chExt cx="1709744" cy="1211306"/>
              </a:xfrm>
            </p:grpSpPr>
            <p:sp>
              <p:nvSpPr>
                <p:cNvPr id="656" name="Rectangle: Rounded Corners 655">
                  <a:extLst>
                    <a:ext uri="{FF2B5EF4-FFF2-40B4-BE49-F238E27FC236}">
                      <a16:creationId xmlns:a16="http://schemas.microsoft.com/office/drawing/2014/main" id="{CE18D0C6-CAAA-8DEB-F11A-4154955BEB17}"/>
                    </a:ext>
                  </a:extLst>
                </p:cNvPr>
                <p:cNvSpPr/>
                <p:nvPr/>
              </p:nvSpPr>
              <p:spPr>
                <a:xfrm>
                  <a:off x="420675" y="2403175"/>
                  <a:ext cx="1709744" cy="573388"/>
                </a:xfrm>
                <a:prstGeom prst="roundRect">
                  <a:avLst>
                    <a:gd name="adj" fmla="val 10858"/>
                  </a:avLst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660400" dist="215900" dir="2700000" sx="95000" sy="95000" algn="tl" rotWithShape="0">
                    <a:prstClr val="black">
                      <a:alpha val="1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D"/>
                </a:p>
              </p:txBody>
            </p:sp>
            <p:sp>
              <p:nvSpPr>
                <p:cNvPr id="657" name="Rectangle: Rounded Corners 656">
                  <a:extLst>
                    <a:ext uri="{FF2B5EF4-FFF2-40B4-BE49-F238E27FC236}">
                      <a16:creationId xmlns:a16="http://schemas.microsoft.com/office/drawing/2014/main" id="{08A5AD3A-A072-6AE5-E1F4-4C5779B4113C}"/>
                    </a:ext>
                  </a:extLst>
                </p:cNvPr>
                <p:cNvSpPr/>
                <p:nvPr/>
              </p:nvSpPr>
              <p:spPr>
                <a:xfrm>
                  <a:off x="420675" y="1765257"/>
                  <a:ext cx="1709744" cy="573388"/>
                </a:xfrm>
                <a:prstGeom prst="roundRect">
                  <a:avLst>
                    <a:gd name="adj" fmla="val 10858"/>
                  </a:avLst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  <a:effectLst>
                  <a:outerShdw blurRad="660400" dist="215900" dir="2700000" sx="95000" sy="95000" algn="tl" rotWithShape="0">
                    <a:prstClr val="black">
                      <a:alpha val="1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D"/>
                </a:p>
              </p:txBody>
            </p:sp>
            <p:sp>
              <p:nvSpPr>
                <p:cNvPr id="658" name="TextBox 657">
                  <a:extLst>
                    <a:ext uri="{FF2B5EF4-FFF2-40B4-BE49-F238E27FC236}">
                      <a16:creationId xmlns:a16="http://schemas.microsoft.com/office/drawing/2014/main" id="{DF6FDFA1-A121-E013-D0B1-59CD13F43E54}"/>
                    </a:ext>
                  </a:extLst>
                </p:cNvPr>
                <p:cNvSpPr txBox="1"/>
                <p:nvPr/>
              </p:nvSpPr>
              <p:spPr>
                <a:xfrm>
                  <a:off x="453989" y="2566759"/>
                  <a:ext cx="1643117" cy="246221"/>
                </a:xfrm>
                <a:prstGeom prst="rect">
                  <a:avLst/>
                </a:prstGeom>
                <a:noFill/>
              </p:spPr>
              <p:txBody>
                <a:bodyPr wrap="square" anchor="t">
                  <a:spAutoFit/>
                </a:bodyPr>
                <a:lstStyle/>
                <a:p>
                  <a:pPr algn="ctr">
                    <a:spcBef>
                      <a:spcPts val="600"/>
                    </a:spcBef>
                    <a:buClr>
                      <a:srgbClr val="008DB9"/>
                    </a:buClr>
                  </a:pPr>
                  <a:r>
                    <a:rPr lang="en-US" sz="1000">
                      <a:solidFill>
                        <a:schemeClr val="bg1"/>
                      </a:solidFill>
                      <a:latin typeface="Satoshi" pitchFamily="50" charset="0"/>
                      <a:ea typeface="Verdana" panose="020B0604030504040204" pitchFamily="34" charset="0"/>
                      <a:cs typeface="Poppins" pitchFamily="2" charset="77"/>
                    </a:rPr>
                    <a:t>REST + SSE Streaming</a:t>
                  </a:r>
                </a:p>
              </p:txBody>
            </p:sp>
            <p:sp>
              <p:nvSpPr>
                <p:cNvPr id="659" name="TextBox 658">
                  <a:extLst>
                    <a:ext uri="{FF2B5EF4-FFF2-40B4-BE49-F238E27FC236}">
                      <a16:creationId xmlns:a16="http://schemas.microsoft.com/office/drawing/2014/main" id="{33ADDBEF-5EAE-2FF4-5B64-9B9B0B78CD9E}"/>
                    </a:ext>
                  </a:extLst>
                </p:cNvPr>
                <p:cNvSpPr txBox="1"/>
                <p:nvPr/>
              </p:nvSpPr>
              <p:spPr>
                <a:xfrm>
                  <a:off x="453989" y="1851896"/>
                  <a:ext cx="1643117" cy="400110"/>
                </a:xfrm>
                <a:prstGeom prst="rect">
                  <a:avLst/>
                </a:prstGeom>
                <a:noFill/>
              </p:spPr>
              <p:txBody>
                <a:bodyPr wrap="square" anchor="t">
                  <a:spAutoFit/>
                </a:bodyPr>
                <a:lstStyle/>
                <a:p>
                  <a:pPr algn="ctr">
                    <a:spcBef>
                      <a:spcPts val="600"/>
                    </a:spcBef>
                    <a:buClr>
                      <a:srgbClr val="008DB9"/>
                    </a:buClr>
                  </a:pPr>
                  <a:r>
                    <a:rPr lang="en-US" sz="1000">
                      <a:solidFill>
                        <a:schemeClr val="bg1"/>
                      </a:solidFill>
                      <a:latin typeface="Satoshi" pitchFamily="50" charset="0"/>
                      <a:ea typeface="Verdana" panose="020B0604030504040204" pitchFamily="34" charset="0"/>
                      <a:cs typeface="Poppins" pitchFamily="2" charset="77"/>
                    </a:rPr>
                    <a:t>react SPA</a:t>
                  </a:r>
                  <a:br>
                    <a:rPr lang="en-US" sz="1000">
                      <a:solidFill>
                        <a:schemeClr val="bg1"/>
                      </a:solidFill>
                      <a:latin typeface="Satoshi" pitchFamily="50" charset="0"/>
                      <a:ea typeface="Verdana" panose="020B0604030504040204" pitchFamily="34" charset="0"/>
                      <a:cs typeface="Poppins" pitchFamily="2" charset="77"/>
                    </a:rPr>
                  </a:br>
                  <a:r>
                    <a:rPr lang="en-US" sz="1000">
                      <a:solidFill>
                        <a:schemeClr val="bg1"/>
                      </a:solidFill>
                      <a:latin typeface="Satoshi" pitchFamily="50" charset="0"/>
                      <a:ea typeface="Verdana" panose="020B0604030504040204" pitchFamily="34" charset="0"/>
                      <a:cs typeface="Poppins" pitchFamily="2" charset="77"/>
                    </a:rPr>
                    <a:t>chat UI + intake catalog</a:t>
                  </a:r>
                </a:p>
              </p:txBody>
            </p:sp>
          </p:grpSp>
        </p:grpSp>
        <p:grpSp>
          <p:nvGrpSpPr>
            <p:cNvPr id="671" name="Group 670">
              <a:extLst>
                <a:ext uri="{FF2B5EF4-FFF2-40B4-BE49-F238E27FC236}">
                  <a16:creationId xmlns:a16="http://schemas.microsoft.com/office/drawing/2014/main" id="{E5752404-F62D-1EB6-211B-1012DA41CD2D}"/>
                </a:ext>
              </a:extLst>
            </p:cNvPr>
            <p:cNvGrpSpPr/>
            <p:nvPr/>
          </p:nvGrpSpPr>
          <p:grpSpPr>
            <a:xfrm>
              <a:off x="592193" y="1170149"/>
              <a:ext cx="1631310" cy="479418"/>
              <a:chOff x="444697" y="874777"/>
              <a:chExt cx="1631310" cy="479418"/>
            </a:xfrm>
          </p:grpSpPr>
          <p:sp>
            <p:nvSpPr>
              <p:cNvPr id="662" name="Oval 661">
                <a:extLst>
                  <a:ext uri="{FF2B5EF4-FFF2-40B4-BE49-F238E27FC236}">
                    <a16:creationId xmlns:a16="http://schemas.microsoft.com/office/drawing/2014/main" id="{E5B1180A-1D23-5824-C83A-DA60CB3614DF}"/>
                  </a:ext>
                </a:extLst>
              </p:cNvPr>
              <p:cNvSpPr/>
              <p:nvPr/>
            </p:nvSpPr>
            <p:spPr>
              <a:xfrm>
                <a:off x="444697" y="874777"/>
                <a:ext cx="479418" cy="479418"/>
              </a:xfrm>
              <a:prstGeom prst="ellipse">
                <a:avLst/>
              </a:prstGeom>
              <a:solidFill>
                <a:schemeClr val="accent1">
                  <a:alpha val="10000"/>
                </a:schemeClr>
              </a:solidFill>
              <a:ln w="19050">
                <a:noFill/>
              </a:ln>
              <a:effectLst>
                <a:outerShdw blurRad="114300" dist="38100" dir="2700000" sx="101000" sy="101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LID4096" sz="4050"/>
              </a:p>
            </p:txBody>
          </p:sp>
          <p:sp>
            <p:nvSpPr>
              <p:cNvPr id="663" name="Oval 662">
                <a:extLst>
                  <a:ext uri="{FF2B5EF4-FFF2-40B4-BE49-F238E27FC236}">
                    <a16:creationId xmlns:a16="http://schemas.microsoft.com/office/drawing/2014/main" id="{9DACA63A-9333-6518-3AE3-3958E55BB703}"/>
                  </a:ext>
                </a:extLst>
              </p:cNvPr>
              <p:cNvSpPr/>
              <p:nvPr/>
            </p:nvSpPr>
            <p:spPr>
              <a:xfrm>
                <a:off x="485419" y="915500"/>
                <a:ext cx="397974" cy="397972"/>
              </a:xfrm>
              <a:prstGeom prst="ellipse">
                <a:avLst/>
              </a:prstGeom>
              <a:solidFill>
                <a:schemeClr val="accent1"/>
              </a:solidFill>
              <a:ln w="19050">
                <a:noFill/>
              </a:ln>
              <a:effectLst>
                <a:outerShdw blurRad="114300" dist="38100" dir="2700000" sx="101000" sy="101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LID4096" sz="4050"/>
              </a:p>
            </p:txBody>
          </p:sp>
          <p:sp>
            <p:nvSpPr>
              <p:cNvPr id="664" name="Oval 663">
                <a:extLst>
                  <a:ext uri="{FF2B5EF4-FFF2-40B4-BE49-F238E27FC236}">
                    <a16:creationId xmlns:a16="http://schemas.microsoft.com/office/drawing/2014/main" id="{ABED849D-917B-B223-512B-EBFB109D06AA}"/>
                  </a:ext>
                </a:extLst>
              </p:cNvPr>
              <p:cNvSpPr/>
              <p:nvPr/>
            </p:nvSpPr>
            <p:spPr>
              <a:xfrm>
                <a:off x="1020643" y="874777"/>
                <a:ext cx="479418" cy="479418"/>
              </a:xfrm>
              <a:prstGeom prst="ellipse">
                <a:avLst/>
              </a:prstGeom>
              <a:solidFill>
                <a:schemeClr val="accent2">
                  <a:alpha val="10000"/>
                </a:schemeClr>
              </a:solidFill>
              <a:ln w="19050">
                <a:noFill/>
              </a:ln>
              <a:effectLst>
                <a:outerShdw blurRad="114300" dist="38100" dir="2700000" sx="101000" sy="101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LID4096" sz="4050"/>
              </a:p>
            </p:txBody>
          </p:sp>
          <p:sp>
            <p:nvSpPr>
              <p:cNvPr id="665" name="Oval 664">
                <a:extLst>
                  <a:ext uri="{FF2B5EF4-FFF2-40B4-BE49-F238E27FC236}">
                    <a16:creationId xmlns:a16="http://schemas.microsoft.com/office/drawing/2014/main" id="{9A300EEB-7A78-CE39-5947-E027CF635F53}"/>
                  </a:ext>
                </a:extLst>
              </p:cNvPr>
              <p:cNvSpPr/>
              <p:nvPr/>
            </p:nvSpPr>
            <p:spPr>
              <a:xfrm>
                <a:off x="1061365" y="915500"/>
                <a:ext cx="397974" cy="397972"/>
              </a:xfrm>
              <a:prstGeom prst="ellipse">
                <a:avLst/>
              </a:prstGeom>
              <a:solidFill>
                <a:schemeClr val="accent2"/>
              </a:solidFill>
              <a:ln w="19050">
                <a:noFill/>
              </a:ln>
              <a:effectLst>
                <a:outerShdw blurRad="114300" dist="38100" dir="2700000" sx="101000" sy="101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LID4096" sz="4050"/>
              </a:p>
            </p:txBody>
          </p:sp>
          <p:sp>
            <p:nvSpPr>
              <p:cNvPr id="666" name="Oval 665">
                <a:extLst>
                  <a:ext uri="{FF2B5EF4-FFF2-40B4-BE49-F238E27FC236}">
                    <a16:creationId xmlns:a16="http://schemas.microsoft.com/office/drawing/2014/main" id="{A442E214-F78E-0A92-3EE4-D3245574E5EC}"/>
                  </a:ext>
                </a:extLst>
              </p:cNvPr>
              <p:cNvSpPr/>
              <p:nvPr/>
            </p:nvSpPr>
            <p:spPr>
              <a:xfrm>
                <a:off x="1596589" y="874777"/>
                <a:ext cx="479418" cy="479418"/>
              </a:xfrm>
              <a:prstGeom prst="ellipse">
                <a:avLst/>
              </a:prstGeom>
              <a:solidFill>
                <a:schemeClr val="accent1">
                  <a:alpha val="10000"/>
                </a:schemeClr>
              </a:solidFill>
              <a:ln w="19050">
                <a:noFill/>
              </a:ln>
              <a:effectLst>
                <a:outerShdw blurRad="114300" dist="38100" dir="2700000" sx="101000" sy="101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LID4096" sz="4050"/>
              </a:p>
            </p:txBody>
          </p:sp>
          <p:sp>
            <p:nvSpPr>
              <p:cNvPr id="667" name="Oval 666">
                <a:extLst>
                  <a:ext uri="{FF2B5EF4-FFF2-40B4-BE49-F238E27FC236}">
                    <a16:creationId xmlns:a16="http://schemas.microsoft.com/office/drawing/2014/main" id="{5AB269CF-40DF-25DB-B0BD-D32ABF9B5D53}"/>
                  </a:ext>
                </a:extLst>
              </p:cNvPr>
              <p:cNvSpPr/>
              <p:nvPr/>
            </p:nvSpPr>
            <p:spPr>
              <a:xfrm>
                <a:off x="1637311" y="915500"/>
                <a:ext cx="397974" cy="397972"/>
              </a:xfrm>
              <a:prstGeom prst="ellipse">
                <a:avLst/>
              </a:prstGeom>
              <a:solidFill>
                <a:schemeClr val="accent1"/>
              </a:solidFill>
              <a:ln w="19050">
                <a:noFill/>
              </a:ln>
              <a:effectLst>
                <a:outerShdw blurRad="114300" dist="38100" dir="2700000" sx="101000" sy="101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LID4096" sz="4050"/>
              </a:p>
            </p:txBody>
          </p:sp>
          <p:pic>
            <p:nvPicPr>
              <p:cNvPr id="668" name="Graphic 667">
                <a:extLst>
                  <a:ext uri="{FF2B5EF4-FFF2-40B4-BE49-F238E27FC236}">
                    <a16:creationId xmlns:a16="http://schemas.microsoft.com/office/drawing/2014/main" id="{DA67822A-2139-75E8-CD34-8B3A65791C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79417" y="1009497"/>
                <a:ext cx="209979" cy="209979"/>
              </a:xfrm>
              <a:prstGeom prst="rect">
                <a:avLst/>
              </a:prstGeom>
            </p:spPr>
          </p:pic>
          <p:pic>
            <p:nvPicPr>
              <p:cNvPr id="669" name="Graphic 668">
                <a:extLst>
                  <a:ext uri="{FF2B5EF4-FFF2-40B4-BE49-F238E27FC236}">
                    <a16:creationId xmlns:a16="http://schemas.microsoft.com/office/drawing/2014/main" id="{F8B8F0F8-8739-E7CC-96F2-9C4779A6C0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1155363" y="1009497"/>
                <a:ext cx="209979" cy="209979"/>
              </a:xfrm>
              <a:prstGeom prst="rect">
                <a:avLst/>
              </a:prstGeom>
            </p:spPr>
          </p:pic>
          <p:pic>
            <p:nvPicPr>
              <p:cNvPr id="670" name="Graphic 669">
                <a:extLst>
                  <a:ext uri="{FF2B5EF4-FFF2-40B4-BE49-F238E27FC236}">
                    <a16:creationId xmlns:a16="http://schemas.microsoft.com/office/drawing/2014/main" id="{0A7FF29B-F5C4-A4FF-024F-C1B8D5A205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>
                <a:off x="1731309" y="1009497"/>
                <a:ext cx="209979" cy="209979"/>
              </a:xfrm>
              <a:prstGeom prst="rect">
                <a:avLst/>
              </a:prstGeom>
            </p:spPr>
          </p:pic>
        </p:grpSp>
        <p:sp>
          <p:nvSpPr>
            <p:cNvPr id="672" name="TextBox 671">
              <a:extLst>
                <a:ext uri="{FF2B5EF4-FFF2-40B4-BE49-F238E27FC236}">
                  <a16:creationId xmlns:a16="http://schemas.microsoft.com/office/drawing/2014/main" id="{7A47A96B-C6F9-823C-5F9C-D8CEFBAF851B}"/>
                </a:ext>
              </a:extLst>
            </p:cNvPr>
            <p:cNvSpPr txBox="1"/>
            <p:nvPr/>
          </p:nvSpPr>
          <p:spPr>
            <a:xfrm>
              <a:off x="554751" y="3432724"/>
              <a:ext cx="1668752" cy="101566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buClr>
                  <a:srgbClr val="008DB9"/>
                </a:buClr>
              </a:pPr>
              <a:r>
                <a:rPr lang="en-US" sz="10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SSE streams responses back:</a:t>
              </a:r>
            </a:p>
            <a:p>
              <a:pPr marL="171450" indent="-171450">
                <a:buClr>
                  <a:schemeClr val="accent3"/>
                </a:buClr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Agent messages in real-time</a:t>
              </a:r>
            </a:p>
            <a:p>
              <a:pPr marL="171450" indent="-171450">
                <a:buClr>
                  <a:schemeClr val="accent3"/>
                </a:buClr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Progress updates</a:t>
              </a:r>
            </a:p>
            <a:p>
              <a:pPr marL="171450" indent="-171450">
                <a:buClr>
                  <a:schemeClr val="accent3"/>
                </a:buClr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Ticket ID + confirmation</a:t>
              </a:r>
            </a:p>
          </p:txBody>
        </p:sp>
        <p:sp>
          <p:nvSpPr>
            <p:cNvPr id="676" name="Rectangle: Rounded Corners 675">
              <a:extLst>
                <a:ext uri="{FF2B5EF4-FFF2-40B4-BE49-F238E27FC236}">
                  <a16:creationId xmlns:a16="http://schemas.microsoft.com/office/drawing/2014/main" id="{D3E65BBA-DF2A-EF30-BF78-F7A574AA3D36}"/>
                </a:ext>
              </a:extLst>
            </p:cNvPr>
            <p:cNvSpPr/>
            <p:nvPr/>
          </p:nvSpPr>
          <p:spPr>
            <a:xfrm>
              <a:off x="2795587" y="4506328"/>
              <a:ext cx="2092694" cy="346803"/>
            </a:xfrm>
            <a:prstGeom prst="roundRect">
              <a:avLst>
                <a:gd name="adj" fmla="val 10617"/>
              </a:avLst>
            </a:prstGeom>
            <a:solidFill>
              <a:schemeClr val="accent2">
                <a:alpha val="10000"/>
              </a:schemeClr>
            </a:solidFill>
            <a:ln w="3175">
              <a:solidFill>
                <a:schemeClr val="accent2"/>
              </a:solidFill>
            </a:ln>
            <a:effectLst>
              <a:outerShdw blurRad="660400" dist="215900" dir="2700000" sx="95000" sy="95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677" name="Rectangle: Rounded Corners 676">
              <a:extLst>
                <a:ext uri="{FF2B5EF4-FFF2-40B4-BE49-F238E27FC236}">
                  <a16:creationId xmlns:a16="http://schemas.microsoft.com/office/drawing/2014/main" id="{71040EBA-7D93-3707-4BFC-95284FDD1E4B}"/>
                </a:ext>
              </a:extLst>
            </p:cNvPr>
            <p:cNvSpPr/>
            <p:nvPr/>
          </p:nvSpPr>
          <p:spPr>
            <a:xfrm>
              <a:off x="5051600" y="4506330"/>
              <a:ext cx="2092694" cy="346803"/>
            </a:xfrm>
            <a:prstGeom prst="roundRect">
              <a:avLst>
                <a:gd name="adj" fmla="val 10617"/>
              </a:avLst>
            </a:prstGeom>
            <a:solidFill>
              <a:schemeClr val="accent2">
                <a:lumMod val="60000"/>
                <a:lumOff val="40000"/>
                <a:alpha val="10000"/>
              </a:schemeClr>
            </a:solidFill>
            <a:ln w="3175">
              <a:solidFill>
                <a:schemeClr val="accent2"/>
              </a:solidFill>
            </a:ln>
            <a:effectLst>
              <a:outerShdw blurRad="660400" dist="215900" dir="2700000" sx="95000" sy="95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678" name="Rectangle: Rounded Corners 677">
              <a:extLst>
                <a:ext uri="{FF2B5EF4-FFF2-40B4-BE49-F238E27FC236}">
                  <a16:creationId xmlns:a16="http://schemas.microsoft.com/office/drawing/2014/main" id="{BB7AC507-6C19-4554-C096-5508631DBCF6}"/>
                </a:ext>
              </a:extLst>
            </p:cNvPr>
            <p:cNvSpPr/>
            <p:nvPr/>
          </p:nvSpPr>
          <p:spPr>
            <a:xfrm>
              <a:off x="7297351" y="4507009"/>
              <a:ext cx="2099062" cy="346803"/>
            </a:xfrm>
            <a:prstGeom prst="roundRect">
              <a:avLst>
                <a:gd name="adj" fmla="val 10617"/>
              </a:avLst>
            </a:prstGeom>
            <a:solidFill>
              <a:schemeClr val="accent2">
                <a:lumMod val="50000"/>
                <a:alpha val="10000"/>
              </a:schemeClr>
            </a:solidFill>
            <a:ln w="3175">
              <a:solidFill>
                <a:schemeClr val="accent2"/>
              </a:solidFill>
            </a:ln>
            <a:effectLst>
              <a:outerShdw blurRad="660400" dist="215900" dir="2700000" sx="95000" sy="95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680" name="TextBox 679">
              <a:extLst>
                <a:ext uri="{FF2B5EF4-FFF2-40B4-BE49-F238E27FC236}">
                  <a16:creationId xmlns:a16="http://schemas.microsoft.com/office/drawing/2014/main" id="{4342EF8F-7E8F-8204-1137-62046EA0F336}"/>
                </a:ext>
              </a:extLst>
            </p:cNvPr>
            <p:cNvSpPr txBox="1"/>
            <p:nvPr/>
          </p:nvSpPr>
          <p:spPr>
            <a:xfrm>
              <a:off x="2901236" y="4495749"/>
              <a:ext cx="1861264" cy="36933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spcBef>
                  <a:spcPts val="600"/>
                </a:spcBef>
                <a:buClr>
                  <a:srgbClr val="008DB9"/>
                </a:buClr>
              </a:pPr>
              <a:r>
                <a:rPr 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Adapter Registry </a:t>
              </a:r>
              <a:br>
                <a:rPr 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</a:br>
              <a:r>
                <a:rPr 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(Jira, Test, Webhook)</a:t>
              </a:r>
            </a:p>
          </p:txBody>
        </p:sp>
        <p:sp>
          <p:nvSpPr>
            <p:cNvPr id="681" name="TextBox 680">
              <a:extLst>
                <a:ext uri="{FF2B5EF4-FFF2-40B4-BE49-F238E27FC236}">
                  <a16:creationId xmlns:a16="http://schemas.microsoft.com/office/drawing/2014/main" id="{1FA13CF7-2DF0-170F-D7B5-354BC5BF6F4C}"/>
                </a:ext>
              </a:extLst>
            </p:cNvPr>
            <p:cNvSpPr txBox="1"/>
            <p:nvPr/>
          </p:nvSpPr>
          <p:spPr>
            <a:xfrm>
              <a:off x="5043805" y="4495749"/>
              <a:ext cx="2036319" cy="36933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spcBef>
                  <a:spcPts val="600"/>
                </a:spcBef>
                <a:buClr>
                  <a:srgbClr val="008DB9"/>
                </a:buClr>
              </a:pPr>
              <a:r>
                <a:rPr lang="en-US" sz="9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MongoConfigService</a:t>
              </a:r>
              <a:r>
                <a:rPr 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 </a:t>
              </a:r>
              <a:br>
                <a:rPr 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</a:br>
              <a:r>
                <a:rPr 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(reads configs from MongoDB)</a:t>
              </a:r>
            </a:p>
          </p:txBody>
        </p:sp>
        <p:sp>
          <p:nvSpPr>
            <p:cNvPr id="682" name="TextBox 681">
              <a:extLst>
                <a:ext uri="{FF2B5EF4-FFF2-40B4-BE49-F238E27FC236}">
                  <a16:creationId xmlns:a16="http://schemas.microsoft.com/office/drawing/2014/main" id="{0D76C8FC-57BF-6DAD-10BF-40629CD2AFBB}"/>
                </a:ext>
              </a:extLst>
            </p:cNvPr>
            <p:cNvSpPr txBox="1"/>
            <p:nvPr/>
          </p:nvSpPr>
          <p:spPr>
            <a:xfrm>
              <a:off x="7333081" y="4495749"/>
              <a:ext cx="2027603" cy="36933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spcBef>
                  <a:spcPts val="600"/>
                </a:spcBef>
                <a:buClr>
                  <a:srgbClr val="008DB9"/>
                </a:buClr>
              </a:pPr>
              <a:r>
                <a:rPr 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Audit Logger </a:t>
              </a:r>
              <a:br>
                <a:rPr 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</a:br>
              <a:r>
                <a:rPr 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(4 structured JSON log streams)</a:t>
              </a:r>
            </a:p>
          </p:txBody>
        </p:sp>
        <p:cxnSp>
          <p:nvCxnSpPr>
            <p:cNvPr id="687" name="Connector: Elbow 686">
              <a:extLst>
                <a:ext uri="{FF2B5EF4-FFF2-40B4-BE49-F238E27FC236}">
                  <a16:creationId xmlns:a16="http://schemas.microsoft.com/office/drawing/2014/main" id="{17E289BC-F59E-01D3-5877-BF59EAADC3F6}"/>
                </a:ext>
              </a:extLst>
            </p:cNvPr>
            <p:cNvCxnSpPr>
              <a:cxnSpLocks/>
              <a:stCxn id="676" idx="2"/>
              <a:endCxn id="602" idx="0"/>
            </p:cNvCxnSpPr>
            <p:nvPr/>
          </p:nvCxnSpPr>
          <p:spPr>
            <a:xfrm rot="5400000">
              <a:off x="3022148" y="4376469"/>
              <a:ext cx="343125" cy="1296448"/>
            </a:xfrm>
            <a:prstGeom prst="bentConnector3">
              <a:avLst>
                <a:gd name="adj1" fmla="val 50000"/>
              </a:avLst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Connector: Elbow 691">
              <a:extLst>
                <a:ext uri="{FF2B5EF4-FFF2-40B4-BE49-F238E27FC236}">
                  <a16:creationId xmlns:a16="http://schemas.microsoft.com/office/drawing/2014/main" id="{220AFB65-E3EF-C6ED-36F0-0822250E254F}"/>
                </a:ext>
              </a:extLst>
            </p:cNvPr>
            <p:cNvCxnSpPr>
              <a:cxnSpLocks/>
              <a:stCxn id="677" idx="2"/>
              <a:endCxn id="608" idx="0"/>
            </p:cNvCxnSpPr>
            <p:nvPr/>
          </p:nvCxnSpPr>
          <p:spPr>
            <a:xfrm rot="16200000" flipH="1">
              <a:off x="6133932" y="4817153"/>
              <a:ext cx="343118" cy="415088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Connector: Elbow 694">
              <a:extLst>
                <a:ext uri="{FF2B5EF4-FFF2-40B4-BE49-F238E27FC236}">
                  <a16:creationId xmlns:a16="http://schemas.microsoft.com/office/drawing/2014/main" id="{06FE8142-40C2-A8E7-9C9F-ADE3EBFD4CD7}"/>
                </a:ext>
              </a:extLst>
            </p:cNvPr>
            <p:cNvCxnSpPr>
              <a:cxnSpLocks/>
              <a:stCxn id="678" idx="2"/>
              <a:endCxn id="589" idx="0"/>
            </p:cNvCxnSpPr>
            <p:nvPr/>
          </p:nvCxnSpPr>
          <p:spPr>
            <a:xfrm rot="16200000" flipH="1">
              <a:off x="9040981" y="4159713"/>
              <a:ext cx="342444" cy="1730642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Oval 12">
              <a:extLst>
                <a:ext uri="{FF2B5EF4-FFF2-40B4-BE49-F238E27FC236}">
                  <a16:creationId xmlns:a16="http://schemas.microsoft.com/office/drawing/2014/main" id="{E9FC0D51-443B-2C99-BD93-54EF11E2C5DF}"/>
                </a:ext>
              </a:extLst>
            </p:cNvPr>
            <p:cNvGrpSpPr/>
            <p:nvPr/>
          </p:nvGrpSpPr>
          <p:grpSpPr>
            <a:xfrm>
              <a:off x="2444462" y="1077222"/>
              <a:ext cx="182883" cy="215442"/>
              <a:chOff x="-1" y="-16281"/>
              <a:chExt cx="182882" cy="215441"/>
            </a:xfrm>
          </p:grpSpPr>
          <p:sp>
            <p:nvSpPr>
              <p:cNvPr id="4" name="Circle">
                <a:extLst>
                  <a:ext uri="{FF2B5EF4-FFF2-40B4-BE49-F238E27FC236}">
                    <a16:creationId xmlns:a16="http://schemas.microsoft.com/office/drawing/2014/main" id="{D6DE86E5-4F68-D576-E616-4F1BBD49BCB9}"/>
                  </a:ext>
                </a:extLst>
              </p:cNvPr>
              <p:cNvSpPr/>
              <p:nvPr/>
            </p:nvSpPr>
            <p:spPr>
              <a:xfrm>
                <a:off x="-1" y="-1"/>
                <a:ext cx="182882" cy="182882"/>
              </a:xfrm>
              <a:prstGeom prst="ellipse">
                <a:avLst/>
              </a:prstGeom>
              <a:solidFill>
                <a:srgbClr val="009688"/>
              </a:solidFill>
              <a:ln w="12700" cap="flat">
                <a:noFill/>
                <a:miter lim="400000"/>
              </a:ln>
              <a:effectLst>
                <a:outerShdw blurRad="38100" dist="23000" dir="5400000" rotWithShape="0">
                  <a:srgbClr val="000000">
                    <a:alpha val="35000"/>
                  </a:srgbClr>
                </a:outerShdw>
              </a:effectLst>
            </p:spPr>
            <p:txBody>
              <a:bodyPr wrap="square" lIns="45719" tIns="45719" rIns="45719" bIns="45719" numCol="1" anchor="ctr">
                <a:no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l" defTabSz="457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Calibri"/>
                  </a:defRPr>
                </a:lvl1pPr>
                <a:lvl2pPr marL="0" marR="0" indent="457200" algn="l" defTabSz="457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Calibri"/>
                  </a:defRPr>
                </a:lvl2pPr>
                <a:lvl3pPr marL="0" marR="0" indent="914400" algn="l" defTabSz="457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Calibri"/>
                  </a:defRPr>
                </a:lvl3pPr>
                <a:lvl4pPr marL="0" marR="0" indent="1371600" algn="l" defTabSz="457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Calibri"/>
                  </a:defRPr>
                </a:lvl4pPr>
                <a:lvl5pPr marL="0" marR="0" indent="1828800" algn="l" defTabSz="457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Calibri"/>
                  </a:defRPr>
                </a:lvl5pPr>
                <a:lvl6pPr marL="0" marR="0" indent="2286000" algn="l" defTabSz="457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Calibri"/>
                  </a:defRPr>
                </a:lvl6pPr>
                <a:lvl7pPr marL="0" marR="0" indent="2743200" algn="l" defTabSz="457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Calibri"/>
                  </a:defRPr>
                </a:lvl7pPr>
                <a:lvl8pPr marL="0" marR="0" indent="3200400" algn="l" defTabSz="457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Calibri"/>
                  </a:defRPr>
                </a:lvl8pPr>
                <a:lvl9pPr marL="0" marR="0" indent="3657600" algn="l" defTabSz="457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Calibri"/>
                  </a:defRPr>
                </a:lvl9pPr>
              </a:lstStyle>
              <a:p>
                <a:pPr algn="ctr">
                  <a:defRPr sz="8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5" name="F">
                <a:extLst>
                  <a:ext uri="{FF2B5EF4-FFF2-40B4-BE49-F238E27FC236}">
                    <a16:creationId xmlns:a16="http://schemas.microsoft.com/office/drawing/2014/main" id="{10B4F07D-3D63-0750-16D1-2015EEE11F49}"/>
                  </a:ext>
                </a:extLst>
              </p:cNvPr>
              <p:cNvSpPr txBox="1"/>
              <p:nvPr/>
            </p:nvSpPr>
            <p:spPr>
              <a:xfrm>
                <a:off x="72501" y="-16281"/>
                <a:ext cx="37878" cy="2154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lc="http://schemas.openxmlformats.org/drawingml/2006/lockedCanvas"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 marL="0" marR="0" indent="0" algn="ctr" defTabSz="457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800" b="1" i="0" u="none" strike="noStrike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Calibri"/>
                  </a:defRPr>
                </a:lvl1pPr>
                <a:lvl2pPr marL="0" marR="0" indent="457200" algn="l" defTabSz="457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Calibri"/>
                  </a:defRPr>
                </a:lvl2pPr>
                <a:lvl3pPr marL="0" marR="0" indent="914400" algn="l" defTabSz="457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Calibri"/>
                  </a:defRPr>
                </a:lvl3pPr>
                <a:lvl4pPr marL="0" marR="0" indent="1371600" algn="l" defTabSz="457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Calibri"/>
                  </a:defRPr>
                </a:lvl4pPr>
                <a:lvl5pPr marL="0" marR="0" indent="1828800" algn="l" defTabSz="457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Calibri"/>
                  </a:defRPr>
                </a:lvl5pPr>
                <a:lvl6pPr marL="0" marR="0" indent="2286000" algn="l" defTabSz="457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Calibri"/>
                  </a:defRPr>
                </a:lvl6pPr>
                <a:lvl7pPr marL="0" marR="0" indent="2743200" algn="l" defTabSz="457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Calibri"/>
                  </a:defRPr>
                </a:lvl7pPr>
                <a:lvl8pPr marL="0" marR="0" indent="3200400" algn="l" defTabSz="457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Calibri"/>
                  </a:defRPr>
                </a:lvl8pPr>
                <a:lvl9pPr marL="0" marR="0" indent="3657600" algn="l" defTabSz="457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Calibri"/>
                  </a:defRPr>
                </a:lvl9pPr>
              </a:lstStyle>
              <a:p>
                <a:r>
                  <a:rPr dirty="0">
                    <a:latin typeface="Satoshi" pitchFamily="50" charset="0"/>
                  </a:rPr>
                  <a:t>F</a:t>
                </a:r>
              </a:p>
            </p:txBody>
          </p:sp>
        </p:grpSp>
        <p:sp>
          <p:nvSpPr>
            <p:cNvPr id="602" name="Rectangle: Rounded Corners 601">
              <a:extLst>
                <a:ext uri="{FF2B5EF4-FFF2-40B4-BE49-F238E27FC236}">
                  <a16:creationId xmlns:a16="http://schemas.microsoft.com/office/drawing/2014/main" id="{908972CD-D163-9034-C8A2-720C83AC9108}"/>
                </a:ext>
              </a:extLst>
            </p:cNvPr>
            <p:cNvSpPr/>
            <p:nvPr/>
          </p:nvSpPr>
          <p:spPr>
            <a:xfrm>
              <a:off x="419099" y="5196256"/>
              <a:ext cx="4252773" cy="1427481"/>
            </a:xfrm>
            <a:prstGeom prst="roundRect">
              <a:avLst>
                <a:gd name="adj" fmla="val 5173"/>
              </a:avLst>
            </a:prstGeom>
            <a:solidFill>
              <a:srgbClr val="E0E3E8"/>
            </a:solidFill>
            <a:ln w="3175">
              <a:solidFill>
                <a:schemeClr val="accent2"/>
              </a:solidFill>
            </a:ln>
            <a:effectLst>
              <a:outerShdw blurRad="660400" dist="215900" dir="2700000" sx="95000" sy="95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sp>
          <p:nvSpPr>
            <p:cNvPr id="604" name="TextBox 603">
              <a:extLst>
                <a:ext uri="{FF2B5EF4-FFF2-40B4-BE49-F238E27FC236}">
                  <a16:creationId xmlns:a16="http://schemas.microsoft.com/office/drawing/2014/main" id="{F44C4CBB-4744-D93B-2CCF-9F7AB2EB30D2}"/>
                </a:ext>
              </a:extLst>
            </p:cNvPr>
            <p:cNvSpPr txBox="1"/>
            <p:nvPr/>
          </p:nvSpPr>
          <p:spPr>
            <a:xfrm>
              <a:off x="562363" y="5339502"/>
              <a:ext cx="1478775" cy="25391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spcBef>
                  <a:spcPts val="600"/>
                </a:spcBef>
                <a:buClr>
                  <a:srgbClr val="008DB9"/>
                </a:buClr>
              </a:pPr>
              <a:r>
                <a:rPr lang="en-US" sz="1000" dirty="0">
                  <a:solidFill>
                    <a:schemeClr val="accent2">
                      <a:lumMod val="75000"/>
                    </a:schemeClr>
                  </a:solidFill>
                  <a:latin typeface="Satoshi" pitchFamily="50" charset="0"/>
                  <a:ea typeface="Verdana" panose="020B0604030504040204" pitchFamily="34" charset="0"/>
                  <a:cs typeface="Poppins" pitchFamily="2" charset="77"/>
                </a:rPr>
                <a:t>MongoDB</a:t>
              </a:r>
            </a:p>
          </p:txBody>
        </p:sp>
        <p:sp>
          <p:nvSpPr>
            <p:cNvPr id="603" name="TextBox 602">
              <a:extLst>
                <a:ext uri="{FF2B5EF4-FFF2-40B4-BE49-F238E27FC236}">
                  <a16:creationId xmlns:a16="http://schemas.microsoft.com/office/drawing/2014/main" id="{D6169C24-17CA-BB8D-F4F6-2ACB6A76B627}"/>
                </a:ext>
              </a:extLst>
            </p:cNvPr>
            <p:cNvSpPr txBox="1"/>
            <p:nvPr/>
          </p:nvSpPr>
          <p:spPr>
            <a:xfrm>
              <a:off x="562363" y="5531461"/>
              <a:ext cx="4009637" cy="36933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spcBef>
                  <a:spcPts val="600"/>
                </a:spcBef>
                <a:buClr>
                  <a:srgbClr val="008DB9"/>
                </a:buClr>
              </a:pPr>
              <a:r>
                <a:rPr 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Satoshi Light" pitchFamily="50" charset="0"/>
                  <a:ea typeface="Verdana" panose="020B0604030504040204" pitchFamily="34" charset="0"/>
                  <a:cs typeface="Poppins" pitchFamily="2" charset="77"/>
                </a:rPr>
                <a:t>Intake Configs (runtime), Session Storage &amp; State, Intake Answers, Conversation History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A4D14B0A-6473-9994-ACEF-01EE03AF7A54}"/>
                </a:ext>
              </a:extLst>
            </p:cNvPr>
            <p:cNvGrpSpPr/>
            <p:nvPr/>
          </p:nvGrpSpPr>
          <p:grpSpPr>
            <a:xfrm>
              <a:off x="562363" y="5919200"/>
              <a:ext cx="4109509" cy="561291"/>
              <a:chOff x="562363" y="6055889"/>
              <a:chExt cx="4109509" cy="561291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8C6417B-8A50-3A67-A99E-71BBD87C5A91}"/>
                  </a:ext>
                </a:extLst>
              </p:cNvPr>
              <p:cNvSpPr txBox="1"/>
              <p:nvPr/>
            </p:nvSpPr>
            <p:spPr>
              <a:xfrm>
                <a:off x="562363" y="6247848"/>
                <a:ext cx="4109509" cy="3693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buClr>
                    <a:srgbClr val="008DB9"/>
                  </a:buClr>
                </a:pPr>
                <a:r>
                  <a:rPr lang="en-US" sz="9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atoshi" pitchFamily="50" charset="0"/>
                    <a:ea typeface="Verdana" panose="020B0604030504040204" pitchFamily="34" charset="0"/>
                    <a:cs typeface="Poppins" pitchFamily="2" charset="77"/>
                  </a:rPr>
                  <a:t>product_feature_intake.yaml</a:t>
                </a:r>
                <a:r>
                  <a:rPr lang="en-US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atoshi" pitchFamily="50" charset="0"/>
                    <a:ea typeface="Verdana" panose="020B0604030504040204" pitchFamily="34" charset="0"/>
                    <a:cs typeface="Poppins" pitchFamily="2" charset="77"/>
                  </a:rPr>
                  <a:t> 11 placeholder configs</a:t>
                </a:r>
              </a:p>
              <a:p>
                <a:pPr>
                  <a:buClr>
                    <a:srgbClr val="008DB9"/>
                  </a:buClr>
                </a:pPr>
                <a:r>
                  <a:rPr lang="en-US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Satoshi Light" pitchFamily="50" charset="0"/>
                    <a:ea typeface="Verdana" panose="020B0604030504040204" pitchFamily="34" charset="0"/>
                    <a:cs typeface="Poppins" pitchFamily="2" charset="77"/>
                  </a:rPr>
                  <a:t>Source of truth for authoring. Imported into MongoDB at startup or via CLI sync.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EC733E1-E8E9-20AE-0285-004C59FE3662}"/>
                  </a:ext>
                </a:extLst>
              </p:cNvPr>
              <p:cNvSpPr txBox="1"/>
              <p:nvPr/>
            </p:nvSpPr>
            <p:spPr>
              <a:xfrm>
                <a:off x="562363" y="6055889"/>
                <a:ext cx="2507862" cy="25391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Bef>
                    <a:spcPts val="600"/>
                  </a:spcBef>
                  <a:buClr>
                    <a:srgbClr val="008DB9"/>
                  </a:buClr>
                </a:pPr>
                <a:r>
                  <a:rPr lang="en-US" sz="1000" dirty="0">
                    <a:solidFill>
                      <a:schemeClr val="accent2">
                        <a:lumMod val="75000"/>
                      </a:schemeClr>
                    </a:solidFill>
                    <a:latin typeface="Satoshi" pitchFamily="50" charset="0"/>
                    <a:ea typeface="Verdana" panose="020B0604030504040204" pitchFamily="34" charset="0"/>
                    <a:cs typeface="Poppins" pitchFamily="2" charset="77"/>
                  </a:rPr>
                  <a:t>YAML Config Files  (authoring)</a:t>
                </a:r>
              </a:p>
            </p:txBody>
          </p:sp>
        </p:grp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D231380A-12B9-6891-77E3-F974FFB60FCF}"/>
                </a:ext>
              </a:extLst>
            </p:cNvPr>
            <p:cNvSpPr/>
            <p:nvPr/>
          </p:nvSpPr>
          <p:spPr>
            <a:xfrm>
              <a:off x="4258995" y="5262021"/>
              <a:ext cx="328612" cy="32861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3" name="Graphic 52">
              <a:extLst>
                <a:ext uri="{FF2B5EF4-FFF2-40B4-BE49-F238E27FC236}">
                  <a16:creationId xmlns:a16="http://schemas.microsoft.com/office/drawing/2014/main" id="{5DA81ACE-9B9D-8306-B6B7-F23B5384783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4327856" y="5330882"/>
              <a:ext cx="190890" cy="1908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509020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Office Theme">
  <a:themeElements>
    <a:clrScheme name="Custom 675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B3A5C"/>
      </a:accent1>
      <a:accent2>
        <a:srgbClr val="7A8EA3"/>
      </a:accent2>
      <a:accent3>
        <a:srgbClr val="1B3A5C"/>
      </a:accent3>
      <a:accent4>
        <a:srgbClr val="7A8EA3"/>
      </a:accent4>
      <a:accent5>
        <a:srgbClr val="1B3A5C"/>
      </a:accent5>
      <a:accent6>
        <a:srgbClr val="7A8EA3"/>
      </a:accent6>
      <a:hlink>
        <a:srgbClr val="1B3A5C"/>
      </a:hlink>
      <a:folHlink>
        <a:srgbClr val="7A8EA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357</Words>
  <Application>Microsoft Office PowerPoint</Application>
  <PresentationFormat>Widescreen</PresentationFormat>
  <Paragraphs>61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Aptos</vt:lpstr>
      <vt:lpstr>Satoshi</vt:lpstr>
      <vt:lpstr>Satoshi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Nabeel</dc:creator>
  <cp:lastModifiedBy>Muhammad Nabeel</cp:lastModifiedBy>
  <cp:revision>2</cp:revision>
  <dcterms:created xsi:type="dcterms:W3CDTF">2025-07-26T09:34:16Z</dcterms:created>
  <dcterms:modified xsi:type="dcterms:W3CDTF">2026-03-24T16:13:34Z</dcterms:modified>
</cp:coreProperties>
</file>