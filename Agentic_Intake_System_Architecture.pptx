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B2A4A"/>
                </a:solidFill>
                <a:latin typeface="Segoe UI"/>
              </a:defRPr>
            </a:pPr>
            <a:r>
              <a:t>Agentic Intake System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840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E7888"/>
                </a:solidFill>
                <a:latin typeface="Segoe UI"/>
              </a:defRPr>
            </a:pPr>
            <a:r>
              <a:t>MVP1: Conversational intake with validation, assistance, and platform submission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" y="777240"/>
            <a:ext cx="2011680" cy="2148840"/>
          </a:xfrm>
          <a:prstGeom prst="roundRect">
            <a:avLst/>
          </a:prstGeom>
          <a:solidFill>
            <a:srgbClr val="F0F2F6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868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B2A4A"/>
                </a:solidFill>
                <a:latin typeface="Segoe UI"/>
              </a:defRPr>
            </a:pPr>
            <a:r>
              <a:t>Intake 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1234440"/>
            <a:ext cx="1828800" cy="411480"/>
          </a:xfrm>
          <a:prstGeom prst="roundRect">
            <a:avLst/>
          </a:prstGeom>
          <a:solidFill>
            <a:srgbClr val="2C3E50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React Frontend</a:t>
            </a:r>
            <a:br/>
            <a:r>
              <a:t>Chat UI + Intake Catalog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737360"/>
            <a:ext cx="1828800" cy="2743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REST + SSE Streaming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65960" y="1325880"/>
            <a:ext cx="320040" cy="13716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 rot="10800000">
            <a:off x="1965960" y="1783080"/>
            <a:ext cx="320040" cy="109728"/>
          </a:xfrm>
          <a:prstGeom prst="rightArrow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2103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04A58"/>
                </a:solidFill>
                <a:latin typeface="Segoe UI"/>
              </a:defRPr>
            </a:pPr>
            <a:r>
              <a:t>User selects an intake from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04A58"/>
                </a:solidFill>
                <a:latin typeface="Segoe UI"/>
              </a:defRPr>
            </a:pPr>
            <a:r>
              <a:t>the catalog. Responses stream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04A58"/>
                </a:solidFill>
                <a:latin typeface="Segoe UI"/>
              </a:defRPr>
            </a:pPr>
            <a:r>
              <a:t>back via SSE with progress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04A58"/>
                </a:solidFill>
                <a:latin typeface="Segoe UI"/>
              </a:defRPr>
            </a:pPr>
            <a:r>
              <a:t>updates and ticket confirmation.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777240"/>
            <a:ext cx="7269480" cy="3566160"/>
          </a:xfrm>
          <a:prstGeom prst="roundRect">
            <a:avLst/>
          </a:prstGeom>
          <a:solidFill>
            <a:srgbClr val="EBEEF3"/>
          </a:solidFill>
          <a:ln w="1905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23560" y="640080"/>
            <a:ext cx="274320" cy="2743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83210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B2A4A"/>
                </a:solidFill>
                <a:latin typeface="Segoe UI"/>
              </a:defRPr>
            </a:pPr>
            <a:r>
              <a:t>FastAPI +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83210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B2A4A"/>
                </a:solidFill>
                <a:latin typeface="Segoe UI"/>
              </a:defRPr>
            </a:pPr>
            <a:r>
              <a:t>Agentic Intake System Backend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188720"/>
            <a:ext cx="6995160" cy="2834640"/>
          </a:xfrm>
          <a:prstGeom prst="roundRect">
            <a:avLst/>
          </a:prstGeom>
          <a:solidFill>
            <a:srgbClr val="DDE2EB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6040" y="12344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1B2A4A"/>
                </a:solidFill>
                <a:latin typeface="Segoe UI"/>
              </a:defRPr>
            </a:pPr>
            <a:r>
              <a:t>Google ADK (Agent Development Kit)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1225296"/>
            <a:ext cx="640080" cy="20116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600" b="1">
                <a:solidFill>
                  <a:srgbClr val="2E7D32"/>
                </a:solidFill>
                <a:latin typeface="Segoe UI"/>
              </a:defRPr>
            </a:pPr>
            <a:r>
              <a:t>MVP1 — Quality  (ACTIVE)</a:t>
            </a:r>
          </a:p>
        </p:txBody>
      </p:sp>
      <p:sp>
        <p:nvSpPr>
          <p:cNvPr id="18" name="Chevron 17"/>
          <p:cNvSpPr/>
          <p:nvPr/>
        </p:nvSpPr>
        <p:spPr>
          <a:xfrm>
            <a:off x="2578608" y="1508760"/>
            <a:ext cx="1280160" cy="594360"/>
          </a:xfrm>
          <a:prstGeom prst="chevron">
            <a:avLst/>
          </a:prstGeom>
          <a:solidFill>
            <a:srgbClr val="D5DEE8"/>
          </a:solidFill>
          <a:ln w="19050">
            <a:solidFill>
              <a:srgbClr val="3A5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Segoe UI"/>
              </a:defRPr>
            </a:pPr>
            <a:r>
              <a:t>Select Intake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822192" y="1751076"/>
            <a:ext cx="182880" cy="109728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578608" y="2157984"/>
            <a:ext cx="1280160" cy="502920"/>
          </a:xfrm>
          <a:prstGeom prst="roundRect">
            <a:avLst/>
          </a:prstGeom>
          <a:solidFill>
            <a:srgbClr val="F5F6F8"/>
          </a:solidFill>
          <a:ln w="635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2176272"/>
            <a:ext cx="1225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User browses catalog and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clicks an enabled intake card.</a:t>
            </a:r>
          </a:p>
        </p:txBody>
      </p:sp>
      <p:sp>
        <p:nvSpPr>
          <p:cNvPr id="22" name="Chevron 21"/>
          <p:cNvSpPr/>
          <p:nvPr/>
        </p:nvSpPr>
        <p:spPr>
          <a:xfrm>
            <a:off x="3931920" y="1508760"/>
            <a:ext cx="1280160" cy="594360"/>
          </a:xfrm>
          <a:prstGeom prst="chevron">
            <a:avLst/>
          </a:prstGeom>
          <a:solidFill>
            <a:srgbClr val="D5DEE8"/>
          </a:solidFill>
          <a:ln w="19050">
            <a:solidFill>
              <a:srgbClr val="3A5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Segoe UI"/>
              </a:defRPr>
            </a:pPr>
            <a:r>
              <a:t>Load Config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175504" y="1751076"/>
            <a:ext cx="182880" cy="109728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931920" y="2157984"/>
            <a:ext cx="1280160" cy="502920"/>
          </a:xfrm>
          <a:prstGeom prst="roundRect">
            <a:avLst/>
          </a:prstGeom>
          <a:solidFill>
            <a:srgbClr val="F5F6F8"/>
          </a:solidFill>
          <a:ln w="635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9352" y="2176272"/>
            <a:ext cx="1225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Full YAML config loaded from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MongoDB. Session created with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config and empty answers.</a:t>
            </a:r>
          </a:p>
        </p:txBody>
      </p:sp>
      <p:sp>
        <p:nvSpPr>
          <p:cNvPr id="26" name="Chevron 25"/>
          <p:cNvSpPr/>
          <p:nvPr/>
        </p:nvSpPr>
        <p:spPr>
          <a:xfrm>
            <a:off x="5285232" y="1508760"/>
            <a:ext cx="1280160" cy="594360"/>
          </a:xfrm>
          <a:prstGeom prst="chevron">
            <a:avLst/>
          </a:prstGeom>
          <a:solidFill>
            <a:srgbClr val="D5DEE8"/>
          </a:solidFill>
          <a:ln w="19050">
            <a:solidFill>
              <a:srgbClr val="3A5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Segoe UI"/>
              </a:defRPr>
            </a:pPr>
            <a:r>
              <a:t>Ask &amp; Validate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528816" y="1751076"/>
            <a:ext cx="182880" cy="109728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85232" y="2157984"/>
            <a:ext cx="1280160" cy="502920"/>
          </a:xfrm>
          <a:prstGeom prst="roundRect">
            <a:avLst/>
          </a:prstGeom>
          <a:solidFill>
            <a:srgbClr val="F5F6F8"/>
          </a:solidFill>
          <a:ln w="635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12664" y="2176272"/>
            <a:ext cx="1225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Agent asks questions one at a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time. Validates against YAML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criteria. Helps stuck users.</a:t>
            </a:r>
          </a:p>
        </p:txBody>
      </p:sp>
      <p:sp>
        <p:nvSpPr>
          <p:cNvPr id="30" name="Chevron 29"/>
          <p:cNvSpPr/>
          <p:nvPr/>
        </p:nvSpPr>
        <p:spPr>
          <a:xfrm>
            <a:off x="6638544" y="1508760"/>
            <a:ext cx="1280160" cy="594360"/>
          </a:xfrm>
          <a:prstGeom prst="chevron">
            <a:avLst/>
          </a:prstGeom>
          <a:solidFill>
            <a:srgbClr val="D5DEE8"/>
          </a:solidFill>
          <a:ln w="19050">
            <a:solidFill>
              <a:srgbClr val="3A5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Segoe UI"/>
              </a:defRPr>
            </a:pPr>
            <a:r>
              <a:t>Review &amp; Confirm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882128" y="1751076"/>
            <a:ext cx="182880" cy="109728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638544" y="2157984"/>
            <a:ext cx="1280160" cy="502920"/>
          </a:xfrm>
          <a:prstGeom prst="roundRect">
            <a:avLst/>
          </a:prstGeom>
          <a:solidFill>
            <a:srgbClr val="F5F6F8"/>
          </a:solidFill>
          <a:ln w="635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5976" y="2176272"/>
            <a:ext cx="1225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All questions answered. Agent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presents formatted summary.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User confirms or edits.</a:t>
            </a:r>
          </a:p>
        </p:txBody>
      </p:sp>
      <p:sp>
        <p:nvSpPr>
          <p:cNvPr id="34" name="Chevron 33"/>
          <p:cNvSpPr/>
          <p:nvPr/>
        </p:nvSpPr>
        <p:spPr>
          <a:xfrm>
            <a:off x="7991856" y="1508760"/>
            <a:ext cx="1280160" cy="594360"/>
          </a:xfrm>
          <a:prstGeom prst="chevron">
            <a:avLst/>
          </a:prstGeom>
          <a:solidFill>
            <a:srgbClr val="D5DEE8"/>
          </a:solidFill>
          <a:ln w="19050">
            <a:solidFill>
              <a:srgbClr val="3A5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Segoe UI"/>
              </a:defRPr>
            </a:pPr>
            <a:r>
              <a:t>Submit to Platform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91856" y="2157984"/>
            <a:ext cx="1280160" cy="502920"/>
          </a:xfrm>
          <a:prstGeom prst="roundRect">
            <a:avLst/>
          </a:prstGeom>
          <a:solidFill>
            <a:srgbClr val="F5F6F8"/>
          </a:solidFill>
          <a:ln w="635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9288" y="2176272"/>
            <a:ext cx="1225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Answers mapped to platform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fields. Adapter dispatches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404A58"/>
                </a:solidFill>
                <a:latin typeface="Segoe UI"/>
              </a:defRPr>
            </a:pPr>
            <a:r>
              <a:t>to Jira via adapter registry.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78608" y="2743200"/>
            <a:ext cx="2194560" cy="457200"/>
          </a:xfrm>
          <a:prstGeom prst="roundRect">
            <a:avLst/>
          </a:prstGeom>
          <a:solidFill>
            <a:srgbClr val="FDE8D0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E65C00"/>
                </a:solidFill>
                <a:latin typeface="Segoe UI"/>
              </a:defRPr>
            </a:pPr>
            <a:r>
              <a:t>MVP2 — Duplicate Detection (exact + fuzzy + semantic)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05656" y="2633472"/>
            <a:ext cx="6400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600" b="1">
                <a:solidFill>
                  <a:srgbClr val="E65C00"/>
                </a:solidFill>
                <a:latin typeface="Segoe UI"/>
              </a:defRPr>
            </a:pPr>
            <a:r>
              <a:t>PLANNED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64608" y="2743200"/>
            <a:ext cx="2194560" cy="4572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565C0"/>
                </a:solidFill>
                <a:latin typeface="Segoe UI"/>
              </a:defRPr>
            </a:pPr>
            <a:r>
              <a:t>MVP3 — Intake Classification (auto-categorize)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91656" y="2633472"/>
            <a:ext cx="6400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600" b="1">
                <a:solidFill>
                  <a:srgbClr val="1565C0"/>
                </a:solidFill>
                <a:latin typeface="Segoe UI"/>
              </a:defRPr>
            </a:pPr>
            <a:r>
              <a:t>PLANNED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50608" y="2743200"/>
            <a:ext cx="2194560" cy="45720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7B1FA2"/>
                </a:solidFill>
                <a:latin typeface="Segoe UI"/>
              </a:defRPr>
            </a:pPr>
            <a:r>
              <a:t>MVP4 — Agile Artifacts (StoryDev: Epics &amp; Features)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77656" y="2633472"/>
            <a:ext cx="64008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600" b="1">
                <a:solidFill>
                  <a:srgbClr val="7B1FA2"/>
                </a:solidFill>
                <a:latin typeface="Segoe UI"/>
              </a:defRPr>
            </a:pPr>
            <a:r>
              <a:t>PLANNED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468880" y="3959352"/>
            <a:ext cx="2240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" b="1">
                <a:solidFill>
                  <a:srgbClr val="1B2A4A"/>
                </a:solidFill>
                <a:latin typeface="Segoe UI"/>
              </a:defRPr>
            </a:pPr>
            <a:r>
              <a:t>Adapter Registry</a:t>
            </a:r>
            <a:br/>
            <a:r>
              <a:t>(Jira, Test, Webhook)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82312" y="3959352"/>
            <a:ext cx="2240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" b="1">
                <a:solidFill>
                  <a:srgbClr val="1B2A4A"/>
                </a:solidFill>
                <a:latin typeface="Segoe UI"/>
              </a:defRPr>
            </a:pPr>
            <a:r>
              <a:t>MongoConfigService</a:t>
            </a:r>
            <a:br/>
            <a:r>
              <a:t>(reads from MongoDB)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95744" y="3959352"/>
            <a:ext cx="2240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" b="1">
                <a:solidFill>
                  <a:srgbClr val="1B2A4A"/>
                </a:solidFill>
                <a:latin typeface="Segoe UI"/>
              </a:defRPr>
            </a:pPr>
            <a:r>
              <a:t>Audit Logger</a:t>
            </a:r>
            <a:br/>
            <a:r>
              <a:t>(4 structured log streams)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29800" y="1097280"/>
            <a:ext cx="2148840" cy="1828800"/>
          </a:xfrm>
          <a:prstGeom prst="roundRect">
            <a:avLst/>
          </a:prstGeom>
          <a:solidFill>
            <a:srgbClr val="F5F6F8"/>
          </a:solidFill>
          <a:ln w="1905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115214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B2A4A"/>
                </a:solidFill>
                <a:latin typeface="Segoe UI"/>
              </a:defRPr>
            </a:pPr>
            <a:r>
              <a:t>Ticketing Platforms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39528" y="1417320"/>
            <a:ext cx="1920240" cy="411480"/>
          </a:xfrm>
          <a:prstGeom prst="roundRect">
            <a:avLst/>
          </a:prstGeom>
          <a:solidFill>
            <a:srgbClr val="0052CC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Jira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39528" y="1920240"/>
            <a:ext cx="1920240" cy="411480"/>
          </a:xfrm>
          <a:prstGeom prst="roundRect">
            <a:avLst/>
          </a:prstGeom>
          <a:solidFill>
            <a:srgbClr val="E8E8E8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404A58"/>
                </a:solidFill>
                <a:latin typeface="Segoe UI"/>
              </a:defRPr>
            </a:pPr>
            <a:r>
              <a:t>Webhook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39528" y="2377440"/>
            <a:ext cx="1920240" cy="411480"/>
          </a:xfrm>
          <a:prstGeom prst="roundRect">
            <a:avLst/>
          </a:prstGeom>
          <a:solidFill>
            <a:srgbClr val="F5F0E0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04A58"/>
                </a:solidFill>
                <a:latin typeface="Segoe UI"/>
              </a:defRPr>
            </a:pPr>
            <a:r>
              <a:t>Test Adapter (demo)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9555480" y="2011680"/>
            <a:ext cx="411480" cy="13716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829800" y="3200400"/>
            <a:ext cx="2148840" cy="64008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21240" y="3227832"/>
            <a:ext cx="1920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B2A4A"/>
                </a:solidFill>
                <a:latin typeface="Segoe UI"/>
              </a:defRPr>
            </a:pPr>
            <a:r>
              <a:t>MVP Roadmap</a:t>
            </a:r>
          </a:p>
        </p:txBody>
      </p:sp>
      <p:sp>
        <p:nvSpPr>
          <p:cNvPr id="54" name="Oval 53"/>
          <p:cNvSpPr/>
          <p:nvPr/>
        </p:nvSpPr>
        <p:spPr>
          <a:xfrm>
            <a:off x="10012680" y="3456432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39528" y="3584448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1">
                <a:solidFill>
                  <a:srgbClr val="404A58"/>
                </a:solidFill>
                <a:latin typeface="Segoe UI"/>
              </a:defRPr>
            </a:pPr>
            <a:r>
              <a:t>Quality</a:t>
            </a:r>
          </a:p>
        </p:txBody>
      </p:sp>
      <p:sp>
        <p:nvSpPr>
          <p:cNvPr id="56" name="Oval 55"/>
          <p:cNvSpPr/>
          <p:nvPr/>
        </p:nvSpPr>
        <p:spPr>
          <a:xfrm>
            <a:off x="10515600" y="3456432"/>
            <a:ext cx="109728" cy="109728"/>
          </a:xfrm>
          <a:prstGeom prst="ellipse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2448" y="3584448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1">
                <a:solidFill>
                  <a:srgbClr val="404A58"/>
                </a:solidFill>
                <a:latin typeface="Segoe UI"/>
              </a:defRPr>
            </a:pPr>
            <a:r>
              <a:t>Dedup</a:t>
            </a:r>
          </a:p>
        </p:txBody>
      </p:sp>
      <p:sp>
        <p:nvSpPr>
          <p:cNvPr id="58" name="Oval 57"/>
          <p:cNvSpPr/>
          <p:nvPr/>
        </p:nvSpPr>
        <p:spPr>
          <a:xfrm>
            <a:off x="11018520" y="3456432"/>
            <a:ext cx="109728" cy="109728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945368" y="3584448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1">
                <a:solidFill>
                  <a:srgbClr val="404A58"/>
                </a:solidFill>
                <a:latin typeface="Segoe UI"/>
              </a:defRPr>
            </a:pPr>
            <a:r>
              <a:t>Classify</a:t>
            </a:r>
          </a:p>
        </p:txBody>
      </p:sp>
      <p:sp>
        <p:nvSpPr>
          <p:cNvPr id="60" name="Oval 59"/>
          <p:cNvSpPr/>
          <p:nvPr/>
        </p:nvSpPr>
        <p:spPr>
          <a:xfrm>
            <a:off x="11521440" y="3456432"/>
            <a:ext cx="109728" cy="109728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48288" y="3584448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1">
                <a:solidFill>
                  <a:srgbClr val="404A58"/>
                </a:solidFill>
                <a:latin typeface="Segoe UI"/>
              </a:defRPr>
            </a:pPr>
            <a:r>
              <a:t>Artifacts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7160" y="4663440"/>
            <a:ext cx="3291840" cy="1920240"/>
          </a:xfrm>
          <a:prstGeom prst="roundRect">
            <a:avLst/>
          </a:prstGeom>
          <a:solidFill>
            <a:srgbClr val="F5F6F8"/>
          </a:solidFill>
          <a:ln w="19050">
            <a:solidFill>
              <a:srgbClr val="0068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600" y="473659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684A"/>
                </a:solidFill>
                <a:latin typeface="Segoe UI"/>
              </a:defRPr>
            </a:pPr>
            <a:r>
              <a:t>MongoDB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8600" y="502920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404A58"/>
                </a:solidFill>
                <a:latin typeface="Segoe UI"/>
              </a:defRPr>
            </a:pPr>
            <a:r>
              <a:t>YAML Configs (imported at startup)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404A58"/>
                </a:solidFill>
                <a:latin typeface="Segoe UI"/>
              </a:defRPr>
            </a:pPr>
            <a:r>
              <a:t>Session Storage &amp; State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404A58"/>
                </a:solidFill>
                <a:latin typeface="Segoe UI"/>
              </a:defRPr>
            </a:pPr>
            <a:r>
              <a:t>Intake Answers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404A58"/>
                </a:solidFill>
                <a:latin typeface="Segoe UI"/>
              </a:defRPr>
            </a:pPr>
            <a:r>
              <a:t>Conversation History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04A58"/>
                </a:solidFill>
                <a:latin typeface="Segoe U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04A58"/>
                </a:solidFill>
                <a:latin typeface="Segoe UI"/>
              </a:defRPr>
            </a:pPr>
            <a:r>
              <a:t>YAML files are the authoring format.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04A58"/>
                </a:solidFill>
                <a:latin typeface="Segoe UI"/>
              </a:defRPr>
            </a:pPr>
            <a:r>
              <a:t>Imported into MongoDB at startup.</a:t>
            </a:r>
          </a:p>
        </p:txBody>
      </p:sp>
      <p:cxnSp>
        <p:nvCxnSpPr>
          <p:cNvPr id="65" name="Connector 64"/>
          <p:cNvCxnSpPr/>
          <p:nvPr/>
        </p:nvCxnSpPr>
        <p:spPr>
          <a:xfrm flipV="1">
            <a:off x="3063240" y="4343400"/>
            <a:ext cx="0" cy="320040"/>
          </a:xfrm>
          <a:prstGeom prst="line">
            <a:avLst/>
          </a:prstGeom>
          <a:ln w="25400">
            <a:solidFill>
              <a:srgbClr val="00684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3566160" y="4663440"/>
            <a:ext cx="3474720" cy="1920240"/>
          </a:xfrm>
          <a:prstGeom prst="roundRect">
            <a:avLst/>
          </a:prstGeom>
          <a:solidFill>
            <a:srgbClr val="F5F6F8"/>
          </a:solidFill>
          <a:ln w="1905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600" y="473659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B2A4A"/>
                </a:solidFill>
                <a:latin typeface="Segoe UI"/>
              </a:defRPr>
            </a:pPr>
            <a:r>
              <a:t>Google Gemini 2.0 Flash (LLM)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657600" y="5074920"/>
            <a:ext cx="15544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404A58"/>
                </a:solidFill>
                <a:latin typeface="Segoe UI"/>
              </a:defRPr>
            </a:pPr>
            <a:r>
              <a:t>Agent LLM Calls</a:t>
            </a:r>
            <a:br/>
            <a:r>
              <a:t>(reasoning, validation,</a:t>
            </a:r>
            <a:br/>
            <a:r>
              <a:t>classification, assist)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394960" y="5074920"/>
            <a:ext cx="15544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404A58"/>
                </a:solidFill>
                <a:latin typeface="Segoe UI"/>
              </a:defRPr>
            </a:pPr>
            <a:r>
              <a:t>ADK Runner</a:t>
            </a:r>
            <a:br/>
            <a:r>
              <a:t>Orchestration &amp;</a:t>
            </a:r>
            <a:br/>
            <a:r>
              <a:t>Session Mgmt</a:t>
            </a:r>
          </a:p>
        </p:txBody>
      </p:sp>
      <p:cxnSp>
        <p:nvCxnSpPr>
          <p:cNvPr id="70" name="Connector 69"/>
          <p:cNvCxnSpPr/>
          <p:nvPr/>
        </p:nvCxnSpPr>
        <p:spPr>
          <a:xfrm flipV="1">
            <a:off x="5966460.0" y="4343400"/>
            <a:ext cx="0.0" cy="320040"/>
          </a:xfrm>
          <a:prstGeom prst="line">
            <a:avLst/>
          </a:prstGeom>
          <a:ln w="25400">
            <a:solidFill>
              <a:srgbClr val="D4A843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7178040" y="4663440"/>
            <a:ext cx="4846320" cy="1920240"/>
          </a:xfrm>
          <a:prstGeom prst="roundRect">
            <a:avLst/>
          </a:prstGeom>
          <a:solidFill>
            <a:srgbClr val="F5F6F8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9480" y="47365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B2A4A"/>
                </a:solidFill>
                <a:latin typeface="Segoe UI"/>
              </a:defRPr>
            </a:pPr>
            <a:r>
              <a:t>Structured JSON Logs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69480" y="50292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404A58"/>
                </a:solidFill>
                <a:latin typeface="Segoe UI"/>
              </a:defRPr>
            </a:pPr>
            <a:r>
              <a:t>app.log — application events &amp; HTTP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404A58"/>
                </a:solidFill>
                <a:latin typeface="Segoe UI"/>
              </a:defRPr>
            </a:pPr>
            <a:r>
              <a:t>agent_audit.log — LLM calls &amp; agent decisions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404A58"/>
                </a:solidFill>
                <a:latin typeface="Segoe UI"/>
              </a:defRPr>
            </a:pPr>
            <a:r>
              <a:t>conversation_audit.log — full chat history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404A58"/>
                </a:solidFill>
                <a:latin typeface="Segoe UI"/>
              </a:defRPr>
            </a:pPr>
            <a:r>
              <a:t>platform_audit.log — Jira API calls (sanitized)</a:t>
            </a:r>
          </a:p>
        </p:txBody>
      </p:sp>
      <p:cxnSp>
        <p:nvCxnSpPr>
          <p:cNvPr id="74" name="Connector 73"/>
          <p:cNvCxnSpPr/>
          <p:nvPr/>
        </p:nvCxnSpPr>
        <p:spPr>
          <a:xfrm flipV="1">
            <a:off x="8869680" y="4343400"/>
            <a:ext cx="0" cy="320040"/>
          </a:xfrm>
          <a:prstGeom prst="line">
            <a:avLst/>
          </a:prstGeom>
          <a:ln w="25400">
            <a:solidFill>
              <a:srgbClr val="4CAF5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