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B2A4A"/>
                </a:solidFill>
                <a:latin typeface="Segoe UI"/>
              </a:defRPr>
            </a:pPr>
            <a:r>
              <a:t>Agentic Intake System — MVP1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11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E7888"/>
                </a:solidFill>
                <a:latin typeface="Segoe UI"/>
              </a:defRPr>
            </a:pPr>
            <a:r>
              <a:t>Conversational intake with validation, assistance, and platform submission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" y="868680"/>
            <a:ext cx="2194560" cy="2560320"/>
          </a:xfrm>
          <a:prstGeom prst="roundRect">
            <a:avLst/>
          </a:prstGeom>
          <a:solidFill>
            <a:srgbClr val="F0F2F6"/>
          </a:solidFill>
          <a:ln w="1270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" y="941832"/>
            <a:ext cx="292608" cy="29260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941832"/>
            <a:ext cx="292608" cy="29260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941832"/>
            <a:ext cx="292608" cy="29260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941832"/>
            <a:ext cx="292608" cy="29260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1280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2A4A"/>
                </a:solidFill>
                <a:latin typeface="Segoe UI"/>
              </a:defRPr>
            </a:pPr>
            <a:r>
              <a:t>Intake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1600200"/>
            <a:ext cx="2011680" cy="45720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react spa</a:t>
            </a:r>
            <a:br/>
            <a:r>
              <a:t>chat ui + intake catalog</a:t>
            </a:r>
          </a:p>
        </p:txBody>
      </p:sp>
      <p:sp>
        <p:nvSpPr>
          <p:cNvPr id="11" name="Oval 10"/>
          <p:cNvSpPr/>
          <p:nvPr/>
        </p:nvSpPr>
        <p:spPr>
          <a:xfrm>
            <a:off x="1783080" y="1920240"/>
            <a:ext cx="256032" cy="25603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" y="2148840"/>
            <a:ext cx="2011680" cy="32004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REST + SSE Streaming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103120" y="1691640"/>
            <a:ext cx="365760" cy="164592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 rot="10800000">
            <a:off x="2103120" y="2240280"/>
            <a:ext cx="365760" cy="137160"/>
          </a:xfrm>
          <a:prstGeom prst="right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404A58"/>
                </a:solidFill>
                <a:latin typeface="Segoe UI"/>
              </a:defRPr>
            </a:pPr>
            <a:r>
              <a:t>SSE streams responses back: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04A58"/>
                </a:solidFill>
                <a:latin typeface="Segoe UI"/>
              </a:defRPr>
            </a:pPr>
            <a:r>
              <a:t>• Agent messages in real-time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04A58"/>
                </a:solidFill>
                <a:latin typeface="Segoe UI"/>
              </a:defRPr>
            </a:pPr>
            <a:r>
              <a:t>• Progress updates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04A58"/>
                </a:solidFill>
                <a:latin typeface="Segoe UI"/>
              </a:defRPr>
            </a:pPr>
            <a:r>
              <a:t>• Ticket ID + confirmation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" y="3383280"/>
            <a:ext cx="2103120" cy="36576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700" b="1">
                <a:solidFill>
                  <a:srgbClr val="1B2A4A"/>
                </a:solidFill>
                <a:latin typeface="Segoe UI"/>
              </a:defRPr>
            </a:pPr>
            <a:r>
              <a:t>1. User selects an intake</a:t>
            </a:r>
            <a:br/>
            <a:r>
              <a:t>    from the catalog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" y="3794760"/>
            <a:ext cx="2103120" cy="36576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700" b="1">
                <a:solidFill>
                  <a:srgbClr val="1B2A4A"/>
                </a:solidFill>
                <a:latin typeface="Segoe UI"/>
              </a:defRPr>
            </a:pPr>
            <a:r>
              <a:t>6. User gets ticket ID</a:t>
            </a:r>
            <a:br/>
            <a:r>
              <a:t>    and confirmation via SSE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731520"/>
            <a:ext cx="7040880" cy="4114800"/>
          </a:xfrm>
          <a:prstGeom prst="roundRect">
            <a:avLst/>
          </a:prstGeom>
          <a:solidFill>
            <a:srgbClr val="EAEDF2"/>
          </a:solidFill>
          <a:ln w="2540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566928"/>
            <a:ext cx="329184" cy="329184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8046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B2A4A"/>
                </a:solidFill>
                <a:latin typeface="Segoe UI"/>
              </a:defRPr>
            </a:pPr>
            <a:r>
              <a:t>FastAPI + 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8046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B2A4A"/>
                </a:solidFill>
                <a:latin typeface="Segoe UI"/>
              </a:defRPr>
            </a:pPr>
            <a:r>
              <a:t>Agentic Intake System Backend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1188720"/>
            <a:ext cx="6675120" cy="3291840"/>
          </a:xfrm>
          <a:prstGeom prst="roundRect">
            <a:avLst/>
          </a:prstGeom>
          <a:solidFill>
            <a:srgbClr val="D8DEE8"/>
          </a:solidFill>
          <a:ln w="1905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123444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B2A4A"/>
                </a:solidFill>
                <a:latin typeface="Segoe UI"/>
              </a:defRPr>
            </a:pPr>
            <a:r>
              <a:t>Google ADK (Agent Development Kit) — MVP1 Pipeline</a:t>
            </a:r>
          </a:p>
        </p:txBody>
      </p:sp>
      <p:sp>
        <p:nvSpPr>
          <p:cNvPr id="24" name="Chevron 23"/>
          <p:cNvSpPr/>
          <p:nvPr/>
        </p:nvSpPr>
        <p:spPr>
          <a:xfrm>
            <a:off x="2880360" y="1554480"/>
            <a:ext cx="1143000" cy="777240"/>
          </a:xfrm>
          <a:prstGeom prst="chevron">
            <a:avLst/>
          </a:prstGeom>
          <a:solidFill>
            <a:srgbClr val="E0E8F0"/>
          </a:solidFill>
          <a:ln w="19050">
            <a:solidFill>
              <a:srgbClr val="3A5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B2A4A"/>
                </a:solidFill>
                <a:latin typeface="Segoe UI"/>
              </a:defRPr>
            </a:pPr>
            <a:r>
              <a:t>Select</a:t>
            </a:r>
            <a:br/>
            <a:r>
              <a:t>Intake</a:t>
            </a:r>
          </a:p>
        </p:txBody>
      </p:sp>
      <p:sp>
        <p:nvSpPr>
          <p:cNvPr id="25" name="Oval 24"/>
          <p:cNvSpPr/>
          <p:nvPr/>
        </p:nvSpPr>
        <p:spPr>
          <a:xfrm>
            <a:off x="3305556" y="1261872"/>
            <a:ext cx="274320" cy="2743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977640" y="1879092"/>
            <a:ext cx="228600" cy="128016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862072" y="2404872"/>
            <a:ext cx="1179576" cy="594360"/>
          </a:xfrm>
          <a:prstGeom prst="roundRect">
            <a:avLst/>
          </a:prstGeom>
          <a:solidFill>
            <a:srgbClr val="F5F6F8"/>
          </a:solidFill>
          <a:ln w="9525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0360" y="242316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04A58"/>
                </a:solidFill>
                <a:latin typeface="Segoe UI"/>
              </a:defRPr>
            </a:pPr>
            <a:r>
              <a:t>User browses catalog,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04A58"/>
                </a:solidFill>
                <a:latin typeface="Segoe UI"/>
              </a:defRPr>
            </a:pPr>
            <a:r>
              <a:t>clicks an enabled intake.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04A58"/>
                </a:solidFill>
                <a:latin typeface="Segoe UI"/>
              </a:defRPr>
            </a:pPr>
            <a:r>
              <a:t>POST /api/sessions called.</a:t>
            </a:r>
          </a:p>
        </p:txBody>
      </p:sp>
      <p:sp>
        <p:nvSpPr>
          <p:cNvPr id="29" name="Chevron 28"/>
          <p:cNvSpPr/>
          <p:nvPr/>
        </p:nvSpPr>
        <p:spPr>
          <a:xfrm>
            <a:off x="4133088" y="1554480"/>
            <a:ext cx="1143000" cy="777240"/>
          </a:xfrm>
          <a:prstGeom prst="chevron">
            <a:avLst/>
          </a:prstGeom>
          <a:solidFill>
            <a:srgbClr val="E0E8F0"/>
          </a:solidFill>
          <a:ln w="19050">
            <a:solidFill>
              <a:srgbClr val="3A5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B2A4A"/>
                </a:solidFill>
                <a:latin typeface="Segoe UI"/>
              </a:defRPr>
            </a:pPr>
            <a:r>
              <a:t>Load Config</a:t>
            </a:r>
            <a:br/>
            <a:r>
              <a:t>&amp; Create Session</a:t>
            </a:r>
          </a:p>
        </p:txBody>
      </p:sp>
      <p:sp>
        <p:nvSpPr>
          <p:cNvPr id="30" name="Oval 29"/>
          <p:cNvSpPr/>
          <p:nvPr/>
        </p:nvSpPr>
        <p:spPr>
          <a:xfrm>
            <a:off x="4558284" y="1261872"/>
            <a:ext cx="274320" cy="2743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230368" y="1879092"/>
            <a:ext cx="228600" cy="128016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114800" y="2404872"/>
            <a:ext cx="1179576" cy="594360"/>
          </a:xfrm>
          <a:prstGeom prst="roundRect">
            <a:avLst/>
          </a:prstGeom>
          <a:solidFill>
            <a:srgbClr val="F5F6F8"/>
          </a:solidFill>
          <a:ln w="9525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33088" y="242316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04A58"/>
                </a:solidFill>
                <a:latin typeface="Segoe UI"/>
              </a:defRPr>
            </a:pPr>
            <a:r>
              <a:t>Full YAML config loaded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04A58"/>
                </a:solidFill>
                <a:latin typeface="Segoe UI"/>
              </a:defRPr>
            </a:pPr>
            <a:r>
              <a:t>from MongoDB. Session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04A58"/>
                </a:solidFill>
                <a:latin typeface="Segoe UI"/>
              </a:defRPr>
            </a:pPr>
            <a:r>
              <a:t>created with config,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04A58"/>
                </a:solidFill>
                <a:latin typeface="Segoe UI"/>
              </a:defRPr>
            </a:pPr>
            <a:r>
              <a:t>answers={}, status=in_progress.</a:t>
            </a:r>
          </a:p>
        </p:txBody>
      </p:sp>
      <p:sp>
        <p:nvSpPr>
          <p:cNvPr id="34" name="Chevron 33"/>
          <p:cNvSpPr/>
          <p:nvPr/>
        </p:nvSpPr>
        <p:spPr>
          <a:xfrm>
            <a:off x="5385816" y="1554480"/>
            <a:ext cx="1143000" cy="777240"/>
          </a:xfrm>
          <a:prstGeom prst="chevron">
            <a:avLst/>
          </a:prstGeom>
          <a:solidFill>
            <a:srgbClr val="E0E8F0"/>
          </a:solidFill>
          <a:ln w="19050">
            <a:solidFill>
              <a:srgbClr val="3A5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B2A4A"/>
                </a:solidFill>
                <a:latin typeface="Segoe UI"/>
              </a:defRPr>
            </a:pPr>
            <a:r>
              <a:t>Ask &amp;</a:t>
            </a:r>
            <a:br/>
            <a:r>
              <a:t>Validate</a:t>
            </a:r>
          </a:p>
        </p:txBody>
      </p:sp>
      <p:sp>
        <p:nvSpPr>
          <p:cNvPr id="35" name="Oval 34"/>
          <p:cNvSpPr/>
          <p:nvPr/>
        </p:nvSpPr>
        <p:spPr>
          <a:xfrm>
            <a:off x="5811012" y="1261872"/>
            <a:ext cx="274320" cy="2743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6483096" y="1879092"/>
            <a:ext cx="228600" cy="128016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367528" y="2404872"/>
            <a:ext cx="1179576" cy="594360"/>
          </a:xfrm>
          <a:prstGeom prst="roundRect">
            <a:avLst/>
          </a:prstGeom>
          <a:solidFill>
            <a:srgbClr val="F5F6F8"/>
          </a:solidFill>
          <a:ln w="9525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85816" y="242316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04A58"/>
                </a:solidFill>
                <a:latin typeface="Segoe UI"/>
              </a:defRPr>
            </a:pPr>
            <a:r>
              <a:t>Agent asks questions one at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04A58"/>
                </a:solidFill>
                <a:latin typeface="Segoe UI"/>
              </a:defRPr>
            </a:pPr>
            <a:r>
              <a:t>a time. Validates answers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04A58"/>
                </a:solidFill>
                <a:latin typeface="Segoe UI"/>
              </a:defRPr>
            </a:pPr>
            <a:r>
              <a:t>against YAML criteria. Helps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04A58"/>
                </a:solidFill>
                <a:latin typeface="Segoe UI"/>
              </a:defRPr>
            </a:pPr>
            <a:r>
              <a:t>stuck users. Retries up to 3x.</a:t>
            </a:r>
          </a:p>
        </p:txBody>
      </p:sp>
      <p:sp>
        <p:nvSpPr>
          <p:cNvPr id="39" name="Chevron 38"/>
          <p:cNvSpPr/>
          <p:nvPr/>
        </p:nvSpPr>
        <p:spPr>
          <a:xfrm>
            <a:off x="6638544" y="1554480"/>
            <a:ext cx="1143000" cy="777240"/>
          </a:xfrm>
          <a:prstGeom prst="chevron">
            <a:avLst/>
          </a:prstGeom>
          <a:solidFill>
            <a:srgbClr val="E0E8F0"/>
          </a:solidFill>
          <a:ln w="19050">
            <a:solidFill>
              <a:srgbClr val="3A5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B2A4A"/>
                </a:solidFill>
                <a:latin typeface="Segoe UI"/>
              </a:defRPr>
            </a:pPr>
            <a:r>
              <a:t>Review &amp;</a:t>
            </a:r>
            <a:br/>
            <a:r>
              <a:t>Confirm</a:t>
            </a:r>
          </a:p>
        </p:txBody>
      </p:sp>
      <p:sp>
        <p:nvSpPr>
          <p:cNvPr id="40" name="Oval 39"/>
          <p:cNvSpPr/>
          <p:nvPr/>
        </p:nvSpPr>
        <p:spPr>
          <a:xfrm>
            <a:off x="7063740" y="1261872"/>
            <a:ext cx="274320" cy="2743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7735824" y="1879092"/>
            <a:ext cx="228600" cy="128016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620256" y="2404872"/>
            <a:ext cx="1179576" cy="594360"/>
          </a:xfrm>
          <a:prstGeom prst="roundRect">
            <a:avLst/>
          </a:prstGeom>
          <a:solidFill>
            <a:srgbClr val="F5F6F8"/>
          </a:solidFill>
          <a:ln w="9525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38544" y="242316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04A58"/>
                </a:solidFill>
                <a:latin typeface="Segoe UI"/>
              </a:defRPr>
            </a:pPr>
            <a:r>
              <a:t>All questions answered.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04A58"/>
                </a:solidFill>
                <a:latin typeface="Segoe UI"/>
              </a:defRPr>
            </a:pPr>
            <a:r>
              <a:t>Agent presents a formatted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04A58"/>
                </a:solidFill>
                <a:latin typeface="Segoe UI"/>
              </a:defRPr>
            </a:pPr>
            <a:r>
              <a:t>summary of all Q&amp;A. User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04A58"/>
                </a:solidFill>
                <a:latin typeface="Segoe UI"/>
              </a:defRPr>
            </a:pPr>
            <a:r>
              <a:t>confirms or requests changes.</a:t>
            </a:r>
          </a:p>
        </p:txBody>
      </p:sp>
      <p:sp>
        <p:nvSpPr>
          <p:cNvPr id="44" name="Chevron 43"/>
          <p:cNvSpPr/>
          <p:nvPr/>
        </p:nvSpPr>
        <p:spPr>
          <a:xfrm>
            <a:off x="7891272" y="1554480"/>
            <a:ext cx="1143000" cy="777240"/>
          </a:xfrm>
          <a:prstGeom prst="chevron">
            <a:avLst/>
          </a:prstGeom>
          <a:solidFill>
            <a:srgbClr val="E0E8F0"/>
          </a:solidFill>
          <a:ln w="19050">
            <a:solidFill>
              <a:srgbClr val="3A5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B2A4A"/>
                </a:solidFill>
                <a:latin typeface="Segoe UI"/>
              </a:defRPr>
            </a:pPr>
            <a:r>
              <a:t>Submit to</a:t>
            </a:r>
            <a:br/>
            <a:r>
              <a:t>Platform</a:t>
            </a:r>
          </a:p>
        </p:txBody>
      </p:sp>
      <p:sp>
        <p:nvSpPr>
          <p:cNvPr id="45" name="Oval 44"/>
          <p:cNvSpPr/>
          <p:nvPr/>
        </p:nvSpPr>
        <p:spPr>
          <a:xfrm>
            <a:off x="8316468" y="1261872"/>
            <a:ext cx="274320" cy="2743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72984" y="2404872"/>
            <a:ext cx="1179576" cy="594360"/>
          </a:xfrm>
          <a:prstGeom prst="roundRect">
            <a:avLst/>
          </a:prstGeom>
          <a:solidFill>
            <a:srgbClr val="F5F6F8"/>
          </a:solidFill>
          <a:ln w="9525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1272" y="242316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04A58"/>
                </a:solidFill>
                <a:latin typeface="Segoe UI"/>
              </a:defRPr>
            </a:pPr>
            <a:r>
              <a:t>Answers mapped to platform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04A58"/>
                </a:solidFill>
                <a:latin typeface="Segoe UI"/>
              </a:defRPr>
            </a:pPr>
            <a:r>
              <a:t>fields via field_aggregation.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04A58"/>
                </a:solidFill>
                <a:latin typeface="Segoe UI"/>
              </a:defRPr>
            </a:pPr>
            <a:r>
              <a:t>Adapter dispatches to Jira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04A58"/>
                </a:solidFill>
                <a:latin typeface="Segoe UI"/>
              </a:defRPr>
            </a:pPr>
            <a:r>
              <a:t>(or StoryDev in MVP4).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0" y="1207008"/>
            <a:ext cx="1463040" cy="2286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2E7D32"/>
                </a:solidFill>
                <a:latin typeface="Segoe UI"/>
              </a:defRPr>
            </a:pPr>
            <a:r>
              <a:t>MVP1 — Quality  (ACTIVE)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957316.0" y="2999232"/>
            <a:ext cx="0.0" cy="182880"/>
          </a:xfrm>
          <a:prstGeom prst="line">
            <a:avLst/>
          </a:prstGeom>
          <a:ln w="19050">
            <a:solidFill>
              <a:srgbClr val="CC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5367528" y="3182112"/>
            <a:ext cx="589788.0" cy="0"/>
          </a:xfrm>
          <a:prstGeom prst="line">
            <a:avLst/>
          </a:prstGeom>
          <a:ln w="19050">
            <a:solidFill>
              <a:srgbClr val="CC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367528" y="2999232"/>
            <a:ext cx="0" cy="182880"/>
          </a:xfrm>
          <a:prstGeom prst="line">
            <a:avLst/>
          </a:prstGeom>
          <a:ln w="19050">
            <a:solidFill>
              <a:srgbClr val="CC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248656" y="304495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CC0000"/>
                </a:solidFill>
                <a:latin typeface="Segoe UI"/>
              </a:defRPr>
            </a:pPr>
            <a:r>
              <a:t>Retry (up to 3x)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880360" y="3364992"/>
            <a:ext cx="2011680" cy="548640"/>
          </a:xfrm>
          <a:prstGeom prst="roundRect">
            <a:avLst/>
          </a:prstGeom>
          <a:solidFill>
            <a:srgbClr val="FDE8D0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E65C00"/>
                </a:solidFill>
                <a:latin typeface="Segoe UI"/>
              </a:defRPr>
            </a:pPr>
            <a:r>
              <a:t>MVP2 — Duplicate Detection</a:t>
            </a:r>
            <a:br/>
            <a:r>
              <a:t>(exact + fuzzy + semantic)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24528" y="3255264"/>
            <a:ext cx="640080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E65C00"/>
                </a:solidFill>
                <a:latin typeface="Segoe UI"/>
              </a:defRPr>
            </a:pPr>
            <a:r>
              <a:t>PLANNED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83480" y="3364992"/>
            <a:ext cx="2011680" cy="5486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565C0"/>
                </a:solidFill>
                <a:latin typeface="Segoe UI"/>
              </a:defRPr>
            </a:pPr>
            <a:r>
              <a:t>MVP3 — Intake Classification</a:t>
            </a:r>
            <a:br/>
            <a:r>
              <a:t>(auto-categorize requests)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27648" y="3255264"/>
            <a:ext cx="640080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1565C0"/>
                </a:solidFill>
                <a:latin typeface="Segoe UI"/>
              </a:defRPr>
            </a:pPr>
            <a:r>
              <a:t>PLANNED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86600" y="3364992"/>
            <a:ext cx="2011680" cy="54864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7B1FA2"/>
                </a:solidFill>
                <a:latin typeface="Segoe UI"/>
              </a:defRPr>
            </a:pPr>
            <a:r>
              <a:t>MVP4 — Agile Artifact Creation</a:t>
            </a:r>
            <a:br/>
            <a:r>
              <a:t>(StoryDev: Epics &amp; Features)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430768" y="3255264"/>
            <a:ext cx="640080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7B1FA2"/>
                </a:solidFill>
                <a:latin typeface="Segoe UI"/>
              </a:defRPr>
            </a:pPr>
            <a:r>
              <a:t>PLANNED</a:t>
            </a:r>
          </a:p>
        </p:txBody>
      </p:sp>
      <p:sp>
        <p:nvSpPr>
          <p:cNvPr id="59" name="Oval 58"/>
          <p:cNvSpPr/>
          <p:nvPr/>
        </p:nvSpPr>
        <p:spPr>
          <a:xfrm>
            <a:off x="2834640" y="4416552"/>
            <a:ext cx="274320" cy="2743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0" name="Oval 59"/>
          <p:cNvSpPr/>
          <p:nvPr/>
        </p:nvSpPr>
        <p:spPr>
          <a:xfrm>
            <a:off x="5212080" y="4416552"/>
            <a:ext cx="274320" cy="2743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63240" y="4389120"/>
            <a:ext cx="21488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1B2A4A"/>
                </a:solidFill>
                <a:latin typeface="Segoe UI"/>
              </a:defRPr>
            </a:pPr>
            <a:r>
              <a:t>Adapter Registry (Jira, Test,</a:t>
            </a:r>
            <a:br/>
            <a:r>
              <a:t>Webhook)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257800" y="4389120"/>
            <a:ext cx="21488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1B2A4A"/>
                </a:solidFill>
                <a:latin typeface="Segoe UI"/>
              </a:defRPr>
            </a:pPr>
            <a:r>
              <a:t>MongoConfigService</a:t>
            </a:r>
            <a:br/>
            <a:r>
              <a:t>(reads from MongoDB)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452360" y="4389120"/>
            <a:ext cx="21488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1B2A4A"/>
                </a:solidFill>
                <a:latin typeface="Segoe UI"/>
              </a:defRPr>
            </a:pPr>
            <a:r>
              <a:t>Audit Logger</a:t>
            </a:r>
            <a:br/>
            <a:r>
              <a:t>(4 structured streams)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829800" y="1371600"/>
            <a:ext cx="2148840" cy="192024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29800" y="1426464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B2A4A"/>
                </a:solidFill>
                <a:latin typeface="Segoe UI"/>
              </a:defRPr>
            </a:pPr>
            <a:r>
              <a:t>Ticketing Platforms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939528" y="1691640"/>
            <a:ext cx="1920240" cy="411480"/>
          </a:xfrm>
          <a:prstGeom prst="roundRect">
            <a:avLst/>
          </a:prstGeom>
          <a:solidFill>
            <a:srgbClr val="0052CC"/>
          </a:solidFill>
          <a:ln w="1270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Jira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939528" y="2194560"/>
            <a:ext cx="1920240" cy="411480"/>
          </a:xfrm>
          <a:prstGeom prst="roundRect">
            <a:avLst/>
          </a:prstGeom>
          <a:solidFill>
            <a:srgbClr val="E8E8E8"/>
          </a:solidFill>
          <a:ln w="1270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04A58"/>
                </a:solidFill>
                <a:latin typeface="Segoe UI"/>
              </a:defRPr>
            </a:pPr>
            <a:r>
              <a:t>Webhook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39528" y="2697480"/>
            <a:ext cx="1920240" cy="411480"/>
          </a:xfrm>
          <a:prstGeom prst="roundRect">
            <a:avLst/>
          </a:prstGeom>
          <a:solidFill>
            <a:srgbClr val="F5F0E0"/>
          </a:solidFill>
          <a:ln w="1270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04A58"/>
                </a:solidFill>
                <a:latin typeface="Segoe UI"/>
              </a:defRPr>
            </a:pPr>
            <a:r>
              <a:t>Test Adapter (demo)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9555480" y="2286000"/>
            <a:ext cx="411480" cy="164592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9601200" y="2468880"/>
            <a:ext cx="228600" cy="0"/>
          </a:xfrm>
          <a:prstGeom prst="line">
            <a:avLst/>
          </a:prstGeom>
          <a:ln w="19050">
            <a:solidFill>
              <a:srgbClr val="B0B8C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9829800" y="3474720"/>
            <a:ext cx="2148840" cy="50292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700" b="1">
                <a:solidFill>
                  <a:srgbClr val="1B2A4A"/>
                </a:solidFill>
                <a:latin typeface="Segoe UI"/>
              </a:defRPr>
            </a:pPr>
            <a:r>
              <a:t>5. Aggregated answers</a:t>
            </a:r>
            <a:br/>
            <a:r>
              <a:t>    submitted to platform via</a:t>
            </a:r>
            <a:br/>
            <a:r>
              <a:t>    adapter (or StoryDev in MVP4)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829800" y="4114800"/>
            <a:ext cx="2148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21240" y="4133087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B2A4A"/>
                </a:solidFill>
                <a:latin typeface="Segoe UI"/>
              </a:defRPr>
            </a:pPr>
            <a:r>
              <a:t>MVP Roadmap</a:t>
            </a:r>
          </a:p>
        </p:txBody>
      </p:sp>
      <p:sp>
        <p:nvSpPr>
          <p:cNvPr id="74" name="Oval 73"/>
          <p:cNvSpPr/>
          <p:nvPr/>
        </p:nvSpPr>
        <p:spPr>
          <a:xfrm>
            <a:off x="10012680" y="4370832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39528" y="449884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1">
                <a:solidFill>
                  <a:srgbClr val="404A58"/>
                </a:solidFill>
                <a:latin typeface="Segoe UI"/>
              </a:defRPr>
            </a:pPr>
            <a:r>
              <a:t>Quality</a:t>
            </a:r>
          </a:p>
        </p:txBody>
      </p:sp>
      <p:sp>
        <p:nvSpPr>
          <p:cNvPr id="76" name="Oval 75"/>
          <p:cNvSpPr/>
          <p:nvPr/>
        </p:nvSpPr>
        <p:spPr>
          <a:xfrm>
            <a:off x="10515600" y="4370832"/>
            <a:ext cx="109728" cy="109728"/>
          </a:xfrm>
          <a:prstGeom prst="ellipse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442448" y="449884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1">
                <a:solidFill>
                  <a:srgbClr val="404A58"/>
                </a:solidFill>
                <a:latin typeface="Segoe UI"/>
              </a:defRPr>
            </a:pPr>
            <a:r>
              <a:t>Dedup</a:t>
            </a:r>
          </a:p>
        </p:txBody>
      </p:sp>
      <p:sp>
        <p:nvSpPr>
          <p:cNvPr id="78" name="Oval 77"/>
          <p:cNvSpPr/>
          <p:nvPr/>
        </p:nvSpPr>
        <p:spPr>
          <a:xfrm>
            <a:off x="11018520" y="4370832"/>
            <a:ext cx="109728" cy="10972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945368" y="449884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1">
                <a:solidFill>
                  <a:srgbClr val="404A58"/>
                </a:solidFill>
                <a:latin typeface="Segoe UI"/>
              </a:defRPr>
            </a:pPr>
            <a:r>
              <a:t>Classify</a:t>
            </a:r>
          </a:p>
        </p:txBody>
      </p:sp>
      <p:sp>
        <p:nvSpPr>
          <p:cNvPr id="80" name="Oval 79"/>
          <p:cNvSpPr/>
          <p:nvPr/>
        </p:nvSpPr>
        <p:spPr>
          <a:xfrm>
            <a:off x="11521440" y="4370832"/>
            <a:ext cx="109728" cy="109728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448288" y="449884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1">
                <a:solidFill>
                  <a:srgbClr val="404A58"/>
                </a:solidFill>
                <a:latin typeface="Segoe UI"/>
              </a:defRPr>
            </a:pPr>
            <a:r>
              <a:t>Artifacts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37160" y="4709160"/>
            <a:ext cx="2103120" cy="32004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82880" y="4727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1B2A4A"/>
                </a:solidFill>
                <a:latin typeface="Segoe UI"/>
              </a:defRPr>
            </a:pPr>
            <a:r>
              <a:t>Configs + sessions + state</a:t>
            </a:r>
            <a:br/>
            <a:r>
              <a:t>persisted in MongoDB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423160" y="4709160"/>
            <a:ext cx="1828800" cy="32004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0" y="47274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1B2A4A"/>
                </a:solidFill>
                <a:latin typeface="Segoe UI"/>
              </a:defRPr>
            </a:pPr>
            <a:r>
              <a:t>2. Load intake config from</a:t>
            </a:r>
            <a:br/>
            <a:r>
              <a:t>    MongoDB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434840" y="4709160"/>
            <a:ext cx="3200400" cy="32004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480560" y="47274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1B2A4A"/>
                </a:solidFill>
                <a:latin typeface="Segoe UI"/>
              </a:defRPr>
            </a:pPr>
            <a:r>
              <a:t>3. Agent LLM calls via Gemini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818120" y="4709160"/>
            <a:ext cx="2286000" cy="32004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63840" y="47274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1B2A4A"/>
                </a:solidFill>
                <a:latin typeface="Segoe UI"/>
              </a:defRPr>
            </a:pPr>
            <a:r>
              <a:t>All events logged with session_id + trace_id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37160" y="5120640"/>
            <a:ext cx="2194560" cy="15087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783080" y="5193792"/>
            <a:ext cx="274320" cy="274320"/>
          </a:xfrm>
          <a:prstGeom prst="ellipse">
            <a:avLst/>
          </a:prstGeom>
          <a:solidFill>
            <a:srgbClr val="006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🗄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8600" y="519379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684A"/>
                </a:solidFill>
                <a:latin typeface="Segoe UI"/>
              </a:defRPr>
            </a:pPr>
            <a:r>
              <a:t>MongoDB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8600" y="54864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404A58"/>
                </a:solidFill>
                <a:latin typeface="Segoe UI"/>
              </a:defRPr>
            </a:pPr>
            <a:r>
              <a:t>Intake Configs (runtime)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404A58"/>
                </a:solidFill>
                <a:latin typeface="Segoe UI"/>
              </a:defRPr>
            </a:pPr>
            <a:r>
              <a:t>Session Storage &amp; State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04A58"/>
                </a:solidFill>
                <a:latin typeface="Segoe UI"/>
              </a:defRPr>
            </a:pPr>
            <a:r>
              <a:t>Intake Answers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04A58"/>
                </a:solidFill>
                <a:latin typeface="Segoe UI"/>
              </a:defRPr>
            </a:pPr>
            <a:r>
              <a:t>Conversation History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514600" y="5120640"/>
            <a:ext cx="2011680" cy="15087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977639" y="5193792"/>
            <a:ext cx="274320" cy="27432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606040" y="519379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B2A4A"/>
                </a:solidFill>
                <a:latin typeface="Segoe UI"/>
              </a:defRPr>
            </a:pPr>
            <a:r>
              <a:t>YAML Config</a:t>
            </a:r>
            <a:br/>
            <a:r>
              <a:t>Files  (authoring)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606040" y="56235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404A58"/>
                </a:solidFill>
                <a:latin typeface="Segoe UI"/>
              </a:defRPr>
            </a:pPr>
            <a:r>
              <a:t>product_feature_intake.yaml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404A58"/>
                </a:solidFill>
                <a:latin typeface="Segoe UI"/>
              </a:defRPr>
            </a:pPr>
            <a:r>
              <a:t>11 placeholder configs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04A58"/>
                </a:solidFill>
                <a:latin typeface="Segoe UI"/>
              </a:defRPr>
            </a:pPr>
            <a:r>
              <a:t>Source of truth for authoring.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04A58"/>
                </a:solidFill>
                <a:latin typeface="Segoe UI"/>
              </a:defRPr>
            </a:pPr>
            <a:r>
              <a:t>Imported into MongoDB at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04A58"/>
                </a:solidFill>
                <a:latin typeface="Segoe UI"/>
              </a:defRPr>
            </a:pPr>
            <a:r>
              <a:t>startup or via CLI sync.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240280" y="5394960"/>
            <a:ext cx="27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1">
                <a:solidFill>
                  <a:srgbClr val="00684A"/>
                </a:solidFill>
                <a:latin typeface="Segoe UI"/>
              </a:defRPr>
            </a:pPr>
            <a:r>
              <a:t>import at startup</a:t>
            </a:r>
          </a:p>
        </p:txBody>
      </p:sp>
      <p:sp>
        <p:nvSpPr>
          <p:cNvPr id="99" name="Right Arrow 98"/>
          <p:cNvSpPr/>
          <p:nvPr/>
        </p:nvSpPr>
        <p:spPr>
          <a:xfrm rot="10800000">
            <a:off x="2148840" y="5577840"/>
            <a:ext cx="274320" cy="137160"/>
          </a:xfrm>
          <a:prstGeom prst="rightArrow">
            <a:avLst/>
          </a:prstGeom>
          <a:solidFill>
            <a:srgbClr val="006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4709160" y="5120640"/>
            <a:ext cx="2926080" cy="15087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086600" y="5193792"/>
            <a:ext cx="274320" cy="27432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00600" y="51937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B2A4A"/>
                </a:solidFill>
                <a:latin typeface="Segoe UI"/>
              </a:defRPr>
            </a:pPr>
            <a:r>
              <a:t>Google Gemini 2.0 Flash  (LLM)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800600" y="5532120"/>
            <a:ext cx="1234440" cy="45720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404A58"/>
                </a:solidFill>
                <a:latin typeface="Segoe UI"/>
              </a:defRPr>
            </a:pPr>
            <a:r>
              <a:t>Agent LLM Calls</a:t>
            </a:r>
            <a:br/>
            <a:r>
              <a:t>(reasoning, validation,</a:t>
            </a:r>
            <a:br/>
            <a:r>
              <a:t>classification, assist)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217920" y="5532120"/>
            <a:ext cx="1234440" cy="45720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404A58"/>
                </a:solidFill>
                <a:latin typeface="Segoe UI"/>
              </a:defRPr>
            </a:pPr>
            <a:r>
              <a:t>ADK Runner</a:t>
            </a:r>
            <a:br/>
            <a:r>
              <a:t>Orchestration &amp;</a:t>
            </a:r>
            <a:br/>
            <a:r>
              <a:t>Session Mgmt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818120" y="5120640"/>
            <a:ext cx="4160520" cy="15087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B0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430000" y="5193792"/>
            <a:ext cx="274320" cy="2743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909560" y="51937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B2A4A"/>
                </a:solidFill>
                <a:latin typeface="Segoe UI"/>
              </a:defRPr>
            </a:pPr>
            <a:r>
              <a:t>Structured JSON Logs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09560" y="548640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404A58"/>
                </a:solidFill>
                <a:latin typeface="Segoe UI"/>
              </a:defRPr>
            </a:pPr>
            <a:r>
              <a:t>app.log — application events &amp; HTTP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404A58"/>
                </a:solidFill>
                <a:latin typeface="Segoe UI"/>
              </a:defRPr>
            </a:pPr>
            <a:r>
              <a:t>agent_audit.log — LLM calls &amp; agent decisions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404A58"/>
                </a:solidFill>
                <a:latin typeface="Segoe UI"/>
              </a:defRPr>
            </a:pPr>
            <a:r>
              <a:t>conversation_audit.log — full chat history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404A58"/>
                </a:solidFill>
                <a:latin typeface="Segoe UI"/>
              </a:defRPr>
            </a:pPr>
            <a:r>
              <a:t>platform_audit.log — Jira API calls (sanitized)</a:t>
            </a:r>
          </a:p>
        </p:txBody>
      </p:sp>
      <p:cxnSp>
        <p:nvCxnSpPr>
          <p:cNvPr id="109" name="Connector 108"/>
          <p:cNvCxnSpPr/>
          <p:nvPr/>
        </p:nvCxnSpPr>
        <p:spPr>
          <a:xfrm flipV="1">
            <a:off x="1234440" y="4846320"/>
            <a:ext cx="2057400" cy="274320"/>
          </a:xfrm>
          <a:prstGeom prst="line">
            <a:avLst/>
          </a:prstGeom>
          <a:ln w="19050">
            <a:solidFill>
              <a:srgbClr val="00684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 flipV="1">
            <a:off x="6035040" y="4846320"/>
            <a:ext cx="91440" cy="274320"/>
          </a:xfrm>
          <a:prstGeom prst="line">
            <a:avLst/>
          </a:prstGeom>
          <a:ln w="19050">
            <a:solidFill>
              <a:srgbClr val="B0B8C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 flipV="1">
            <a:off x="9326880" y="4846320"/>
            <a:ext cx="91440" cy="274320"/>
          </a:xfrm>
          <a:prstGeom prst="line">
            <a:avLst/>
          </a:prstGeom>
          <a:ln w="19050">
            <a:solidFill>
              <a:srgbClr val="4CAF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