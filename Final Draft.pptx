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3" r:id="rId2"/>
    <p:sldId id="264" r:id="rId3"/>
    <p:sldId id="265" r:id="rId4"/>
  </p:sldIdLst>
  <p:sldSz cx="12192000" cy="6858000"/>
  <p:notesSz cx="6858000" cy="9144000"/>
  <p:embeddedFontLst>
    <p:embeddedFont>
      <p:font typeface="Satoshi" pitchFamily="50" charset="0"/>
      <p:regular r:id="rId5"/>
      <p:bold r:id="rId6"/>
      <p:italic r:id="rId7"/>
      <p:boldItalic r:id="rId8"/>
    </p:embeddedFont>
    <p:embeddedFont>
      <p:font typeface="Satoshi Light" pitchFamily="50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12" userDrawn="1">
          <p15:clr>
            <a:srgbClr val="A4A3A4"/>
          </p15:clr>
        </p15:guide>
        <p15:guide id="3" pos="3768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orient="horz" pos="36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7"/>
    <a:srgbClr val="E0E3E8"/>
    <a:srgbClr val="85AEDB"/>
    <a:srgbClr val="E6E9ED"/>
    <a:srgbClr val="E2E6E9"/>
    <a:srgbClr val="F4F6F9"/>
    <a:srgbClr val="E5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5" autoAdjust="0"/>
    <p:restoredTop sz="94660"/>
  </p:normalViewPr>
  <p:slideViewPr>
    <p:cSldViewPr snapToGrid="0">
      <p:cViewPr>
        <p:scale>
          <a:sx n="100" d="100"/>
          <a:sy n="100" d="100"/>
        </p:scale>
        <p:origin x="1829" y="326"/>
      </p:cViewPr>
      <p:guideLst>
        <p:guide pos="3912"/>
        <p:guide pos="3768"/>
        <p:guide orient="horz" pos="816"/>
        <p:guide orient="horz" pos="36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0C08CC8E-57A5-DC9C-1253-71199FBDFFE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96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FB1FE-D23F-264A-3688-3D5B78EC2C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AEE6DCF7-8A46-71E7-11B2-8B8D58AF1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28829"/>
          <a:stretch/>
        </p:blipFill>
        <p:spPr>
          <a:xfrm>
            <a:off x="0" y="0"/>
            <a:ext cx="4834348" cy="2910840"/>
          </a:xfrm>
          <a:prstGeom prst="rect">
            <a:avLst/>
          </a:prstGeom>
        </p:spPr>
      </p:pic>
      <p:pic>
        <p:nvPicPr>
          <p:cNvPr id="4" name="Picture 3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FD805690-B971-0360-7EE8-2CC77EF4E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28829"/>
          <a:stretch/>
        </p:blipFill>
        <p:spPr>
          <a:xfrm rot="10800000">
            <a:off x="7357652" y="3947160"/>
            <a:ext cx="4834348" cy="291084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262413A-F083-3CC9-168D-340D7306CDA1}"/>
              </a:ext>
            </a:extLst>
          </p:cNvPr>
          <p:cNvSpPr/>
          <p:nvPr userDrawn="1"/>
        </p:nvSpPr>
        <p:spPr>
          <a:xfrm rot="5400000">
            <a:off x="5575870" y="1175449"/>
            <a:ext cx="106681" cy="11258422"/>
          </a:xfrm>
          <a:custGeom>
            <a:avLst/>
            <a:gdLst>
              <a:gd name="connsiteX0" fmla="*/ 0 w 106681"/>
              <a:gd name="connsiteY0" fmla="*/ 11258422 h 11258422"/>
              <a:gd name="connsiteX1" fmla="*/ 0 w 106681"/>
              <a:gd name="connsiteY1" fmla="*/ 106680 h 11258422"/>
              <a:gd name="connsiteX2" fmla="*/ 106680 w 106681"/>
              <a:gd name="connsiteY2" fmla="*/ 0 h 11258422"/>
              <a:gd name="connsiteX3" fmla="*/ 106681 w 106681"/>
              <a:gd name="connsiteY3" fmla="*/ 0 h 11258422"/>
              <a:gd name="connsiteX4" fmla="*/ 106680 w 106681"/>
              <a:gd name="connsiteY4" fmla="*/ 11258422 h 112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81" h="11258422">
                <a:moveTo>
                  <a:pt x="0" y="11258422"/>
                </a:move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lnTo>
                  <a:pt x="106681" y="0"/>
                </a:lnTo>
                <a:lnTo>
                  <a:pt x="106680" y="1125842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A5566D-7809-2822-03AD-5B13A7642847}"/>
              </a:ext>
            </a:extLst>
          </p:cNvPr>
          <p:cNvSpPr/>
          <p:nvPr userDrawn="1"/>
        </p:nvSpPr>
        <p:spPr>
          <a:xfrm>
            <a:off x="11408974" y="6751319"/>
            <a:ext cx="213360" cy="106680"/>
          </a:xfrm>
          <a:custGeom>
            <a:avLst/>
            <a:gdLst>
              <a:gd name="connsiteX0" fmla="*/ 106680 w 213360"/>
              <a:gd name="connsiteY0" fmla="*/ 0 h 106680"/>
              <a:gd name="connsiteX1" fmla="*/ 213360 w 213360"/>
              <a:gd name="connsiteY1" fmla="*/ 106680 h 106680"/>
              <a:gd name="connsiteX2" fmla="*/ 0 w 213360"/>
              <a:gd name="connsiteY2" fmla="*/ 106680 h 106680"/>
              <a:gd name="connsiteX3" fmla="*/ 106680 w 213360"/>
              <a:gd name="connsiteY3" fmla="*/ 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60" h="106680">
                <a:moveTo>
                  <a:pt x="106680" y="0"/>
                </a:moveTo>
                <a:cubicBezTo>
                  <a:pt x="165598" y="0"/>
                  <a:pt x="213360" y="47762"/>
                  <a:pt x="213360" y="106680"/>
                </a:cubicBez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2E73E5E-5BC9-FE6A-DA97-C50CA1D6E6D5}"/>
              </a:ext>
            </a:extLst>
          </p:cNvPr>
          <p:cNvSpPr/>
          <p:nvPr userDrawn="1"/>
        </p:nvSpPr>
        <p:spPr>
          <a:xfrm rot="10800000">
            <a:off x="11644415" y="6751319"/>
            <a:ext cx="213360" cy="106680"/>
          </a:xfrm>
          <a:custGeom>
            <a:avLst/>
            <a:gdLst>
              <a:gd name="connsiteX0" fmla="*/ 106680 w 213360"/>
              <a:gd name="connsiteY0" fmla="*/ 0 h 106680"/>
              <a:gd name="connsiteX1" fmla="*/ 213360 w 213360"/>
              <a:gd name="connsiteY1" fmla="*/ 106680 h 106680"/>
              <a:gd name="connsiteX2" fmla="*/ 0 w 213360"/>
              <a:gd name="connsiteY2" fmla="*/ 106680 h 106680"/>
              <a:gd name="connsiteX3" fmla="*/ 106680 w 213360"/>
              <a:gd name="connsiteY3" fmla="*/ 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60" h="106680">
                <a:moveTo>
                  <a:pt x="106680" y="0"/>
                </a:moveTo>
                <a:cubicBezTo>
                  <a:pt x="165598" y="0"/>
                  <a:pt x="213360" y="47762"/>
                  <a:pt x="213360" y="106680"/>
                </a:cubicBez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90ABA8E-1A16-0935-A014-EE32453E0970}"/>
              </a:ext>
            </a:extLst>
          </p:cNvPr>
          <p:cNvSpPr/>
          <p:nvPr userDrawn="1"/>
        </p:nvSpPr>
        <p:spPr>
          <a:xfrm rot="16200000">
            <a:off x="11887425" y="6751320"/>
            <a:ext cx="106680" cy="106680"/>
          </a:xfrm>
          <a:custGeom>
            <a:avLst/>
            <a:gdLst>
              <a:gd name="connsiteX0" fmla="*/ 106680 w 106680"/>
              <a:gd name="connsiteY0" fmla="*/ 106680 h 106680"/>
              <a:gd name="connsiteX1" fmla="*/ 0 w 106680"/>
              <a:gd name="connsiteY1" fmla="*/ 106680 h 106680"/>
              <a:gd name="connsiteX2" fmla="*/ 0 w 106680"/>
              <a:gd name="connsiteY2" fmla="*/ 0 h 106680"/>
              <a:gd name="connsiteX3" fmla="*/ 106680 w 106680"/>
              <a:gd name="connsiteY3" fmla="*/ 10668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0" h="106680">
                <a:moveTo>
                  <a:pt x="106680" y="106680"/>
                </a:moveTo>
                <a:lnTo>
                  <a:pt x="0" y="106680"/>
                </a:lnTo>
                <a:lnTo>
                  <a:pt x="0" y="0"/>
                </a:lnTo>
                <a:cubicBezTo>
                  <a:pt x="58918" y="0"/>
                  <a:pt x="106680" y="47762"/>
                  <a:pt x="106680" y="106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BFD40F-1E02-ED01-0C9D-6D50EF59C138}"/>
              </a:ext>
            </a:extLst>
          </p:cNvPr>
          <p:cNvGrpSpPr/>
          <p:nvPr/>
        </p:nvGrpSpPr>
        <p:grpSpPr>
          <a:xfrm>
            <a:off x="320040" y="103392"/>
            <a:ext cx="7551420" cy="461665"/>
            <a:chOff x="320040" y="333791"/>
            <a:chExt cx="7551420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296A3F-2B69-6330-1992-C703CBB3D8D4}"/>
                </a:ext>
              </a:extLst>
            </p:cNvPr>
            <p:cNvSpPr txBox="1"/>
            <p:nvPr/>
          </p:nvSpPr>
          <p:spPr>
            <a:xfrm>
              <a:off x="320040" y="333791"/>
              <a:ext cx="7551420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24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Space Grotesk" pitchFamily="2" charset="0"/>
                </a:rPr>
                <a:t>ECM Document Ingestion Pipeline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5CBA8DD-1E3A-EB89-2A5F-4AE119D66B77}"/>
                </a:ext>
              </a:extLst>
            </p:cNvPr>
            <p:cNvCxnSpPr>
              <a:cxnSpLocks/>
            </p:cNvCxnSpPr>
            <p:nvPr/>
          </p:nvCxnSpPr>
          <p:spPr>
            <a:xfrm>
              <a:off x="3877151" y="795456"/>
              <a:ext cx="1185387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77206E-0506-B30A-482E-E11B64129360}"/>
              </a:ext>
            </a:extLst>
          </p:cNvPr>
          <p:cNvSpPr txBox="1"/>
          <p:nvPr/>
        </p:nvSpPr>
        <p:spPr>
          <a:xfrm>
            <a:off x="320040" y="598427"/>
            <a:ext cx="7909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Initial RAG Document Load  ·  Enterprise Content Management  ·  Tachyon Vector Storage</a:t>
            </a:r>
          </a:p>
        </p:txBody>
      </p:sp>
      <p:grpSp>
        <p:nvGrpSpPr>
          <p:cNvPr id="733" name="Group 732">
            <a:extLst>
              <a:ext uri="{FF2B5EF4-FFF2-40B4-BE49-F238E27FC236}">
                <a16:creationId xmlns:a16="http://schemas.microsoft.com/office/drawing/2014/main" id="{FFFC4DF6-3320-7654-F9EE-4BE7EA274ADC}"/>
              </a:ext>
            </a:extLst>
          </p:cNvPr>
          <p:cNvGrpSpPr/>
          <p:nvPr/>
        </p:nvGrpSpPr>
        <p:grpSpPr>
          <a:xfrm>
            <a:off x="10952417" y="308038"/>
            <a:ext cx="1239583" cy="222124"/>
            <a:chOff x="10952417" y="308038"/>
            <a:chExt cx="1239583" cy="222124"/>
          </a:xfrm>
        </p:grpSpPr>
        <p:sp>
          <p:nvSpPr>
            <p:cNvPr id="723" name="Oval 722">
              <a:extLst>
                <a:ext uri="{FF2B5EF4-FFF2-40B4-BE49-F238E27FC236}">
                  <a16:creationId xmlns:a16="http://schemas.microsoft.com/office/drawing/2014/main" id="{6A8F0C26-70D7-348C-FD14-4FA03D502B7E}"/>
                </a:ext>
              </a:extLst>
            </p:cNvPr>
            <p:cNvSpPr/>
            <p:nvPr/>
          </p:nvSpPr>
          <p:spPr>
            <a:xfrm>
              <a:off x="10952417" y="308038"/>
              <a:ext cx="222124" cy="222124"/>
            </a:xfrm>
            <a:prstGeom prst="ellipse">
              <a:avLst/>
            </a:prstGeom>
            <a:solidFill>
              <a:srgbClr val="F2F4F7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" name="Oval 723">
              <a:extLst>
                <a:ext uri="{FF2B5EF4-FFF2-40B4-BE49-F238E27FC236}">
                  <a16:creationId xmlns:a16="http://schemas.microsoft.com/office/drawing/2014/main" id="{5C6EC866-12A9-A823-31FE-68A4B9B0BDC8}"/>
                </a:ext>
              </a:extLst>
            </p:cNvPr>
            <p:cNvSpPr/>
            <p:nvPr/>
          </p:nvSpPr>
          <p:spPr>
            <a:xfrm>
              <a:off x="11255359" y="308038"/>
              <a:ext cx="222124" cy="222124"/>
            </a:xfrm>
            <a:prstGeom prst="ellipse">
              <a:avLst/>
            </a:prstGeom>
            <a:solidFill>
              <a:srgbClr val="F2F4F7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" name="Oval 724">
              <a:extLst>
                <a:ext uri="{FF2B5EF4-FFF2-40B4-BE49-F238E27FC236}">
                  <a16:creationId xmlns:a16="http://schemas.microsoft.com/office/drawing/2014/main" id="{2B58F41E-8734-6767-1712-6462936A6288}"/>
                </a:ext>
              </a:extLst>
            </p:cNvPr>
            <p:cNvSpPr/>
            <p:nvPr/>
          </p:nvSpPr>
          <p:spPr>
            <a:xfrm>
              <a:off x="11558301" y="308038"/>
              <a:ext cx="222124" cy="222124"/>
            </a:xfrm>
            <a:prstGeom prst="ellipse">
              <a:avLst/>
            </a:prstGeom>
            <a:solidFill>
              <a:srgbClr val="F2F4F7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Shape 151">
              <a:extLst>
                <a:ext uri="{FF2B5EF4-FFF2-40B4-BE49-F238E27FC236}">
                  <a16:creationId xmlns:a16="http://schemas.microsoft.com/office/drawing/2014/main" id="{902AD83A-F31C-7BFA-3621-00E0BF1E61FB}"/>
                </a:ext>
              </a:extLst>
            </p:cNvPr>
            <p:cNvSpPr/>
            <p:nvPr/>
          </p:nvSpPr>
          <p:spPr>
            <a:xfrm>
              <a:off x="10985755" y="341376"/>
              <a:ext cx="155448" cy="155448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" name="Shape 152">
              <a:extLst>
                <a:ext uri="{FF2B5EF4-FFF2-40B4-BE49-F238E27FC236}">
                  <a16:creationId xmlns:a16="http://schemas.microsoft.com/office/drawing/2014/main" id="{15C5705B-8E97-8BE6-33D5-D0198F2E7ADA}"/>
                </a:ext>
              </a:extLst>
            </p:cNvPr>
            <p:cNvSpPr/>
            <p:nvPr/>
          </p:nvSpPr>
          <p:spPr>
            <a:xfrm>
              <a:off x="11288697" y="341376"/>
              <a:ext cx="155448" cy="155448"/>
            </a:xfrm>
            <a:prstGeom prst="ellipse">
              <a:avLst/>
            </a:prstGeom>
            <a:solidFill>
              <a:schemeClr val="accent3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Shape 153">
              <a:extLst>
                <a:ext uri="{FF2B5EF4-FFF2-40B4-BE49-F238E27FC236}">
                  <a16:creationId xmlns:a16="http://schemas.microsoft.com/office/drawing/2014/main" id="{8CBE60B3-2A90-2874-4489-287315EFB253}"/>
                </a:ext>
              </a:extLst>
            </p:cNvPr>
            <p:cNvSpPr/>
            <p:nvPr/>
          </p:nvSpPr>
          <p:spPr>
            <a:xfrm>
              <a:off x="11591639" y="341376"/>
              <a:ext cx="155448" cy="15544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729" name="Straight Connector 728">
              <a:extLst>
                <a:ext uri="{FF2B5EF4-FFF2-40B4-BE49-F238E27FC236}">
                  <a16:creationId xmlns:a16="http://schemas.microsoft.com/office/drawing/2014/main" id="{09B28993-8A1B-A8C8-389D-C7299723E0F5}"/>
                </a:ext>
              </a:extLst>
            </p:cNvPr>
            <p:cNvCxnSpPr>
              <a:stCxn id="723" idx="6"/>
              <a:endCxn id="724" idx="2"/>
            </p:cNvCxnSpPr>
            <p:nvPr/>
          </p:nvCxnSpPr>
          <p:spPr>
            <a:xfrm>
              <a:off x="11174541" y="419100"/>
              <a:ext cx="8081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729">
              <a:extLst>
                <a:ext uri="{FF2B5EF4-FFF2-40B4-BE49-F238E27FC236}">
                  <a16:creationId xmlns:a16="http://schemas.microsoft.com/office/drawing/2014/main" id="{0D335FC8-A80A-C1A1-F866-7987F4DCB992}"/>
                </a:ext>
              </a:extLst>
            </p:cNvPr>
            <p:cNvCxnSpPr/>
            <p:nvPr/>
          </p:nvCxnSpPr>
          <p:spPr>
            <a:xfrm>
              <a:off x="11477483" y="419100"/>
              <a:ext cx="8081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730">
              <a:extLst>
                <a:ext uri="{FF2B5EF4-FFF2-40B4-BE49-F238E27FC236}">
                  <a16:creationId xmlns:a16="http://schemas.microsoft.com/office/drawing/2014/main" id="{E42F3C44-750F-1430-CA58-3749D60CF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780425" y="419100"/>
              <a:ext cx="411575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0A7B1FC-6235-ED67-DD3C-50502774BF86}"/>
              </a:ext>
            </a:extLst>
          </p:cNvPr>
          <p:cNvCxnSpPr>
            <a:cxnSpLocks/>
          </p:cNvCxnSpPr>
          <p:nvPr/>
        </p:nvCxnSpPr>
        <p:spPr>
          <a:xfrm>
            <a:off x="438056" y="6160793"/>
            <a:ext cx="11334844" cy="0"/>
          </a:xfrm>
          <a:prstGeom prst="line">
            <a:avLst/>
          </a:prstGeom>
          <a:ln w="3175">
            <a:gradFill>
              <a:gsLst>
                <a:gs pos="0">
                  <a:schemeClr val="tx1">
                    <a:alpha val="0"/>
                  </a:schemeClr>
                </a:gs>
                <a:gs pos="50000">
                  <a:srgbClr val="000000"/>
                </a:gs>
                <a:gs pos="100000">
                  <a:schemeClr val="tx1">
                    <a:alpha val="0"/>
                  </a:schemeClr>
                </a:gs>
              </a:gsLst>
              <a:lin ang="60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B7CA3181-4F54-4F96-1767-AB1DB738A802}"/>
              </a:ext>
            </a:extLst>
          </p:cNvPr>
          <p:cNvSpPr txBox="1"/>
          <p:nvPr/>
        </p:nvSpPr>
        <p:spPr>
          <a:xfrm>
            <a:off x="2220368" y="6022294"/>
            <a:ext cx="7751264" cy="276999"/>
          </a:xfrm>
          <a:prstGeom prst="rect">
            <a:avLst/>
          </a:prstGeom>
          <a:solidFill>
            <a:srgbClr val="F2F4F7"/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ECM Initial Document Load  ·  RAG Foundation Architecture  ·  Tachyon GenAI Platform  ·  Agentic Intake System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79E540-5C89-6932-6B6D-A11348486943}"/>
              </a:ext>
            </a:extLst>
          </p:cNvPr>
          <p:cNvSpPr/>
          <p:nvPr/>
        </p:nvSpPr>
        <p:spPr>
          <a:xfrm>
            <a:off x="3213116" y="1291597"/>
            <a:ext cx="5839444" cy="4562182"/>
          </a:xfrm>
          <a:prstGeom prst="roundRect">
            <a:avLst>
              <a:gd name="adj" fmla="val 1248"/>
            </a:avLst>
          </a:prstGeom>
          <a:solidFill>
            <a:schemeClr val="accent1">
              <a:alpha val="5000"/>
            </a:schemeClr>
          </a:solidFill>
          <a:ln w="3175">
            <a:solidFill>
              <a:schemeClr val="accent1"/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9681B-7C0D-2801-3BDF-110F6ADC3AD7}"/>
              </a:ext>
            </a:extLst>
          </p:cNvPr>
          <p:cNvSpPr/>
          <p:nvPr/>
        </p:nvSpPr>
        <p:spPr>
          <a:xfrm>
            <a:off x="438056" y="1291597"/>
            <a:ext cx="2303764" cy="4562182"/>
          </a:xfrm>
          <a:prstGeom prst="roundRect">
            <a:avLst>
              <a:gd name="adj" fmla="val 2509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accent2"/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DBE3B2-070B-DAED-0E9D-60762E373580}"/>
              </a:ext>
            </a:extLst>
          </p:cNvPr>
          <p:cNvSpPr/>
          <p:nvPr/>
        </p:nvSpPr>
        <p:spPr>
          <a:xfrm>
            <a:off x="513379" y="1378276"/>
            <a:ext cx="2125398" cy="511037"/>
          </a:xfrm>
          <a:prstGeom prst="roundRect">
            <a:avLst>
              <a:gd name="adj" fmla="val 10858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2E5899-8991-1CB7-1D6E-9F757A9B7236}"/>
              </a:ext>
            </a:extLst>
          </p:cNvPr>
          <p:cNvSpPr txBox="1"/>
          <p:nvPr/>
        </p:nvSpPr>
        <p:spPr>
          <a:xfrm>
            <a:off x="1099327" y="1496641"/>
            <a:ext cx="1296212" cy="274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4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Data Sources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2E6AF38-3614-7C73-7AB0-87ADE8E15321}"/>
              </a:ext>
            </a:extLst>
          </p:cNvPr>
          <p:cNvSpPr/>
          <p:nvPr/>
        </p:nvSpPr>
        <p:spPr>
          <a:xfrm>
            <a:off x="513379" y="1948105"/>
            <a:ext cx="2125398" cy="1217283"/>
          </a:xfrm>
          <a:prstGeom prst="roundRect">
            <a:avLst>
              <a:gd name="adj" fmla="val 3799"/>
            </a:avLst>
          </a:prstGeom>
          <a:solidFill>
            <a:schemeClr val="accent3">
              <a:lumMod val="60000"/>
              <a:lumOff val="40000"/>
              <a:alpha val="1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C8CA05-767A-816F-6BF2-51FA0978CFB9}"/>
              </a:ext>
            </a:extLst>
          </p:cNvPr>
          <p:cNvSpPr txBox="1"/>
          <p:nvPr/>
        </p:nvSpPr>
        <p:spPr>
          <a:xfrm>
            <a:off x="596939" y="2423522"/>
            <a:ext cx="1941359" cy="3017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600">
                <a:solidFill>
                  <a:schemeClr val="accent3">
                    <a:lumMod val="60000"/>
                    <a:lumOff val="40000"/>
                  </a:schemeClr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PGP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2E0E4C-C0FF-0B4B-A692-0AA7A743EB24}"/>
              </a:ext>
            </a:extLst>
          </p:cNvPr>
          <p:cNvSpPr txBox="1"/>
          <p:nvPr/>
        </p:nvSpPr>
        <p:spPr>
          <a:xfrm>
            <a:off x="596939" y="2674329"/>
            <a:ext cx="1703181" cy="219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RDS · Relational Database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045B94-3F75-E7DE-CB50-98CCE951581A}"/>
              </a:ext>
            </a:extLst>
          </p:cNvPr>
          <p:cNvSpPr/>
          <p:nvPr/>
        </p:nvSpPr>
        <p:spPr>
          <a:xfrm>
            <a:off x="583581" y="2893776"/>
            <a:ext cx="1984994" cy="226547"/>
          </a:xfrm>
          <a:prstGeom prst="roundRect">
            <a:avLst>
              <a:gd name="adj" fmla="val 146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68B096-19F5-5401-5D47-E6C117DEF250}"/>
              </a:ext>
            </a:extLst>
          </p:cNvPr>
          <p:cNvSpPr txBox="1"/>
          <p:nvPr/>
        </p:nvSpPr>
        <p:spPr>
          <a:xfrm>
            <a:off x="615879" y="2911041"/>
            <a:ext cx="1952695" cy="192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lr>
                <a:srgbClr val="008DB9"/>
              </a:buClr>
            </a:pPr>
            <a:r>
              <a:rPr lang="en-US" sz="800">
                <a:solidFill>
                  <a:schemeClr val="bg1"/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Enterprise Content Management Source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EC113C3-3FD2-AAC9-F4A2-7B67D95380C5}"/>
              </a:ext>
            </a:extLst>
          </p:cNvPr>
          <p:cNvSpPr/>
          <p:nvPr/>
        </p:nvSpPr>
        <p:spPr>
          <a:xfrm>
            <a:off x="513379" y="3252611"/>
            <a:ext cx="2125398" cy="1217283"/>
          </a:xfrm>
          <a:prstGeom prst="roundRect">
            <a:avLst>
              <a:gd name="adj" fmla="val 3799"/>
            </a:avLst>
          </a:prstGeom>
          <a:solidFill>
            <a:schemeClr val="accent2">
              <a:lumMod val="75000"/>
              <a:alpha val="1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ECE5B2-B94B-5906-6A97-D4151416731F}"/>
              </a:ext>
            </a:extLst>
          </p:cNvPr>
          <p:cNvSpPr txBox="1"/>
          <p:nvPr/>
        </p:nvSpPr>
        <p:spPr>
          <a:xfrm>
            <a:off x="596939" y="3728027"/>
            <a:ext cx="19413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600" err="1">
                <a:solidFill>
                  <a:schemeClr val="accent2">
                    <a:lumMod val="75000"/>
                  </a:schemeClr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iGrafx</a:t>
            </a:r>
            <a:endParaRPr lang="en-US" sz="1600">
              <a:solidFill>
                <a:schemeClr val="accent2">
                  <a:lumMod val="75000"/>
                </a:schemeClr>
              </a:solidFill>
              <a:latin typeface="Satoshi" pitchFamily="50" charset="0"/>
              <a:ea typeface="Verdana" panose="020B0604030504040204" pitchFamily="34" charset="0"/>
              <a:cs typeface="Poppins" pitchFamily="2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E9A2D2-0438-F7F6-B22C-13DF4BB4C765}"/>
              </a:ext>
            </a:extLst>
          </p:cNvPr>
          <p:cNvSpPr txBox="1"/>
          <p:nvPr/>
        </p:nvSpPr>
        <p:spPr>
          <a:xfrm>
            <a:off x="596939" y="3978834"/>
            <a:ext cx="1971635" cy="219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RDS · Process Mining Database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FEFF74C-CFBC-13A6-C3B0-922E4F9DDCC7}"/>
              </a:ext>
            </a:extLst>
          </p:cNvPr>
          <p:cNvSpPr/>
          <p:nvPr/>
        </p:nvSpPr>
        <p:spPr>
          <a:xfrm>
            <a:off x="583581" y="4198281"/>
            <a:ext cx="1984994" cy="226547"/>
          </a:xfrm>
          <a:prstGeom prst="roundRect">
            <a:avLst>
              <a:gd name="adj" fmla="val 14605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46B270-0D15-70BB-241F-AE0F06DA642D}"/>
              </a:ext>
            </a:extLst>
          </p:cNvPr>
          <p:cNvSpPr txBox="1"/>
          <p:nvPr/>
        </p:nvSpPr>
        <p:spPr>
          <a:xfrm>
            <a:off x="615879" y="4203832"/>
            <a:ext cx="1952695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lr>
                <a:srgbClr val="008DB9"/>
              </a:buClr>
            </a:pPr>
            <a:r>
              <a:rPr lang="en-US" sz="800">
                <a:solidFill>
                  <a:schemeClr val="bg1"/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Enterprise Content Management Source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61FA75C-D96E-E228-0E74-F3E57010B847}"/>
              </a:ext>
            </a:extLst>
          </p:cNvPr>
          <p:cNvSpPr/>
          <p:nvPr/>
        </p:nvSpPr>
        <p:spPr>
          <a:xfrm>
            <a:off x="513379" y="4557115"/>
            <a:ext cx="2125398" cy="1217283"/>
          </a:xfrm>
          <a:prstGeom prst="roundRect">
            <a:avLst>
              <a:gd name="adj" fmla="val 3799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B13E8B4-F629-1213-A70C-B650151C2701}"/>
              </a:ext>
            </a:extLst>
          </p:cNvPr>
          <p:cNvGrpSpPr/>
          <p:nvPr/>
        </p:nvGrpSpPr>
        <p:grpSpPr>
          <a:xfrm>
            <a:off x="596939" y="5032531"/>
            <a:ext cx="1941359" cy="470254"/>
            <a:chOff x="575013" y="2382885"/>
            <a:chExt cx="1984832" cy="527629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A769FBB-BDC3-06F0-68A0-85832095EC3D}"/>
                </a:ext>
              </a:extLst>
            </p:cNvPr>
            <p:cNvSpPr txBox="1"/>
            <p:nvPr/>
          </p:nvSpPr>
          <p:spPr>
            <a:xfrm>
              <a:off x="575013" y="2382885"/>
              <a:ext cx="1984832" cy="3798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160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SHRP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6A1D3A6-3C34-0038-F917-2BC9C6FF3C82}"/>
                </a:ext>
              </a:extLst>
            </p:cNvPr>
            <p:cNvSpPr txBox="1"/>
            <p:nvPr/>
          </p:nvSpPr>
          <p:spPr>
            <a:xfrm>
              <a:off x="575013" y="2664293"/>
              <a:ext cx="1741320" cy="2462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SharePoint Database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9F53C15-F557-257C-4E54-FFEAFC24982E}"/>
              </a:ext>
            </a:extLst>
          </p:cNvPr>
          <p:cNvGrpSpPr/>
          <p:nvPr/>
        </p:nvGrpSpPr>
        <p:grpSpPr>
          <a:xfrm>
            <a:off x="583581" y="5502773"/>
            <a:ext cx="1984994" cy="226546"/>
            <a:chOff x="561356" y="2935531"/>
            <a:chExt cx="2029444" cy="254188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5F797D8-1F50-4D4B-7B48-AE421576BB26}"/>
                </a:ext>
              </a:extLst>
            </p:cNvPr>
            <p:cNvSpPr/>
            <p:nvPr/>
          </p:nvSpPr>
          <p:spPr>
            <a:xfrm>
              <a:off x="561356" y="2935531"/>
              <a:ext cx="2029444" cy="254188"/>
            </a:xfrm>
            <a:prstGeom prst="roundRect">
              <a:avLst>
                <a:gd name="adj" fmla="val 14605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0251915-88D7-33DB-62B8-755325837172}"/>
                </a:ext>
              </a:extLst>
            </p:cNvPr>
            <p:cNvSpPr txBox="1"/>
            <p:nvPr/>
          </p:nvSpPr>
          <p:spPr>
            <a:xfrm>
              <a:off x="594377" y="2941760"/>
              <a:ext cx="1996422" cy="2417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buClr>
                  <a:srgbClr val="008DB9"/>
                </a:buClr>
              </a:pPr>
              <a:r>
                <a:rPr lang="en-US" sz="800">
                  <a:solidFill>
                    <a:schemeClr val="bg1"/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Enterprise Content Management Source</a:t>
              </a:r>
            </a:p>
          </p:txBody>
        </p:sp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DAEA86C-126E-8D50-9AC9-C5814A8AB308}"/>
              </a:ext>
            </a:extLst>
          </p:cNvPr>
          <p:cNvSpPr/>
          <p:nvPr/>
        </p:nvSpPr>
        <p:spPr>
          <a:xfrm>
            <a:off x="9464040" y="1291597"/>
            <a:ext cx="2303764" cy="4562182"/>
          </a:xfrm>
          <a:prstGeom prst="roundRect">
            <a:avLst>
              <a:gd name="adj" fmla="val 2509"/>
            </a:avLst>
          </a:prstGeom>
          <a:solidFill>
            <a:schemeClr val="accent1">
              <a:lumMod val="50000"/>
              <a:alpha val="5000"/>
            </a:schemeClr>
          </a:solidFill>
          <a:ln w="3175">
            <a:solidFill>
              <a:schemeClr val="accent2"/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C10B542-CEF1-C354-6AAB-07FCBC345AD2}"/>
              </a:ext>
            </a:extLst>
          </p:cNvPr>
          <p:cNvSpPr/>
          <p:nvPr/>
        </p:nvSpPr>
        <p:spPr>
          <a:xfrm>
            <a:off x="9553223" y="1378276"/>
            <a:ext cx="2125398" cy="511037"/>
          </a:xfrm>
          <a:prstGeom prst="roundRect">
            <a:avLst>
              <a:gd name="adj" fmla="val 10858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5F5052C-9A2E-EF4F-1FB4-6FF55B7BE61C}"/>
              </a:ext>
            </a:extLst>
          </p:cNvPr>
          <p:cNvSpPr txBox="1"/>
          <p:nvPr/>
        </p:nvSpPr>
        <p:spPr>
          <a:xfrm>
            <a:off x="10139171" y="1496641"/>
            <a:ext cx="1478154" cy="274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4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Vector Database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7BF8FE6E-A7F7-6AE3-8F8D-EAEF8150DFD5}"/>
              </a:ext>
            </a:extLst>
          </p:cNvPr>
          <p:cNvSpPr/>
          <p:nvPr/>
        </p:nvSpPr>
        <p:spPr>
          <a:xfrm>
            <a:off x="3333908" y="1378276"/>
            <a:ext cx="5597861" cy="511037"/>
          </a:xfrm>
          <a:prstGeom prst="roundRect">
            <a:avLst>
              <a:gd name="adj" fmla="val 10858"/>
            </a:avLst>
          </a:prstGeom>
          <a:solidFill>
            <a:schemeClr val="accent1"/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4016389-E93A-DC6B-FFD7-566C4A030340}"/>
              </a:ext>
            </a:extLst>
          </p:cNvPr>
          <p:cNvSpPr txBox="1"/>
          <p:nvPr/>
        </p:nvSpPr>
        <p:spPr>
          <a:xfrm>
            <a:off x="4050424" y="1496641"/>
            <a:ext cx="4567238" cy="274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4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ECM — Document Data Pipeline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93ADB9A-756E-8366-8E24-CD955F67E7BE}"/>
              </a:ext>
            </a:extLst>
          </p:cNvPr>
          <p:cNvSpPr txBox="1"/>
          <p:nvPr/>
        </p:nvSpPr>
        <p:spPr>
          <a:xfrm>
            <a:off x="4698063" y="1897954"/>
            <a:ext cx="2869550" cy="2468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 err="1">
                <a:solidFill>
                  <a:schemeClr val="accent3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iDOCS</a:t>
            </a:r>
            <a:r>
              <a:rPr lang="en-US" sz="1200">
                <a:solidFill>
                  <a:schemeClr val="accent3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 Connector Services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F5936605-5037-7522-E44F-B1C4D96B7333}"/>
              </a:ext>
            </a:extLst>
          </p:cNvPr>
          <p:cNvSpPr/>
          <p:nvPr/>
        </p:nvSpPr>
        <p:spPr>
          <a:xfrm>
            <a:off x="3333908" y="2180505"/>
            <a:ext cx="1291211" cy="2577870"/>
          </a:xfrm>
          <a:prstGeom prst="roundRect">
            <a:avLst>
              <a:gd name="adj" fmla="val 6545"/>
            </a:avLst>
          </a:prstGeom>
          <a:solidFill>
            <a:schemeClr val="bg1">
              <a:alpha val="70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3566F11-5AE6-F427-4460-F8221A0F313E}"/>
              </a:ext>
            </a:extLst>
          </p:cNvPr>
          <p:cNvSpPr txBox="1"/>
          <p:nvPr/>
        </p:nvSpPr>
        <p:spPr>
          <a:xfrm>
            <a:off x="3429201" y="2988739"/>
            <a:ext cx="11006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Data</a:t>
            </a:r>
            <a:b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</a:b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Connectors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098B207-0743-CA74-4205-BA25B3CE8649}"/>
              </a:ext>
            </a:extLst>
          </p:cNvPr>
          <p:cNvGrpSpPr/>
          <p:nvPr/>
        </p:nvGrpSpPr>
        <p:grpSpPr>
          <a:xfrm>
            <a:off x="3395864" y="4189074"/>
            <a:ext cx="1167300" cy="511037"/>
            <a:chOff x="3361627" y="4176446"/>
            <a:chExt cx="1235773" cy="511037"/>
          </a:xfrm>
        </p:grpSpPr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348C5055-B3AE-3114-8893-58348EBA080A}"/>
                </a:ext>
              </a:extLst>
            </p:cNvPr>
            <p:cNvSpPr/>
            <p:nvPr/>
          </p:nvSpPr>
          <p:spPr>
            <a:xfrm>
              <a:off x="3361627" y="4176446"/>
              <a:ext cx="1235773" cy="511037"/>
            </a:xfrm>
            <a:prstGeom prst="roundRect">
              <a:avLst>
                <a:gd name="adj" fmla="val 10858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5F48A2F-E8C2-A8AF-276C-E26CB1CB6D0F}"/>
                </a:ext>
              </a:extLst>
            </p:cNvPr>
            <p:cNvSpPr txBox="1"/>
            <p:nvPr/>
          </p:nvSpPr>
          <p:spPr>
            <a:xfrm>
              <a:off x="3482308" y="4239949"/>
              <a:ext cx="994410" cy="3840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100">
                  <a:solidFill>
                    <a:schemeClr val="bg1"/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Connect to source ECM</a:t>
              </a:r>
            </a:p>
          </p:txBody>
        </p:sp>
      </p:grp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84DF09F6-BC25-E5EB-7AD1-8A6A01012C73}"/>
              </a:ext>
            </a:extLst>
          </p:cNvPr>
          <p:cNvSpPr/>
          <p:nvPr/>
        </p:nvSpPr>
        <p:spPr>
          <a:xfrm>
            <a:off x="4769458" y="2180505"/>
            <a:ext cx="1291211" cy="2577870"/>
          </a:xfrm>
          <a:prstGeom prst="roundRect">
            <a:avLst>
              <a:gd name="adj" fmla="val 6545"/>
            </a:avLst>
          </a:prstGeom>
          <a:solidFill>
            <a:schemeClr val="bg1">
              <a:alpha val="70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E0FE435-92C0-418B-1459-292FF3B935ED}"/>
              </a:ext>
            </a:extLst>
          </p:cNvPr>
          <p:cNvSpPr txBox="1"/>
          <p:nvPr/>
        </p:nvSpPr>
        <p:spPr>
          <a:xfrm>
            <a:off x="4864751" y="2988739"/>
            <a:ext cx="11006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Extraction</a:t>
            </a:r>
            <a:b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</a:b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Service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61221F9-1EB1-4C58-8AE2-DC3CE5547B89}"/>
              </a:ext>
            </a:extLst>
          </p:cNvPr>
          <p:cNvGrpSpPr/>
          <p:nvPr/>
        </p:nvGrpSpPr>
        <p:grpSpPr>
          <a:xfrm>
            <a:off x="4831414" y="4189074"/>
            <a:ext cx="1167300" cy="511037"/>
            <a:chOff x="4797177" y="4176446"/>
            <a:chExt cx="1235773" cy="511037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2DBDE8A3-D8EE-4D53-D518-BA8B98C5506E}"/>
                </a:ext>
              </a:extLst>
            </p:cNvPr>
            <p:cNvSpPr/>
            <p:nvPr/>
          </p:nvSpPr>
          <p:spPr>
            <a:xfrm>
              <a:off x="4797177" y="4176446"/>
              <a:ext cx="1235773" cy="511037"/>
            </a:xfrm>
            <a:prstGeom prst="roundRect">
              <a:avLst>
                <a:gd name="adj" fmla="val 10858"/>
              </a:avLst>
            </a:prstGeom>
            <a:solidFill>
              <a:schemeClr val="accent2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C04E9DAD-69A4-E902-750D-66D10C113188}"/>
                </a:ext>
              </a:extLst>
            </p:cNvPr>
            <p:cNvSpPr txBox="1"/>
            <p:nvPr/>
          </p:nvSpPr>
          <p:spPr>
            <a:xfrm>
              <a:off x="4832470" y="4216522"/>
              <a:ext cx="116518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100">
                  <a:solidFill>
                    <a:schemeClr val="bg1"/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Parse &amp; extract raw text</a:t>
              </a:r>
            </a:p>
          </p:txBody>
        </p:sp>
      </p:grp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8610CBB-7799-DE05-F520-C75FD2FB8C51}"/>
              </a:ext>
            </a:extLst>
          </p:cNvPr>
          <p:cNvSpPr/>
          <p:nvPr/>
        </p:nvSpPr>
        <p:spPr>
          <a:xfrm>
            <a:off x="6205008" y="2180505"/>
            <a:ext cx="1291211" cy="2577870"/>
          </a:xfrm>
          <a:prstGeom prst="roundRect">
            <a:avLst>
              <a:gd name="adj" fmla="val 6545"/>
            </a:avLst>
          </a:prstGeom>
          <a:solidFill>
            <a:schemeClr val="bg1">
              <a:alpha val="70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AE182E2-3AF7-229F-08C8-2A81EAE28C34}"/>
              </a:ext>
            </a:extLst>
          </p:cNvPr>
          <p:cNvSpPr txBox="1"/>
          <p:nvPr/>
        </p:nvSpPr>
        <p:spPr>
          <a:xfrm>
            <a:off x="6300301" y="2988739"/>
            <a:ext cx="11006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 err="1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Transfor</a:t>
            </a: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-</a:t>
            </a:r>
            <a:b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</a:br>
            <a:r>
              <a:rPr lang="en-US" sz="1200" err="1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mation</a:t>
            </a:r>
            <a:endParaRPr lang="en-US" sz="1200">
              <a:solidFill>
                <a:schemeClr val="accent1"/>
              </a:solidFill>
              <a:latin typeface="Satoshi" pitchFamily="50" charset="0"/>
              <a:ea typeface="Verdana" panose="020B0604030504040204" pitchFamily="34" charset="0"/>
              <a:cs typeface="Poppins" pitchFamily="2" charset="77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6534E2C-DA0F-1B25-AA5B-02368C0F6592}"/>
              </a:ext>
            </a:extLst>
          </p:cNvPr>
          <p:cNvGrpSpPr/>
          <p:nvPr/>
        </p:nvGrpSpPr>
        <p:grpSpPr>
          <a:xfrm>
            <a:off x="6266964" y="4189074"/>
            <a:ext cx="1167300" cy="511037"/>
            <a:chOff x="6232727" y="4176446"/>
            <a:chExt cx="1235773" cy="511037"/>
          </a:xfrm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FCC6A2A7-64ED-22E5-A8C9-828730C60E38}"/>
                </a:ext>
              </a:extLst>
            </p:cNvPr>
            <p:cNvSpPr/>
            <p:nvPr/>
          </p:nvSpPr>
          <p:spPr>
            <a:xfrm>
              <a:off x="6232727" y="4176446"/>
              <a:ext cx="1235773" cy="511037"/>
            </a:xfrm>
            <a:prstGeom prst="roundRect">
              <a:avLst>
                <a:gd name="adj" fmla="val 10858"/>
              </a:avLst>
            </a:prstGeom>
            <a:solidFill>
              <a:schemeClr val="accent1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9997C01-B836-B7BB-BD88-A7A158DEE1B4}"/>
                </a:ext>
              </a:extLst>
            </p:cNvPr>
            <p:cNvSpPr txBox="1"/>
            <p:nvPr/>
          </p:nvSpPr>
          <p:spPr>
            <a:xfrm>
              <a:off x="6353408" y="4216522"/>
              <a:ext cx="99441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100">
                  <a:solidFill>
                    <a:schemeClr val="bg1"/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Normalize to schema</a:t>
              </a:r>
            </a:p>
          </p:txBody>
        </p: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239CFD93-ADE9-1083-B135-930278C741C7}"/>
              </a:ext>
            </a:extLst>
          </p:cNvPr>
          <p:cNvSpPr/>
          <p:nvPr/>
        </p:nvSpPr>
        <p:spPr>
          <a:xfrm>
            <a:off x="7640558" y="2180505"/>
            <a:ext cx="1291211" cy="2577870"/>
          </a:xfrm>
          <a:prstGeom prst="roundRect">
            <a:avLst>
              <a:gd name="adj" fmla="val 6545"/>
            </a:avLst>
          </a:prstGeom>
          <a:solidFill>
            <a:schemeClr val="bg1">
              <a:alpha val="70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0FC5DE2-6F70-4EC3-6318-00CC3D8FCE64}"/>
              </a:ext>
            </a:extLst>
          </p:cNvPr>
          <p:cNvSpPr txBox="1"/>
          <p:nvPr/>
        </p:nvSpPr>
        <p:spPr>
          <a:xfrm>
            <a:off x="7735851" y="2988739"/>
            <a:ext cx="11006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Chunk &amp;</a:t>
            </a:r>
            <a:b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</a:br>
            <a:r>
              <a:rPr lang="en-US" sz="120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Store</a:t>
            </a: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09F08513-E6E7-8E44-C76A-7D0D5A1B24DF}"/>
              </a:ext>
            </a:extLst>
          </p:cNvPr>
          <p:cNvGrpSpPr/>
          <p:nvPr/>
        </p:nvGrpSpPr>
        <p:grpSpPr>
          <a:xfrm>
            <a:off x="3429201" y="3452330"/>
            <a:ext cx="5392542" cy="634181"/>
            <a:chOff x="3429201" y="3651158"/>
            <a:chExt cx="5392542" cy="711556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EDF12CF-476B-62AC-AE82-BC7CFA901AC3}"/>
                </a:ext>
              </a:extLst>
            </p:cNvPr>
            <p:cNvCxnSpPr>
              <a:cxnSpLocks/>
            </p:cNvCxnSpPr>
            <p:nvPr/>
          </p:nvCxnSpPr>
          <p:spPr>
            <a:xfrm>
              <a:off x="3839756" y="3651158"/>
              <a:ext cx="279514" cy="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95203BA-A421-5FFB-2364-208A32C4C2A7}"/>
                </a:ext>
              </a:extLst>
            </p:cNvPr>
            <p:cNvSpPr txBox="1"/>
            <p:nvPr/>
          </p:nvSpPr>
          <p:spPr>
            <a:xfrm>
              <a:off x="3429201" y="3741123"/>
              <a:ext cx="1100624" cy="62159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buClr>
                  <a:srgbClr val="008DB9"/>
                </a:buClr>
              </a:pPr>
              <a:r>
                <a:rPr lang="en-US" sz="10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Opentext</a:t>
              </a: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 · PGP</a:t>
              </a:r>
            </a:p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RDS · FileNet · etc.</a:t>
              </a:r>
            </a:p>
          </p:txBody>
        </p: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7186F5AA-53B9-B351-5937-445FC8C12801}"/>
                </a:ext>
              </a:extLst>
            </p:cNvPr>
            <p:cNvCxnSpPr>
              <a:cxnSpLocks/>
            </p:cNvCxnSpPr>
            <p:nvPr/>
          </p:nvCxnSpPr>
          <p:spPr>
            <a:xfrm>
              <a:off x="5275306" y="3651158"/>
              <a:ext cx="279514" cy="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898B62-2D26-D792-AB5D-E140FCA1556C}"/>
                </a:ext>
              </a:extLst>
            </p:cNvPr>
            <p:cNvSpPr txBox="1"/>
            <p:nvPr/>
          </p:nvSpPr>
          <p:spPr>
            <a:xfrm>
              <a:off x="4792251" y="3741122"/>
              <a:ext cx="1245624" cy="62159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Content &amp; Metadata</a:t>
              </a:r>
            </a:p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Extraction Engine</a:t>
              </a:r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D9A9E29-D6D8-7343-444D-643E6EEAB1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0856" y="3651158"/>
              <a:ext cx="279514" cy="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6C0A182-4D39-8EAB-11B0-6A8211788C26}"/>
                </a:ext>
              </a:extLst>
            </p:cNvPr>
            <p:cNvSpPr txBox="1"/>
            <p:nvPr/>
          </p:nvSpPr>
          <p:spPr>
            <a:xfrm>
              <a:off x="6343163" y="3741122"/>
              <a:ext cx="1014900" cy="44892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Standardized</a:t>
              </a:r>
            </a:p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JSON Output</a:t>
              </a:r>
            </a:p>
          </p:txBody>
        </p: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133F951-E9C6-1E78-E091-AFC1FF7E1C5B}"/>
                </a:ext>
              </a:extLst>
            </p:cNvPr>
            <p:cNvCxnSpPr>
              <a:cxnSpLocks/>
            </p:cNvCxnSpPr>
            <p:nvPr/>
          </p:nvCxnSpPr>
          <p:spPr>
            <a:xfrm>
              <a:off x="8146406" y="3651158"/>
              <a:ext cx="279514" cy="0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79100749-3E54-B114-7D06-35A048BD977C}"/>
                </a:ext>
              </a:extLst>
            </p:cNvPr>
            <p:cNvSpPr txBox="1"/>
            <p:nvPr/>
          </p:nvSpPr>
          <p:spPr>
            <a:xfrm>
              <a:off x="7750583" y="3741122"/>
              <a:ext cx="1071160" cy="62159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JSONL Output</a:t>
              </a:r>
            </a:p>
            <a:p>
              <a:pPr algn="ctr"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Chunked Segments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1D70E0A-45BA-FA57-76DA-A3BA8A263A98}"/>
              </a:ext>
            </a:extLst>
          </p:cNvPr>
          <p:cNvGrpSpPr/>
          <p:nvPr/>
        </p:nvGrpSpPr>
        <p:grpSpPr>
          <a:xfrm>
            <a:off x="7702514" y="4189074"/>
            <a:ext cx="1167300" cy="511037"/>
            <a:chOff x="7668277" y="4176446"/>
            <a:chExt cx="1235773" cy="511037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82A7DC78-4B69-7AAF-4228-205F3B8EB26D}"/>
                </a:ext>
              </a:extLst>
            </p:cNvPr>
            <p:cNvSpPr/>
            <p:nvPr/>
          </p:nvSpPr>
          <p:spPr>
            <a:xfrm>
              <a:off x="7668277" y="4176446"/>
              <a:ext cx="1235773" cy="511037"/>
            </a:xfrm>
            <a:prstGeom prst="roundRect">
              <a:avLst>
                <a:gd name="adj" fmla="val 10858"/>
              </a:avLst>
            </a:prstGeom>
            <a:solidFill>
              <a:schemeClr val="accent2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CCE43010-AD94-DBF0-3D8A-264351BF79CF}"/>
                </a:ext>
              </a:extLst>
            </p:cNvPr>
            <p:cNvSpPr txBox="1"/>
            <p:nvPr/>
          </p:nvSpPr>
          <p:spPr>
            <a:xfrm>
              <a:off x="7788958" y="4239949"/>
              <a:ext cx="994410" cy="3840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100">
                  <a:solidFill>
                    <a:schemeClr val="bg1"/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Chunk for embedding</a:t>
              </a:r>
            </a:p>
          </p:txBody>
        </p:sp>
      </p:grpSp>
      <p:sp>
        <p:nvSpPr>
          <p:cNvPr id="216" name="Arrow: Right 215">
            <a:extLst>
              <a:ext uri="{FF2B5EF4-FFF2-40B4-BE49-F238E27FC236}">
                <a16:creationId xmlns:a16="http://schemas.microsoft.com/office/drawing/2014/main" id="{2800729E-D1F0-90E6-A550-F7F50AE59C5B}"/>
              </a:ext>
            </a:extLst>
          </p:cNvPr>
          <p:cNvSpPr/>
          <p:nvPr/>
        </p:nvSpPr>
        <p:spPr>
          <a:xfrm>
            <a:off x="4625119" y="3360404"/>
            <a:ext cx="241065" cy="14209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Arrow: Right 216">
            <a:extLst>
              <a:ext uri="{FF2B5EF4-FFF2-40B4-BE49-F238E27FC236}">
                <a16:creationId xmlns:a16="http://schemas.microsoft.com/office/drawing/2014/main" id="{26F21276-7CB5-0FC4-9401-E1DEC1F52582}"/>
              </a:ext>
            </a:extLst>
          </p:cNvPr>
          <p:cNvSpPr/>
          <p:nvPr/>
        </p:nvSpPr>
        <p:spPr>
          <a:xfrm>
            <a:off x="6039884" y="3360404"/>
            <a:ext cx="241065" cy="14209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Arrow: Right 217">
            <a:extLst>
              <a:ext uri="{FF2B5EF4-FFF2-40B4-BE49-F238E27FC236}">
                <a16:creationId xmlns:a16="http://schemas.microsoft.com/office/drawing/2014/main" id="{BB83D79E-4135-6931-A452-2D1E12FEF73D}"/>
              </a:ext>
            </a:extLst>
          </p:cNvPr>
          <p:cNvSpPr/>
          <p:nvPr/>
        </p:nvSpPr>
        <p:spPr>
          <a:xfrm>
            <a:off x="7493222" y="3360404"/>
            <a:ext cx="241065" cy="14209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5CD6133-6C29-5C1E-C256-3CC089C07A2D}"/>
              </a:ext>
            </a:extLst>
          </p:cNvPr>
          <p:cNvGrpSpPr/>
          <p:nvPr/>
        </p:nvGrpSpPr>
        <p:grpSpPr>
          <a:xfrm>
            <a:off x="3333908" y="4886313"/>
            <a:ext cx="5597861" cy="888086"/>
            <a:chOff x="3333908" y="4684035"/>
            <a:chExt cx="5597861" cy="888086"/>
          </a:xfrm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385F6A4B-BAF3-CFFF-B6B4-D439DDAB701B}"/>
                </a:ext>
              </a:extLst>
            </p:cNvPr>
            <p:cNvSpPr/>
            <p:nvPr/>
          </p:nvSpPr>
          <p:spPr>
            <a:xfrm>
              <a:off x="3333908" y="4684035"/>
              <a:ext cx="5597861" cy="888086"/>
            </a:xfrm>
            <a:prstGeom prst="roundRect">
              <a:avLst>
                <a:gd name="adj" fmla="val 6545"/>
              </a:avLst>
            </a:prstGeom>
            <a:solidFill>
              <a:schemeClr val="accent1">
                <a:alpha val="5000"/>
              </a:schemeClr>
            </a:solidFill>
            <a:ln w="3175">
              <a:solidFill>
                <a:schemeClr val="accent1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4D270B6-C5B6-972A-BD4C-1D06F58094B2}"/>
                </a:ext>
              </a:extLst>
            </p:cNvPr>
            <p:cNvGrpSpPr/>
            <p:nvPr/>
          </p:nvGrpSpPr>
          <p:grpSpPr>
            <a:xfrm>
              <a:off x="3370389" y="4700288"/>
              <a:ext cx="5524899" cy="834355"/>
              <a:chOff x="3370389" y="4676473"/>
              <a:chExt cx="5524899" cy="834355"/>
            </a:xfrm>
          </p:grpSpPr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18ACB64E-8985-03B7-1A8E-8B257DC11276}"/>
                  </a:ext>
                </a:extLst>
              </p:cNvPr>
              <p:cNvSpPr txBox="1"/>
              <p:nvPr/>
            </p:nvSpPr>
            <p:spPr>
              <a:xfrm>
                <a:off x="4772454" y="4676473"/>
                <a:ext cx="2720768" cy="27699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1200">
                    <a:solidFill>
                      <a:schemeClr val="accent3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Pipeline also includes:</a:t>
                </a: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8A75A309-E4ED-B3ED-0DE1-E43AA8124A09}"/>
                  </a:ext>
                </a:extLst>
              </p:cNvPr>
              <p:cNvGrpSpPr/>
              <p:nvPr/>
            </p:nvGrpSpPr>
            <p:grpSpPr>
              <a:xfrm>
                <a:off x="3370389" y="4963478"/>
                <a:ext cx="5524899" cy="547350"/>
                <a:chOff x="3370389" y="5081061"/>
                <a:chExt cx="5524899" cy="458786"/>
              </a:xfrm>
            </p:grpSpPr>
            <p:sp>
              <p:nvSpPr>
                <p:cNvPr id="221" name="Rectangle: Rounded Corners 220">
                  <a:extLst>
                    <a:ext uri="{FF2B5EF4-FFF2-40B4-BE49-F238E27FC236}">
                      <a16:creationId xmlns:a16="http://schemas.microsoft.com/office/drawing/2014/main" id="{36AA2857-FBEC-4A0A-311A-E4336DB5F7D2}"/>
                    </a:ext>
                  </a:extLst>
                </p:cNvPr>
                <p:cNvSpPr/>
                <p:nvPr/>
              </p:nvSpPr>
              <p:spPr>
                <a:xfrm>
                  <a:off x="3370389" y="5081061"/>
                  <a:ext cx="1805140" cy="458786"/>
                </a:xfrm>
                <a:prstGeom prst="roundRect">
                  <a:avLst>
                    <a:gd name="adj" fmla="val 6545"/>
                  </a:avLst>
                </a:prstGeom>
                <a:solidFill>
                  <a:schemeClr val="bg1">
                    <a:alpha val="70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222" name="Rectangle: Rounded Corners 221">
                  <a:extLst>
                    <a:ext uri="{FF2B5EF4-FFF2-40B4-BE49-F238E27FC236}">
                      <a16:creationId xmlns:a16="http://schemas.microsoft.com/office/drawing/2014/main" id="{522CF3CF-0506-07EA-1DB7-54CDF6B4E63E}"/>
                    </a:ext>
                  </a:extLst>
                </p:cNvPr>
                <p:cNvSpPr/>
                <p:nvPr/>
              </p:nvSpPr>
              <p:spPr>
                <a:xfrm>
                  <a:off x="5230269" y="5081061"/>
                  <a:ext cx="1805140" cy="458786"/>
                </a:xfrm>
                <a:prstGeom prst="roundRect">
                  <a:avLst>
                    <a:gd name="adj" fmla="val 6545"/>
                  </a:avLst>
                </a:prstGeom>
                <a:solidFill>
                  <a:schemeClr val="bg1">
                    <a:alpha val="70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223" name="Rectangle: Rounded Corners 222">
                  <a:extLst>
                    <a:ext uri="{FF2B5EF4-FFF2-40B4-BE49-F238E27FC236}">
                      <a16:creationId xmlns:a16="http://schemas.microsoft.com/office/drawing/2014/main" id="{3E4375B8-66AE-2976-D1FD-4DA53F00AF5A}"/>
                    </a:ext>
                  </a:extLst>
                </p:cNvPr>
                <p:cNvSpPr/>
                <p:nvPr/>
              </p:nvSpPr>
              <p:spPr>
                <a:xfrm>
                  <a:off x="7090148" y="5081061"/>
                  <a:ext cx="1805140" cy="458786"/>
                </a:xfrm>
                <a:prstGeom prst="roundRect">
                  <a:avLst>
                    <a:gd name="adj" fmla="val 6545"/>
                  </a:avLst>
                </a:prstGeom>
                <a:solidFill>
                  <a:schemeClr val="bg1">
                    <a:alpha val="70000"/>
                  </a:schemeClr>
                </a:solidFill>
                <a:ln w="3175">
                  <a:solidFill>
                    <a:schemeClr val="bg1">
                      <a:lumMod val="65000"/>
                    </a:schemeClr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5A179DE5-7AC2-3073-7FF5-04E3174226EC}"/>
                    </a:ext>
                  </a:extLst>
                </p:cNvPr>
                <p:cNvGrpSpPr/>
                <p:nvPr/>
              </p:nvGrpSpPr>
              <p:grpSpPr>
                <a:xfrm>
                  <a:off x="7155575" y="5110403"/>
                  <a:ext cx="1674286" cy="400103"/>
                  <a:chOff x="7160152" y="5652456"/>
                  <a:chExt cx="1674286" cy="448919"/>
                </a:xfrm>
              </p:grpSpPr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D815C512-A66A-8319-06F0-294B9D722A8F}"/>
                      </a:ext>
                    </a:extLst>
                  </p:cNvPr>
                  <p:cNvSpPr txBox="1"/>
                  <p:nvPr/>
                </p:nvSpPr>
                <p:spPr>
                  <a:xfrm>
                    <a:off x="7455630" y="5676860"/>
                    <a:ext cx="1378808" cy="400110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Document Classification Tagging</a:t>
                    </a:r>
                  </a:p>
                </p:txBody>
              </p:sp>
              <p:grpSp>
                <p:nvGrpSpPr>
                  <p:cNvPr id="231" name="Group 230">
                    <a:extLst>
                      <a:ext uri="{FF2B5EF4-FFF2-40B4-BE49-F238E27FC236}">
                        <a16:creationId xmlns:a16="http://schemas.microsoft.com/office/drawing/2014/main" id="{9B5C9B57-D58E-17E0-DA97-E6DFD3898B27}"/>
                      </a:ext>
                    </a:extLst>
                  </p:cNvPr>
                  <p:cNvGrpSpPr/>
                  <p:nvPr/>
                </p:nvGrpSpPr>
                <p:grpSpPr>
                  <a:xfrm>
                    <a:off x="7160152" y="5652456"/>
                    <a:ext cx="349374" cy="448919"/>
                    <a:chOff x="7160152" y="5650706"/>
                    <a:chExt cx="349374" cy="448919"/>
                  </a:xfrm>
                </p:grpSpPr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14D4D0FD-FCAC-6608-CD4B-ADD1800FF3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60152" y="5868793"/>
                      <a:ext cx="349374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>
                        <a:buClr>
                          <a:srgbClr val="008DB9"/>
                        </a:buClr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Satoshi" pitchFamily="50" charset="0"/>
                          <a:ea typeface="Verdana" panose="020B0604030504040204" pitchFamily="34" charset="0"/>
                          <a:cs typeface="Poppins" pitchFamily="2" charset="77"/>
                        </a:rPr>
                        <a:t>03</a:t>
                      </a:r>
                    </a:p>
                  </p:txBody>
                </p: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B99AA825-9C57-9816-2332-89B0FCBD78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34839" y="5650706"/>
                      <a:ext cx="0" cy="226209"/>
                    </a:xfrm>
                    <a:prstGeom prst="line">
                      <a:avLst/>
                    </a:prstGeom>
                    <a:ln w="3175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33" name="Group 232">
                  <a:extLst>
                    <a:ext uri="{FF2B5EF4-FFF2-40B4-BE49-F238E27FC236}">
                      <a16:creationId xmlns:a16="http://schemas.microsoft.com/office/drawing/2014/main" id="{F935640F-EEFE-58DC-DF9E-F603927AC99A}"/>
                    </a:ext>
                  </a:extLst>
                </p:cNvPr>
                <p:cNvGrpSpPr/>
                <p:nvPr/>
              </p:nvGrpSpPr>
              <p:grpSpPr>
                <a:xfrm>
                  <a:off x="5254341" y="5110403"/>
                  <a:ext cx="1715641" cy="400103"/>
                  <a:chOff x="7118797" y="5652456"/>
                  <a:chExt cx="1715641" cy="448919"/>
                </a:xfrm>
              </p:grpSpPr>
              <p:sp>
                <p:nvSpPr>
                  <p:cNvPr id="234" name="TextBox 233">
                    <a:extLst>
                      <a:ext uri="{FF2B5EF4-FFF2-40B4-BE49-F238E27FC236}">
                        <a16:creationId xmlns:a16="http://schemas.microsoft.com/office/drawing/2014/main" id="{4C0121EF-D20F-ACE5-4C85-CE8E4E8C5B05}"/>
                      </a:ext>
                    </a:extLst>
                  </p:cNvPr>
                  <p:cNvSpPr txBox="1"/>
                  <p:nvPr/>
                </p:nvSpPr>
                <p:spPr>
                  <a:xfrm>
                    <a:off x="7455630" y="5753804"/>
                    <a:ext cx="1378808" cy="246221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Metadata Enrichment </a:t>
                    </a:r>
                  </a:p>
                </p:txBody>
              </p: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DEAAB499-E4B8-D26B-02C7-7099F8C9431F}"/>
                      </a:ext>
                    </a:extLst>
                  </p:cNvPr>
                  <p:cNvGrpSpPr/>
                  <p:nvPr/>
                </p:nvGrpSpPr>
                <p:grpSpPr>
                  <a:xfrm>
                    <a:off x="7118797" y="5652456"/>
                    <a:ext cx="432084" cy="448919"/>
                    <a:chOff x="7118797" y="5650706"/>
                    <a:chExt cx="432084" cy="448919"/>
                  </a:xfrm>
                </p:grpSpPr>
                <p:sp>
                  <p:nvSpPr>
                    <p:cNvPr id="236" name="TextBox 235">
                      <a:extLst>
                        <a:ext uri="{FF2B5EF4-FFF2-40B4-BE49-F238E27FC236}">
                          <a16:creationId xmlns:a16="http://schemas.microsoft.com/office/drawing/2014/main" id="{4D000FBA-876C-7918-C7B5-1FEB32E806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8797" y="5868793"/>
                      <a:ext cx="432084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>
                        <a:buClr>
                          <a:srgbClr val="008DB9"/>
                        </a:buClr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Satoshi" pitchFamily="50" charset="0"/>
                          <a:ea typeface="Verdana" panose="020B0604030504040204" pitchFamily="34" charset="0"/>
                          <a:cs typeface="Poppins" pitchFamily="2" charset="77"/>
                        </a:rPr>
                        <a:t>02</a:t>
                      </a:r>
                    </a:p>
                  </p:txBody>
                </p:sp>
                <p:cxnSp>
                  <p:nvCxnSpPr>
                    <p:cNvPr id="237" name="Straight Connector 236">
                      <a:extLst>
                        <a:ext uri="{FF2B5EF4-FFF2-40B4-BE49-F238E27FC236}">
                          <a16:creationId xmlns:a16="http://schemas.microsoft.com/office/drawing/2014/main" id="{56503AE6-B2E2-E12C-833C-4B02586F0E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34839" y="5650706"/>
                      <a:ext cx="0" cy="226209"/>
                    </a:xfrm>
                    <a:prstGeom prst="line">
                      <a:avLst/>
                    </a:prstGeom>
                    <a:ln w="3175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4D0B4D9B-DC3A-9CD1-342A-D3507BA0A61D}"/>
                    </a:ext>
                  </a:extLst>
                </p:cNvPr>
                <p:cNvGrpSpPr/>
                <p:nvPr/>
              </p:nvGrpSpPr>
              <p:grpSpPr>
                <a:xfrm>
                  <a:off x="3435816" y="5110403"/>
                  <a:ext cx="1674286" cy="400103"/>
                  <a:chOff x="7160152" y="5652456"/>
                  <a:chExt cx="1674286" cy="448919"/>
                </a:xfrm>
              </p:grpSpPr>
              <p:sp>
                <p:nvSpPr>
                  <p:cNvPr id="239" name="TextBox 238">
                    <a:extLst>
                      <a:ext uri="{FF2B5EF4-FFF2-40B4-BE49-F238E27FC236}">
                        <a16:creationId xmlns:a16="http://schemas.microsoft.com/office/drawing/2014/main" id="{6DB4D914-D51C-3FE6-C374-95B218150B45}"/>
                      </a:ext>
                    </a:extLst>
                  </p:cNvPr>
                  <p:cNvSpPr txBox="1"/>
                  <p:nvPr/>
                </p:nvSpPr>
                <p:spPr>
                  <a:xfrm>
                    <a:off x="7455630" y="5753804"/>
                    <a:ext cx="1378808" cy="246221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Data Cleaning </a:t>
                    </a:r>
                  </a:p>
                </p:txBody>
              </p:sp>
              <p:grpSp>
                <p:nvGrpSpPr>
                  <p:cNvPr id="240" name="Group 239">
                    <a:extLst>
                      <a:ext uri="{FF2B5EF4-FFF2-40B4-BE49-F238E27FC236}">
                        <a16:creationId xmlns:a16="http://schemas.microsoft.com/office/drawing/2014/main" id="{A3BEBF21-2516-9967-6E53-9408C75098C4}"/>
                      </a:ext>
                    </a:extLst>
                  </p:cNvPr>
                  <p:cNvGrpSpPr/>
                  <p:nvPr/>
                </p:nvGrpSpPr>
                <p:grpSpPr>
                  <a:xfrm>
                    <a:off x="7160152" y="5652456"/>
                    <a:ext cx="349374" cy="448919"/>
                    <a:chOff x="7160152" y="5650706"/>
                    <a:chExt cx="349374" cy="448919"/>
                  </a:xfrm>
                </p:grpSpPr>
                <p:sp>
                  <p:nvSpPr>
                    <p:cNvPr id="241" name="TextBox 240">
                      <a:extLst>
                        <a:ext uri="{FF2B5EF4-FFF2-40B4-BE49-F238E27FC236}">
                          <a16:creationId xmlns:a16="http://schemas.microsoft.com/office/drawing/2014/main" id="{3AF3D2DF-1180-841D-9267-9C0F9E440B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60152" y="5868793"/>
                      <a:ext cx="349374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>
                        <a:buClr>
                          <a:srgbClr val="008DB9"/>
                        </a:buClr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Satoshi" pitchFamily="50" charset="0"/>
                          <a:ea typeface="Verdana" panose="020B0604030504040204" pitchFamily="34" charset="0"/>
                          <a:cs typeface="Poppins" pitchFamily="2" charset="77"/>
                        </a:rPr>
                        <a:t>01</a:t>
                      </a:r>
                    </a:p>
                  </p:txBody>
                </p:sp>
                <p:cxnSp>
                  <p:nvCxnSpPr>
                    <p:cNvPr id="242" name="Straight Connector 241">
                      <a:extLst>
                        <a:ext uri="{FF2B5EF4-FFF2-40B4-BE49-F238E27FC236}">
                          <a16:creationId xmlns:a16="http://schemas.microsoft.com/office/drawing/2014/main" id="{E96A05FA-58B6-F80A-E39F-667B5BDBE0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34839" y="5650706"/>
                      <a:ext cx="0" cy="226209"/>
                    </a:xfrm>
                    <a:prstGeom prst="line">
                      <a:avLst/>
                    </a:prstGeom>
                    <a:ln w="3175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EE3FD6CF-1691-5D24-B446-6AB7060BD4C1}"/>
              </a:ext>
            </a:extLst>
          </p:cNvPr>
          <p:cNvSpPr/>
          <p:nvPr/>
        </p:nvSpPr>
        <p:spPr>
          <a:xfrm>
            <a:off x="9553223" y="3631279"/>
            <a:ext cx="2125398" cy="1036678"/>
          </a:xfrm>
          <a:prstGeom prst="roundRect">
            <a:avLst>
              <a:gd name="adj" fmla="val 3799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A57C7551-21EE-633D-9A2E-6AC0DA346487}"/>
              </a:ext>
            </a:extLst>
          </p:cNvPr>
          <p:cNvSpPr/>
          <p:nvPr/>
        </p:nvSpPr>
        <p:spPr>
          <a:xfrm>
            <a:off x="9628517" y="3708911"/>
            <a:ext cx="1974811" cy="484665"/>
          </a:xfrm>
          <a:prstGeom prst="roundRect">
            <a:avLst>
              <a:gd name="adj" fmla="val 688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3F5381-38FF-9C38-A21D-F8C13A47FECF}"/>
              </a:ext>
            </a:extLst>
          </p:cNvPr>
          <p:cNvSpPr txBox="1"/>
          <p:nvPr/>
        </p:nvSpPr>
        <p:spPr>
          <a:xfrm>
            <a:off x="9628517" y="4260781"/>
            <a:ext cx="1882452" cy="3734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Tachyon / Gemini</a:t>
            </a: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Embedding Layer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5F770537-32B9-33C6-9D74-BE8DF854193B}"/>
              </a:ext>
            </a:extLst>
          </p:cNvPr>
          <p:cNvSpPr txBox="1"/>
          <p:nvPr/>
        </p:nvSpPr>
        <p:spPr>
          <a:xfrm>
            <a:off x="10138385" y="3735785"/>
            <a:ext cx="1307498" cy="430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Embedding Model</a:t>
            </a: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C756C75A-B3D6-6417-E8CE-80223E79944A}"/>
              </a:ext>
            </a:extLst>
          </p:cNvPr>
          <p:cNvSpPr/>
          <p:nvPr/>
        </p:nvSpPr>
        <p:spPr>
          <a:xfrm>
            <a:off x="9553223" y="4737721"/>
            <a:ext cx="2125398" cy="1036678"/>
          </a:xfrm>
          <a:prstGeom prst="roundRect">
            <a:avLst>
              <a:gd name="adj" fmla="val 3799"/>
            </a:avLst>
          </a:prstGeom>
          <a:solidFill>
            <a:schemeClr val="accent2">
              <a:alpha val="1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B6D6790B-ED67-B334-D0E4-4B09FE2EF958}"/>
              </a:ext>
            </a:extLst>
          </p:cNvPr>
          <p:cNvSpPr/>
          <p:nvPr/>
        </p:nvSpPr>
        <p:spPr>
          <a:xfrm>
            <a:off x="9628517" y="4815353"/>
            <a:ext cx="1974811" cy="484665"/>
          </a:xfrm>
          <a:prstGeom prst="roundRect">
            <a:avLst>
              <a:gd name="adj" fmla="val 688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4F07B2B-11E3-27F9-9841-B7C825CFC366}"/>
              </a:ext>
            </a:extLst>
          </p:cNvPr>
          <p:cNvSpPr txBox="1"/>
          <p:nvPr/>
        </p:nvSpPr>
        <p:spPr>
          <a:xfrm>
            <a:off x="9628517" y="5367223"/>
            <a:ext cx="1882452" cy="3734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ANN Similarity</a:t>
            </a: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Search Index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009848F-33AD-54AA-E63B-4954751F9770}"/>
              </a:ext>
            </a:extLst>
          </p:cNvPr>
          <p:cNvSpPr txBox="1"/>
          <p:nvPr/>
        </p:nvSpPr>
        <p:spPr>
          <a:xfrm>
            <a:off x="10138385" y="4928410"/>
            <a:ext cx="1307498" cy="258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Vector Index</a:t>
            </a: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2B4DA1B-FB89-F454-4120-EA1379C89B53}"/>
              </a:ext>
            </a:extLst>
          </p:cNvPr>
          <p:cNvGrpSpPr/>
          <p:nvPr/>
        </p:nvGrpSpPr>
        <p:grpSpPr>
          <a:xfrm>
            <a:off x="2741820" y="3120080"/>
            <a:ext cx="559211" cy="905218"/>
            <a:chOff x="2741820" y="3192339"/>
            <a:chExt cx="559211" cy="1015662"/>
          </a:xfrm>
        </p:grpSpPr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6AC53216-ECDF-5F6B-A50A-222D7E8558FE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2741820" y="3700170"/>
              <a:ext cx="559211" cy="0"/>
            </a:xfrm>
            <a:prstGeom prst="straightConnector1">
              <a:avLst/>
            </a:prstGeom>
            <a:ln w="6350">
              <a:solidFill>
                <a:schemeClr val="bg1">
                  <a:lumMod val="65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3A3624C-84A9-D8E5-4E5F-C8BED4FAA759}"/>
                </a:ext>
              </a:extLst>
            </p:cNvPr>
            <p:cNvSpPr txBox="1"/>
            <p:nvPr/>
          </p:nvSpPr>
          <p:spPr>
            <a:xfrm rot="16200000">
              <a:off x="2469637" y="3577059"/>
              <a:ext cx="1015662" cy="246221"/>
            </a:xfrm>
            <a:prstGeom prst="rect">
              <a:avLst/>
            </a:prstGeom>
            <a:solidFill>
              <a:srgbClr val="F2F4F7"/>
            </a:solidFill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RAW DOCS</a:t>
              </a: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58FF0BF-85B9-94E2-BFF9-76C9D8ACC7BD}"/>
              </a:ext>
            </a:extLst>
          </p:cNvPr>
          <p:cNvGrpSpPr/>
          <p:nvPr/>
        </p:nvGrpSpPr>
        <p:grpSpPr>
          <a:xfrm>
            <a:off x="9046877" y="3019448"/>
            <a:ext cx="559211" cy="1106482"/>
            <a:chOff x="2741820" y="3079429"/>
            <a:chExt cx="559211" cy="1241482"/>
          </a:xfrm>
        </p:grpSpPr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67FF015B-3493-EAAD-F4D6-63FCCBCDABB8}"/>
                </a:ext>
              </a:extLst>
            </p:cNvPr>
            <p:cNvCxnSpPr>
              <a:cxnSpLocks/>
            </p:cNvCxnSpPr>
            <p:nvPr/>
          </p:nvCxnSpPr>
          <p:spPr>
            <a:xfrm>
              <a:off x="2741820" y="3700170"/>
              <a:ext cx="559211" cy="0"/>
            </a:xfrm>
            <a:prstGeom prst="straightConnector1">
              <a:avLst/>
            </a:prstGeom>
            <a:ln w="6350">
              <a:solidFill>
                <a:schemeClr val="bg1">
                  <a:lumMod val="65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0A82E0A2-8680-D029-95B7-43C1E60BF9A8}"/>
                </a:ext>
              </a:extLst>
            </p:cNvPr>
            <p:cNvSpPr txBox="1"/>
            <p:nvPr/>
          </p:nvSpPr>
          <p:spPr>
            <a:xfrm rot="16200000">
              <a:off x="2356728" y="3577059"/>
              <a:ext cx="1241482" cy="246221"/>
            </a:xfrm>
            <a:prstGeom prst="rect">
              <a:avLst/>
            </a:prstGeom>
            <a:solidFill>
              <a:srgbClr val="F2F4F7"/>
            </a:solidFill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JSONL EMBED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1BF566-18BB-BED8-78C7-4824570AA7C2}"/>
              </a:ext>
            </a:extLst>
          </p:cNvPr>
          <p:cNvGrpSpPr/>
          <p:nvPr/>
        </p:nvGrpSpPr>
        <p:grpSpPr>
          <a:xfrm>
            <a:off x="9772581" y="1507323"/>
            <a:ext cx="336444" cy="336444"/>
            <a:chOff x="732737" y="1356493"/>
            <a:chExt cx="336444" cy="336444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D66FDEA-859F-C93B-1267-C0B745DF94AA}"/>
                </a:ext>
              </a:extLst>
            </p:cNvPr>
            <p:cNvSpPr/>
            <p:nvPr/>
          </p:nvSpPr>
          <p:spPr>
            <a:xfrm>
              <a:off x="732737" y="1356493"/>
              <a:ext cx="336444" cy="336444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164471C-929B-6D51-30C1-D57C666B32E4}"/>
                </a:ext>
              </a:extLst>
            </p:cNvPr>
            <p:cNvSpPr/>
            <p:nvPr/>
          </p:nvSpPr>
          <p:spPr>
            <a:xfrm>
              <a:off x="761315" y="1385071"/>
              <a:ext cx="279289" cy="279287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5CB98E96-49FD-BE42-91CB-F786810F74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827280" y="1451036"/>
              <a:ext cx="147358" cy="14735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95C4CB-871A-1033-40DB-48F60CCF1EDB}"/>
              </a:ext>
            </a:extLst>
          </p:cNvPr>
          <p:cNvGrpSpPr/>
          <p:nvPr/>
        </p:nvGrpSpPr>
        <p:grpSpPr>
          <a:xfrm>
            <a:off x="3648014" y="1507323"/>
            <a:ext cx="336444" cy="336444"/>
            <a:chOff x="732737" y="1356493"/>
            <a:chExt cx="336444" cy="336444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CDB934F-6262-537D-87B5-3AF16DE4277C}"/>
                </a:ext>
              </a:extLst>
            </p:cNvPr>
            <p:cNvSpPr/>
            <p:nvPr/>
          </p:nvSpPr>
          <p:spPr>
            <a:xfrm>
              <a:off x="732737" y="1356493"/>
              <a:ext cx="336444" cy="336444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2314F32-6046-0D08-E6E6-2F5A13E61D2A}"/>
                </a:ext>
              </a:extLst>
            </p:cNvPr>
            <p:cNvSpPr/>
            <p:nvPr/>
          </p:nvSpPr>
          <p:spPr>
            <a:xfrm>
              <a:off x="761315" y="1385071"/>
              <a:ext cx="279289" cy="279287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C0B959E2-372A-26B0-78E7-A855A7896A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27280" y="1451036"/>
              <a:ext cx="147358" cy="147358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3A53D48-F82C-EE66-FFFD-072F653C6AAB}"/>
              </a:ext>
            </a:extLst>
          </p:cNvPr>
          <p:cNvGrpSpPr/>
          <p:nvPr/>
        </p:nvGrpSpPr>
        <p:grpSpPr>
          <a:xfrm>
            <a:off x="732737" y="1465572"/>
            <a:ext cx="336444" cy="336444"/>
            <a:chOff x="732737" y="1356493"/>
            <a:chExt cx="336444" cy="336444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3D2DF34-8899-7946-DF8E-85BADA173BA1}"/>
                </a:ext>
              </a:extLst>
            </p:cNvPr>
            <p:cNvSpPr/>
            <p:nvPr/>
          </p:nvSpPr>
          <p:spPr>
            <a:xfrm>
              <a:off x="732737" y="1356493"/>
              <a:ext cx="336444" cy="336444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712790B-9993-F992-267A-B04281B5E26D}"/>
                </a:ext>
              </a:extLst>
            </p:cNvPr>
            <p:cNvSpPr/>
            <p:nvPr/>
          </p:nvSpPr>
          <p:spPr>
            <a:xfrm>
              <a:off x="761315" y="1385071"/>
              <a:ext cx="279289" cy="279287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08F8CDE0-C4AF-C64A-9B2F-C7816C992A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27280" y="1451036"/>
              <a:ext cx="147358" cy="147358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190665E-A2DD-AA70-AC73-20742409CA9F}"/>
              </a:ext>
            </a:extLst>
          </p:cNvPr>
          <p:cNvGrpSpPr/>
          <p:nvPr/>
        </p:nvGrpSpPr>
        <p:grpSpPr>
          <a:xfrm>
            <a:off x="2088445" y="2030631"/>
            <a:ext cx="455776" cy="455776"/>
            <a:chOff x="2088445" y="1908156"/>
            <a:chExt cx="455776" cy="455776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3F3D20D-2ECD-42AD-C616-CA29F52FFB14}"/>
                </a:ext>
              </a:extLst>
            </p:cNvPr>
            <p:cNvGrpSpPr/>
            <p:nvPr/>
          </p:nvGrpSpPr>
          <p:grpSpPr>
            <a:xfrm>
              <a:off x="2088445" y="1908156"/>
              <a:ext cx="455776" cy="455776"/>
              <a:chOff x="2088445" y="1959604"/>
              <a:chExt cx="455776" cy="455776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AC33906-E567-240F-391F-DA1ED53B783E}"/>
                  </a:ext>
                </a:extLst>
              </p:cNvPr>
              <p:cNvSpPr/>
              <p:nvPr/>
            </p:nvSpPr>
            <p:spPr>
              <a:xfrm>
                <a:off x="2088445" y="1959604"/>
                <a:ext cx="455776" cy="455776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  <a:alpha val="1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B694406-F1DE-F12C-3660-BF4A1E024712}"/>
                  </a:ext>
                </a:extLst>
              </p:cNvPr>
              <p:cNvSpPr/>
              <p:nvPr/>
            </p:nvSpPr>
            <p:spPr>
              <a:xfrm>
                <a:off x="2127159" y="1998319"/>
                <a:ext cx="378348" cy="378346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</p:grp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373E6A1B-7A36-DE71-FA49-173873A7C1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09542" y="2029253"/>
              <a:ext cx="213582" cy="213582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415FF8F-9EF3-C678-2EE6-AFB8251AC0AB}"/>
              </a:ext>
            </a:extLst>
          </p:cNvPr>
          <p:cNvGrpSpPr/>
          <p:nvPr/>
        </p:nvGrpSpPr>
        <p:grpSpPr>
          <a:xfrm>
            <a:off x="2088445" y="3333903"/>
            <a:ext cx="455776" cy="455776"/>
            <a:chOff x="2088445" y="3371822"/>
            <a:chExt cx="455776" cy="45577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5929126-3DDF-DB6C-6AE7-FEBBD40BBD47}"/>
                </a:ext>
              </a:extLst>
            </p:cNvPr>
            <p:cNvGrpSpPr/>
            <p:nvPr/>
          </p:nvGrpSpPr>
          <p:grpSpPr>
            <a:xfrm>
              <a:off x="2088445" y="3371822"/>
              <a:ext cx="455776" cy="455776"/>
              <a:chOff x="2088445" y="3423270"/>
              <a:chExt cx="455776" cy="455776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6CBADBA-BFBD-B38B-239E-BB68ACEA4BEF}"/>
                  </a:ext>
                </a:extLst>
              </p:cNvPr>
              <p:cNvSpPr/>
              <p:nvPr/>
            </p:nvSpPr>
            <p:spPr>
              <a:xfrm>
                <a:off x="2088445" y="3423270"/>
                <a:ext cx="455776" cy="455776"/>
              </a:xfrm>
              <a:prstGeom prst="ellipse">
                <a:avLst/>
              </a:prstGeom>
              <a:solidFill>
                <a:schemeClr val="accent2">
                  <a:lumMod val="75000"/>
                  <a:alpha val="1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A9FD6BA-A568-52A0-A2C6-B75C3BE02E51}"/>
                  </a:ext>
                </a:extLst>
              </p:cNvPr>
              <p:cNvSpPr/>
              <p:nvPr/>
            </p:nvSpPr>
            <p:spPr>
              <a:xfrm>
                <a:off x="2127159" y="3461985"/>
                <a:ext cx="378348" cy="37834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p:grpSp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4DD00503-A04C-02C7-35F1-13CC942E20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09542" y="3492919"/>
              <a:ext cx="213582" cy="213582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A8B469D-C3C8-874F-F801-E14011412D95}"/>
              </a:ext>
            </a:extLst>
          </p:cNvPr>
          <p:cNvGrpSpPr/>
          <p:nvPr/>
        </p:nvGrpSpPr>
        <p:grpSpPr>
          <a:xfrm>
            <a:off x="2088445" y="4626863"/>
            <a:ext cx="455776" cy="455776"/>
            <a:chOff x="2088445" y="4835487"/>
            <a:chExt cx="455776" cy="455776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0E306D0-20BA-4021-FBC5-B0920194727E}"/>
                </a:ext>
              </a:extLst>
            </p:cNvPr>
            <p:cNvSpPr/>
            <p:nvPr/>
          </p:nvSpPr>
          <p:spPr>
            <a:xfrm>
              <a:off x="2088445" y="4835487"/>
              <a:ext cx="455776" cy="45577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D06F80F-5D47-3497-00D9-B480307ABF4A}"/>
                </a:ext>
              </a:extLst>
            </p:cNvPr>
            <p:cNvSpPr/>
            <p:nvPr/>
          </p:nvSpPr>
          <p:spPr>
            <a:xfrm>
              <a:off x="2127159" y="4874202"/>
              <a:ext cx="378348" cy="3783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8035F715-9A96-DE90-EBA8-62D5B5BB7F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09542" y="4956584"/>
              <a:ext cx="213582" cy="213582"/>
            </a:xfrm>
            <a:prstGeom prst="rect">
              <a:avLst/>
            </a:prstGeom>
          </p:spPr>
        </p:pic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5BE75CDA-C1B1-F8F6-5FB8-F508E2040649}"/>
              </a:ext>
            </a:extLst>
          </p:cNvPr>
          <p:cNvSpPr/>
          <p:nvPr/>
        </p:nvSpPr>
        <p:spPr>
          <a:xfrm>
            <a:off x="5106997" y="2359698"/>
            <a:ext cx="616132" cy="616132"/>
          </a:xfrm>
          <a:prstGeom prst="ellipse">
            <a:avLst/>
          </a:prstGeom>
          <a:solidFill>
            <a:schemeClr val="accent4">
              <a:alpha val="10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5316E8A-8A36-F969-E3B2-9F30FF37BD8A}"/>
              </a:ext>
            </a:extLst>
          </p:cNvPr>
          <p:cNvSpPr/>
          <p:nvPr/>
        </p:nvSpPr>
        <p:spPr>
          <a:xfrm>
            <a:off x="5159332" y="2412034"/>
            <a:ext cx="511462" cy="511460"/>
          </a:xfrm>
          <a:prstGeom prst="ellipse">
            <a:avLst/>
          </a:prstGeom>
          <a:solidFill>
            <a:schemeClr val="accent4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278C560-1EA2-6EE0-A7BA-BA484AB7BDE9}"/>
              </a:ext>
            </a:extLst>
          </p:cNvPr>
          <p:cNvSpPr/>
          <p:nvPr/>
        </p:nvSpPr>
        <p:spPr>
          <a:xfrm>
            <a:off x="6542547" y="2359698"/>
            <a:ext cx="616132" cy="616132"/>
          </a:xfrm>
          <a:prstGeom prst="ellipse">
            <a:avLst/>
          </a:prstGeom>
          <a:solidFill>
            <a:schemeClr val="accent3">
              <a:alpha val="10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B9DF76-DC5B-E594-4D27-40498A2F5298}"/>
              </a:ext>
            </a:extLst>
          </p:cNvPr>
          <p:cNvSpPr/>
          <p:nvPr/>
        </p:nvSpPr>
        <p:spPr>
          <a:xfrm>
            <a:off x="6594882" y="2412034"/>
            <a:ext cx="511462" cy="511460"/>
          </a:xfrm>
          <a:prstGeom prst="ellipse">
            <a:avLst/>
          </a:prstGeom>
          <a:solidFill>
            <a:schemeClr val="accent3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DFCF62-33BF-53A5-B714-04F720C426B1}"/>
              </a:ext>
            </a:extLst>
          </p:cNvPr>
          <p:cNvSpPr/>
          <p:nvPr/>
        </p:nvSpPr>
        <p:spPr>
          <a:xfrm>
            <a:off x="7978097" y="2359698"/>
            <a:ext cx="616132" cy="616132"/>
          </a:xfrm>
          <a:prstGeom prst="ellipse">
            <a:avLst/>
          </a:prstGeom>
          <a:solidFill>
            <a:schemeClr val="accent4">
              <a:alpha val="10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E9EFAE8-5A63-6BF0-905E-2B15A2B0CB1B}"/>
              </a:ext>
            </a:extLst>
          </p:cNvPr>
          <p:cNvSpPr/>
          <p:nvPr/>
        </p:nvSpPr>
        <p:spPr>
          <a:xfrm>
            <a:off x="8030432" y="2412034"/>
            <a:ext cx="511462" cy="511460"/>
          </a:xfrm>
          <a:prstGeom prst="ellipse">
            <a:avLst/>
          </a:prstGeom>
          <a:solidFill>
            <a:schemeClr val="accent4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8FB44DF-4008-7B83-4783-138AF3193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58371" y="2539972"/>
            <a:ext cx="255584" cy="255584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83881D0D-9B7C-8BB3-9DCF-9D0CE998D2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2821" y="2539972"/>
            <a:ext cx="255584" cy="255584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8D99391F-2727-9E77-DAC3-00F92F178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87271" y="2539972"/>
            <a:ext cx="255584" cy="255584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37756EA-8F8E-8368-BEA2-D48F3ABC75C0}"/>
              </a:ext>
            </a:extLst>
          </p:cNvPr>
          <p:cNvGrpSpPr/>
          <p:nvPr/>
        </p:nvGrpSpPr>
        <p:grpSpPr>
          <a:xfrm>
            <a:off x="3671447" y="2359698"/>
            <a:ext cx="616132" cy="616132"/>
            <a:chOff x="3671447" y="2359698"/>
            <a:chExt cx="616132" cy="61613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5D82966-F33D-3C7E-41A0-ADF335E1AA40}"/>
                </a:ext>
              </a:extLst>
            </p:cNvPr>
            <p:cNvSpPr/>
            <p:nvPr/>
          </p:nvSpPr>
          <p:spPr>
            <a:xfrm>
              <a:off x="3671447" y="2359698"/>
              <a:ext cx="616132" cy="616132"/>
            </a:xfrm>
            <a:prstGeom prst="ellipse">
              <a:avLst/>
            </a:prstGeom>
            <a:solidFill>
              <a:schemeClr val="tx2">
                <a:lumMod val="75000"/>
                <a:lumOff val="25000"/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71B9008-22C6-33D1-7227-305C2E809002}"/>
                </a:ext>
              </a:extLst>
            </p:cNvPr>
            <p:cNvSpPr/>
            <p:nvPr/>
          </p:nvSpPr>
          <p:spPr>
            <a:xfrm>
              <a:off x="3723782" y="2412034"/>
              <a:ext cx="511462" cy="51146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A6432D4F-ABA7-E503-97E4-238FB773FC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51721" y="2539972"/>
              <a:ext cx="255584" cy="255584"/>
            </a:xfrm>
            <a:prstGeom prst="rect">
              <a:avLst/>
            </a:prstGeom>
          </p:spPr>
        </p:pic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3A508651-BDDF-28E8-EE25-10475FDA3BBE}"/>
              </a:ext>
            </a:extLst>
          </p:cNvPr>
          <p:cNvSpPr/>
          <p:nvPr/>
        </p:nvSpPr>
        <p:spPr>
          <a:xfrm>
            <a:off x="9785961" y="4893379"/>
            <a:ext cx="328612" cy="328612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AD0CCEA-1D71-3EA8-705E-337A3FCB05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52026" y="4959444"/>
            <a:ext cx="196483" cy="196483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BD66D3C4-EDB7-535E-75F7-AD759191756C}"/>
              </a:ext>
            </a:extLst>
          </p:cNvPr>
          <p:cNvSpPr/>
          <p:nvPr/>
        </p:nvSpPr>
        <p:spPr>
          <a:xfrm>
            <a:off x="9785961" y="3786937"/>
            <a:ext cx="328612" cy="328612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LID4096" sz="4050"/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A7914513-DD5B-EE04-6D0E-1ED3D6D6A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52026" y="3853002"/>
            <a:ext cx="196483" cy="196483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8030C0B-9E6F-DCEF-6000-1C88AE4EB01F}"/>
              </a:ext>
            </a:extLst>
          </p:cNvPr>
          <p:cNvGrpSpPr/>
          <p:nvPr/>
        </p:nvGrpSpPr>
        <p:grpSpPr>
          <a:xfrm>
            <a:off x="9866568" y="2027812"/>
            <a:ext cx="1498708" cy="1498708"/>
            <a:chOff x="9736710" y="1940196"/>
            <a:chExt cx="1758424" cy="1758424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2B11F393-A167-0084-C7D0-6EAE09DC7A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36710" y="1940196"/>
              <a:ext cx="1758424" cy="1758424"/>
            </a:xfrm>
            <a:prstGeom prst="rect">
              <a:avLst/>
            </a:prstGeom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F78E6C4-EE05-48B8-6F2F-278C8AB6570E}"/>
                </a:ext>
              </a:extLst>
            </p:cNvPr>
            <p:cNvSpPr/>
            <p:nvPr/>
          </p:nvSpPr>
          <p:spPr>
            <a:xfrm>
              <a:off x="10181999" y="2857786"/>
              <a:ext cx="867845" cy="432725"/>
            </a:xfrm>
            <a:prstGeom prst="roundRect">
              <a:avLst>
                <a:gd name="adj" fmla="val 70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1ED1082-1C83-802F-FE8D-37B86BC04EAC}"/>
              </a:ext>
            </a:extLst>
          </p:cNvPr>
          <p:cNvSpPr txBox="1"/>
          <p:nvPr/>
        </p:nvSpPr>
        <p:spPr>
          <a:xfrm>
            <a:off x="10144744" y="2789776"/>
            <a:ext cx="942356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05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Tachyon</a:t>
            </a:r>
            <a:br>
              <a:rPr lang="en-US" sz="105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</a:br>
            <a:r>
              <a:rPr lang="en-US" sz="1050">
                <a:solidFill>
                  <a:schemeClr val="accent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Vector DB</a:t>
            </a:r>
          </a:p>
        </p:txBody>
      </p:sp>
    </p:spTree>
    <p:extLst>
      <p:ext uri="{BB962C8B-B14F-4D97-AF65-F5344CB8AC3E}">
        <p14:creationId xmlns:p14="http://schemas.microsoft.com/office/powerpoint/2010/main" val="2456949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138F90B-926A-DAC4-EC93-399255FCD2D1}"/>
              </a:ext>
            </a:extLst>
          </p:cNvPr>
          <p:cNvGrpSpPr/>
          <p:nvPr/>
        </p:nvGrpSpPr>
        <p:grpSpPr>
          <a:xfrm>
            <a:off x="320040" y="103392"/>
            <a:ext cx="7551420" cy="461665"/>
            <a:chOff x="320040" y="103392"/>
            <a:chExt cx="7551420" cy="4616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7C8C1D-1913-AF6C-B73F-7C47165D2993}"/>
                </a:ext>
              </a:extLst>
            </p:cNvPr>
            <p:cNvSpPr txBox="1"/>
            <p:nvPr/>
          </p:nvSpPr>
          <p:spPr>
            <a:xfrm>
              <a:off x="320040" y="103392"/>
              <a:ext cx="7551420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24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Space Grotesk" pitchFamily="2" charset="0"/>
                </a:rPr>
                <a:t>Policy Change Notification Applicability Assessment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37CCA2D-1C21-88AA-BE1D-2A1564F0C48E}"/>
                </a:ext>
              </a:extLst>
            </p:cNvPr>
            <p:cNvCxnSpPr>
              <a:cxnSpLocks/>
            </p:cNvCxnSpPr>
            <p:nvPr/>
          </p:nvCxnSpPr>
          <p:spPr>
            <a:xfrm>
              <a:off x="4006691" y="565057"/>
              <a:ext cx="3270409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E56CAF4-9097-B5A5-DEBC-3FE606B8A7E8}"/>
              </a:ext>
            </a:extLst>
          </p:cNvPr>
          <p:cNvSpPr txBox="1"/>
          <p:nvPr/>
        </p:nvSpPr>
        <p:spPr>
          <a:xfrm>
            <a:off x="320040" y="598427"/>
            <a:ext cx="7909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Automated policy impact analysis  ·  Tachyon LLM API  ·  Vector DB semantic RAG  ·  Dataverse persistent store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BAA652-D111-4ECC-8459-2791312A634B}"/>
              </a:ext>
            </a:extLst>
          </p:cNvPr>
          <p:cNvSpPr/>
          <p:nvPr/>
        </p:nvSpPr>
        <p:spPr>
          <a:xfrm>
            <a:off x="419100" y="1295400"/>
            <a:ext cx="2303764" cy="4830816"/>
          </a:xfrm>
          <a:prstGeom prst="roundRect">
            <a:avLst>
              <a:gd name="adj" fmla="val 2509"/>
            </a:avLst>
          </a:prstGeom>
          <a:solidFill>
            <a:schemeClr val="bg1"/>
          </a:solidFill>
          <a:ln w="6350">
            <a:solidFill>
              <a:schemeClr val="accent3"/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26FA95-43DE-EAB4-EE3D-96A18F240FEC}"/>
              </a:ext>
            </a:extLst>
          </p:cNvPr>
          <p:cNvSpPr/>
          <p:nvPr/>
        </p:nvSpPr>
        <p:spPr>
          <a:xfrm>
            <a:off x="482265" y="1354456"/>
            <a:ext cx="2177434" cy="511037"/>
          </a:xfrm>
          <a:prstGeom prst="roundRect">
            <a:avLst>
              <a:gd name="adj" fmla="val 10858"/>
            </a:avLst>
          </a:prstGeom>
          <a:solidFill>
            <a:schemeClr val="accent1"/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978FBD5-3CBD-62C9-AD48-77A8163FEBA9}"/>
              </a:ext>
            </a:extLst>
          </p:cNvPr>
          <p:cNvSpPr txBox="1"/>
          <p:nvPr/>
        </p:nvSpPr>
        <p:spPr>
          <a:xfrm>
            <a:off x="482265" y="1911152"/>
            <a:ext cx="2177434" cy="272415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000">
                <a:solidFill>
                  <a:schemeClr val="accent1"/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Steps  1 · 2 · 3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8605BB7-C460-DB81-6AA1-8B8D1857EE84}"/>
              </a:ext>
            </a:extLst>
          </p:cNvPr>
          <p:cNvGrpSpPr/>
          <p:nvPr/>
        </p:nvGrpSpPr>
        <p:grpSpPr>
          <a:xfrm>
            <a:off x="1317926" y="3249546"/>
            <a:ext cx="506112" cy="506112"/>
            <a:chOff x="1317926" y="3322832"/>
            <a:chExt cx="506112" cy="506112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627ED7AF-5969-8119-6588-3AEF9FC6AAFB}"/>
                </a:ext>
              </a:extLst>
            </p:cNvPr>
            <p:cNvSpPr/>
            <p:nvPr/>
          </p:nvSpPr>
          <p:spPr>
            <a:xfrm>
              <a:off x="1317926" y="3322832"/>
              <a:ext cx="506112" cy="506112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E0107BA-DBEC-536F-4DEC-29EA65381F74}"/>
                </a:ext>
              </a:extLst>
            </p:cNvPr>
            <p:cNvSpPr/>
            <p:nvPr/>
          </p:nvSpPr>
          <p:spPr>
            <a:xfrm>
              <a:off x="1360916" y="3365823"/>
              <a:ext cx="420132" cy="420131"/>
            </a:xfrm>
            <a:prstGeom prst="ellipse">
              <a:avLst/>
            </a:prstGeom>
            <a:solidFill>
              <a:schemeClr val="accent2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pic>
          <p:nvPicPr>
            <p:cNvPr id="211" name="Graphic 66">
              <a:extLst>
                <a:ext uri="{FF2B5EF4-FFF2-40B4-BE49-F238E27FC236}">
                  <a16:creationId xmlns:a16="http://schemas.microsoft.com/office/drawing/2014/main" id="{F452325E-FA1A-40B4-7692-CAFD2A3C6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466009" y="3470915"/>
              <a:ext cx="209945" cy="209945"/>
            </a:xfrm>
            <a:prstGeom prst="rect">
              <a:avLst/>
            </a:prstGeom>
          </p:spPr>
        </p:pic>
      </p:grpSp>
      <p:sp>
        <p:nvSpPr>
          <p:cNvPr id="215" name="Oval 214">
            <a:extLst>
              <a:ext uri="{FF2B5EF4-FFF2-40B4-BE49-F238E27FC236}">
                <a16:creationId xmlns:a16="http://schemas.microsoft.com/office/drawing/2014/main" id="{BD79C591-03C9-4EB3-6D08-67C1B845F8CE}"/>
              </a:ext>
            </a:extLst>
          </p:cNvPr>
          <p:cNvSpPr/>
          <p:nvPr/>
        </p:nvSpPr>
        <p:spPr>
          <a:xfrm>
            <a:off x="1317926" y="4216674"/>
            <a:ext cx="506112" cy="506112"/>
          </a:xfrm>
          <a:prstGeom prst="ellipse">
            <a:avLst/>
          </a:prstGeom>
          <a:solidFill>
            <a:schemeClr val="tx2">
              <a:lumMod val="75000"/>
              <a:lumOff val="25000"/>
              <a:alpha val="10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LID4096" sz="4050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DFF91234-F64B-8FBB-D1B8-9145D96E098C}"/>
              </a:ext>
            </a:extLst>
          </p:cNvPr>
          <p:cNvSpPr/>
          <p:nvPr/>
        </p:nvSpPr>
        <p:spPr>
          <a:xfrm>
            <a:off x="1360916" y="4259665"/>
            <a:ext cx="420132" cy="4201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LID4096" sz="4050"/>
          </a:p>
        </p:txBody>
      </p:sp>
      <p:pic>
        <p:nvPicPr>
          <p:cNvPr id="217" name="Graphic 66">
            <a:extLst>
              <a:ext uri="{FF2B5EF4-FFF2-40B4-BE49-F238E27FC236}">
                <a16:creationId xmlns:a16="http://schemas.microsoft.com/office/drawing/2014/main" id="{C0538048-E7B1-B883-D1D0-84F7F6EC1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66009" y="4364757"/>
            <a:ext cx="209945" cy="209945"/>
          </a:xfrm>
          <a:prstGeom prst="rect">
            <a:avLst/>
          </a:prstGeom>
        </p:spPr>
      </p:pic>
      <p:sp>
        <p:nvSpPr>
          <p:cNvPr id="221" name="Oval 220">
            <a:extLst>
              <a:ext uri="{FF2B5EF4-FFF2-40B4-BE49-F238E27FC236}">
                <a16:creationId xmlns:a16="http://schemas.microsoft.com/office/drawing/2014/main" id="{A1B42327-BA88-F900-E70F-0CE241F2D641}"/>
              </a:ext>
            </a:extLst>
          </p:cNvPr>
          <p:cNvSpPr/>
          <p:nvPr/>
        </p:nvSpPr>
        <p:spPr>
          <a:xfrm>
            <a:off x="1317926" y="5183802"/>
            <a:ext cx="506112" cy="506112"/>
          </a:xfrm>
          <a:prstGeom prst="ellipse">
            <a:avLst/>
          </a:prstGeom>
          <a:solidFill>
            <a:schemeClr val="accent2">
              <a:alpha val="10000"/>
            </a:schemeClr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LID4096" sz="4050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6502E6FA-56E5-B4F7-FDCF-F4BAC9D5BCF9}"/>
              </a:ext>
            </a:extLst>
          </p:cNvPr>
          <p:cNvSpPr/>
          <p:nvPr/>
        </p:nvSpPr>
        <p:spPr>
          <a:xfrm>
            <a:off x="1360916" y="5226793"/>
            <a:ext cx="420132" cy="420131"/>
          </a:xfrm>
          <a:prstGeom prst="ellipse">
            <a:avLst/>
          </a:prstGeom>
          <a:solidFill>
            <a:schemeClr val="accent2"/>
          </a:solidFill>
          <a:ln w="19050">
            <a:noFill/>
          </a:ln>
          <a:effectLst>
            <a:outerShdw blurRad="114300" dist="38100" dir="2700000" sx="101000" sy="101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LID4096" sz="4050"/>
          </a:p>
        </p:txBody>
      </p:sp>
      <p:pic>
        <p:nvPicPr>
          <p:cNvPr id="223" name="Graphic 66">
            <a:extLst>
              <a:ext uri="{FF2B5EF4-FFF2-40B4-BE49-F238E27FC236}">
                <a16:creationId xmlns:a16="http://schemas.microsoft.com/office/drawing/2014/main" id="{1391CA93-5B02-3A2D-CB81-D9A72B941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66009" y="5331885"/>
            <a:ext cx="209945" cy="209945"/>
          </a:xfrm>
          <a:prstGeom prst="rect">
            <a:avLst/>
          </a:prstGeom>
        </p:spPr>
      </p:pic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84566B6C-F189-4FB2-E7A7-80F795F5CC38}"/>
              </a:ext>
            </a:extLst>
          </p:cNvPr>
          <p:cNvCxnSpPr>
            <a:cxnSpLocks/>
          </p:cNvCxnSpPr>
          <p:nvPr/>
        </p:nvCxnSpPr>
        <p:spPr>
          <a:xfrm>
            <a:off x="1570982" y="2788530"/>
            <a:ext cx="0" cy="461016"/>
          </a:xfrm>
          <a:prstGeom prst="line">
            <a:avLst/>
          </a:prstGeom>
          <a:ln w="3175"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5971CFDA-FAD3-218E-6517-D3D18B04FA12}"/>
              </a:ext>
            </a:extLst>
          </p:cNvPr>
          <p:cNvGrpSpPr/>
          <p:nvPr/>
        </p:nvGrpSpPr>
        <p:grpSpPr>
          <a:xfrm>
            <a:off x="1317926" y="2282418"/>
            <a:ext cx="506112" cy="506112"/>
            <a:chOff x="1317926" y="2355704"/>
            <a:chExt cx="506112" cy="506112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5D82966-F33D-3C7E-41A0-ADF335E1AA40}"/>
                </a:ext>
              </a:extLst>
            </p:cNvPr>
            <p:cNvSpPr/>
            <p:nvPr/>
          </p:nvSpPr>
          <p:spPr>
            <a:xfrm>
              <a:off x="1317926" y="2355704"/>
              <a:ext cx="506112" cy="506112"/>
            </a:xfrm>
            <a:prstGeom prst="ellipse">
              <a:avLst/>
            </a:prstGeom>
            <a:solidFill>
              <a:schemeClr val="tx2">
                <a:lumMod val="75000"/>
                <a:lumOff val="25000"/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471B9008-22C6-33D1-7227-305C2E809002}"/>
                </a:ext>
              </a:extLst>
            </p:cNvPr>
            <p:cNvSpPr/>
            <p:nvPr/>
          </p:nvSpPr>
          <p:spPr>
            <a:xfrm>
              <a:off x="1360916" y="2398695"/>
              <a:ext cx="420132" cy="420131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pic>
          <p:nvPicPr>
            <p:cNvPr id="166" name="Graphic 66">
              <a:extLst>
                <a:ext uri="{FF2B5EF4-FFF2-40B4-BE49-F238E27FC236}">
                  <a16:creationId xmlns:a16="http://schemas.microsoft.com/office/drawing/2014/main" id="{A6432D4F-ABA7-E503-97E4-238FB773FC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466010" y="2503788"/>
              <a:ext cx="209945" cy="209945"/>
            </a:xfrm>
            <a:prstGeom prst="rect">
              <a:avLst/>
            </a:prstGeom>
          </p:spPr>
        </p:pic>
      </p:grp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ED616672-5D1D-84A1-D2BB-4A964035D05D}"/>
              </a:ext>
            </a:extLst>
          </p:cNvPr>
          <p:cNvCxnSpPr>
            <a:cxnSpLocks/>
            <a:endCxn id="215" idx="0"/>
          </p:cNvCxnSpPr>
          <p:nvPr/>
        </p:nvCxnSpPr>
        <p:spPr>
          <a:xfrm>
            <a:off x="1570982" y="3758502"/>
            <a:ext cx="0" cy="458172"/>
          </a:xfrm>
          <a:prstGeom prst="line">
            <a:avLst/>
          </a:prstGeom>
          <a:ln w="3175"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11EE780B-FADB-DE0E-65C1-D33D26D08329}"/>
              </a:ext>
            </a:extLst>
          </p:cNvPr>
          <p:cNvSpPr txBox="1"/>
          <p:nvPr/>
        </p:nvSpPr>
        <p:spPr>
          <a:xfrm>
            <a:off x="505920" y="3820966"/>
            <a:ext cx="2130124" cy="246221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spAutoFit/>
          </a:bodyPr>
          <a:lstStyle/>
          <a:p>
            <a:pPr algn="ctr"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Power Automate Inbox Reader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DBA1389-8986-0E0C-CA98-C55955B5782B}"/>
              </a:ext>
            </a:extLst>
          </p:cNvPr>
          <p:cNvSpPr txBox="1"/>
          <p:nvPr/>
        </p:nvSpPr>
        <p:spPr>
          <a:xfrm>
            <a:off x="505920" y="5755222"/>
            <a:ext cx="2130124" cy="246221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spAutoFit/>
          </a:bodyPr>
          <a:lstStyle/>
          <a:p>
            <a:pPr algn="ctr"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PGP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BBCA361-FBB8-DBBD-9F90-1865D161B2E5}"/>
              </a:ext>
            </a:extLst>
          </p:cNvPr>
          <p:cNvSpPr txBox="1"/>
          <p:nvPr/>
        </p:nvSpPr>
        <p:spPr>
          <a:xfrm>
            <a:off x="505920" y="2853838"/>
            <a:ext cx="2130124" cy="246221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spAutoFit/>
          </a:bodyPr>
          <a:lstStyle/>
          <a:p>
            <a:pPr algn="ctr"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 Policy Change, Email Trigger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6BF341A2-2B08-16B6-CA71-F2ADE7B4F05A}"/>
              </a:ext>
            </a:extLst>
          </p:cNvPr>
          <p:cNvCxnSpPr>
            <a:cxnSpLocks/>
          </p:cNvCxnSpPr>
          <p:nvPr/>
        </p:nvCxnSpPr>
        <p:spPr>
          <a:xfrm>
            <a:off x="1570982" y="4722786"/>
            <a:ext cx="0" cy="461016"/>
          </a:xfrm>
          <a:prstGeom prst="line">
            <a:avLst/>
          </a:prstGeom>
          <a:ln w="3175"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519EA234-29B4-4945-8C1C-2AEAFD420E73}"/>
              </a:ext>
            </a:extLst>
          </p:cNvPr>
          <p:cNvSpPr txBox="1"/>
          <p:nvPr/>
        </p:nvSpPr>
        <p:spPr>
          <a:xfrm>
            <a:off x="505920" y="4788094"/>
            <a:ext cx="2130124" cy="246221"/>
          </a:xfrm>
          <a:prstGeom prst="rect">
            <a:avLst/>
          </a:prstGeom>
          <a:solidFill>
            <a:schemeClr val="bg1"/>
          </a:solidFill>
        </p:spPr>
        <p:txBody>
          <a:bodyPr wrap="square" anchor="t">
            <a:spAutoFit/>
          </a:bodyPr>
          <a:lstStyle/>
          <a:p>
            <a:pPr algn="ctr">
              <a:buClr>
                <a:srgbClr val="008DB9"/>
              </a:buClr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UIPath PGP Query Job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2FC67960-B0EB-BBE8-CD86-E8949E2D61CD}"/>
              </a:ext>
            </a:extLst>
          </p:cNvPr>
          <p:cNvSpPr/>
          <p:nvPr/>
        </p:nvSpPr>
        <p:spPr>
          <a:xfrm>
            <a:off x="8775700" y="1295400"/>
            <a:ext cx="2997200" cy="4830816"/>
          </a:xfrm>
          <a:prstGeom prst="roundRect">
            <a:avLst>
              <a:gd name="adj" fmla="val 2509"/>
            </a:avLst>
          </a:prstGeom>
          <a:solidFill>
            <a:schemeClr val="bg1"/>
          </a:solidFill>
          <a:ln w="6350">
            <a:solidFill>
              <a:schemeClr val="accent1"/>
            </a:solidFill>
            <a:prstDash val="lgDash"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1C19064-BB30-034C-32D2-786EF389A4E6}"/>
              </a:ext>
            </a:extLst>
          </p:cNvPr>
          <p:cNvSpPr txBox="1"/>
          <p:nvPr/>
        </p:nvSpPr>
        <p:spPr>
          <a:xfrm>
            <a:off x="1083169" y="1379142"/>
            <a:ext cx="141684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A. Trigger &amp; Automation</a:t>
            </a: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48C297D-083B-75CC-6086-94ACBA9E1A16}"/>
              </a:ext>
            </a:extLst>
          </p:cNvPr>
          <p:cNvGrpSpPr/>
          <p:nvPr/>
        </p:nvGrpSpPr>
        <p:grpSpPr>
          <a:xfrm>
            <a:off x="634656" y="1417300"/>
            <a:ext cx="385348" cy="385348"/>
            <a:chOff x="732737" y="1356493"/>
            <a:chExt cx="336444" cy="336444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BD70FEA4-217C-3853-5FF2-D06B1D833FDF}"/>
                </a:ext>
              </a:extLst>
            </p:cNvPr>
            <p:cNvSpPr/>
            <p:nvPr/>
          </p:nvSpPr>
          <p:spPr>
            <a:xfrm>
              <a:off x="732737" y="1356493"/>
              <a:ext cx="336444" cy="336444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CA439E4-1C0A-3352-A356-524986A7AD8E}"/>
                </a:ext>
              </a:extLst>
            </p:cNvPr>
            <p:cNvSpPr/>
            <p:nvPr/>
          </p:nvSpPr>
          <p:spPr>
            <a:xfrm>
              <a:off x="761315" y="1385071"/>
              <a:ext cx="279289" cy="279287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253" name="Graphic 252">
              <a:extLst>
                <a:ext uri="{FF2B5EF4-FFF2-40B4-BE49-F238E27FC236}">
                  <a16:creationId xmlns:a16="http://schemas.microsoft.com/office/drawing/2014/main" id="{D2939D47-3DE0-B21F-19AC-60532DF627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27280" y="1451036"/>
              <a:ext cx="147358" cy="147358"/>
            </a:xfrm>
            <a:prstGeom prst="rect">
              <a:avLst/>
            </a:prstGeom>
          </p:spPr>
        </p:pic>
      </p:grp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D4C5AE8B-7E9F-DCB8-311E-24F6F61767AA}"/>
              </a:ext>
            </a:extLst>
          </p:cNvPr>
          <p:cNvSpPr/>
          <p:nvPr/>
        </p:nvSpPr>
        <p:spPr>
          <a:xfrm>
            <a:off x="3621690" y="1295400"/>
            <a:ext cx="3234380" cy="4830816"/>
          </a:xfrm>
          <a:prstGeom prst="roundRect">
            <a:avLst>
              <a:gd name="adj" fmla="val 2509"/>
            </a:avLst>
          </a:prstGeom>
          <a:solidFill>
            <a:schemeClr val="bg1"/>
          </a:solidFill>
          <a:ln w="6350">
            <a:solidFill>
              <a:schemeClr val="accent4"/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1D627F5A-7246-6B61-DB6C-6A8F01D81982}"/>
              </a:ext>
            </a:extLst>
          </p:cNvPr>
          <p:cNvGrpSpPr/>
          <p:nvPr/>
        </p:nvGrpSpPr>
        <p:grpSpPr>
          <a:xfrm>
            <a:off x="3702013" y="1354456"/>
            <a:ext cx="3073735" cy="511037"/>
            <a:chOff x="3702013" y="1354456"/>
            <a:chExt cx="3073735" cy="511037"/>
          </a:xfrm>
        </p:grpSpPr>
        <p:sp>
          <p:nvSpPr>
            <p:cNvPr id="248" name="Rectangle: Rounded Corners 247">
              <a:extLst>
                <a:ext uri="{FF2B5EF4-FFF2-40B4-BE49-F238E27FC236}">
                  <a16:creationId xmlns:a16="http://schemas.microsoft.com/office/drawing/2014/main" id="{EA6C4121-9F40-94D6-73E3-EECD17187A04}"/>
                </a:ext>
              </a:extLst>
            </p:cNvPr>
            <p:cNvSpPr/>
            <p:nvPr/>
          </p:nvSpPr>
          <p:spPr>
            <a:xfrm>
              <a:off x="3702013" y="1354456"/>
              <a:ext cx="3073735" cy="511037"/>
            </a:xfrm>
            <a:prstGeom prst="roundRect">
              <a:avLst>
                <a:gd name="adj" fmla="val 10858"/>
              </a:avLst>
            </a:prstGeom>
            <a:solidFill>
              <a:schemeClr val="accent2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7779AEA8-07ED-0B78-CDE1-FD874A3BE3F5}"/>
                </a:ext>
              </a:extLst>
            </p:cNvPr>
            <p:cNvGrpSpPr/>
            <p:nvPr/>
          </p:nvGrpSpPr>
          <p:grpSpPr>
            <a:xfrm>
              <a:off x="3973079" y="1417300"/>
              <a:ext cx="2531603" cy="385348"/>
              <a:chOff x="4034296" y="1490586"/>
              <a:chExt cx="2531603" cy="385348"/>
            </a:xfrm>
          </p:grpSpPr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43A3C30C-D98D-C8B9-C41F-165797E9C120}"/>
                  </a:ext>
                </a:extLst>
              </p:cNvPr>
              <p:cNvSpPr txBox="1"/>
              <p:nvPr/>
            </p:nvSpPr>
            <p:spPr>
              <a:xfrm>
                <a:off x="4510430" y="1544761"/>
                <a:ext cx="2055469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1200">
                    <a:solidFill>
                      <a:schemeClr val="bg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Dataverse</a:t>
                </a:r>
              </a:p>
            </p:txBody>
          </p:sp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C597789C-0821-76FE-6A9C-C77DEEAD60A9}"/>
                  </a:ext>
                </a:extLst>
              </p:cNvPr>
              <p:cNvGrpSpPr/>
              <p:nvPr/>
            </p:nvGrpSpPr>
            <p:grpSpPr>
              <a:xfrm>
                <a:off x="4034296" y="1490586"/>
                <a:ext cx="385348" cy="385348"/>
                <a:chOff x="732737" y="1356493"/>
                <a:chExt cx="336444" cy="336444"/>
              </a:xfrm>
            </p:grpSpPr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2ED22AD5-5E99-225E-D0AB-72814EE3EE04}"/>
                    </a:ext>
                  </a:extLst>
                </p:cNvPr>
                <p:cNvSpPr/>
                <p:nvPr/>
              </p:nvSpPr>
              <p:spPr>
                <a:xfrm>
                  <a:off x="732737" y="1356493"/>
                  <a:ext cx="336444" cy="336444"/>
                </a:xfrm>
                <a:prstGeom prst="ellipse">
                  <a:avLst/>
                </a:prstGeom>
                <a:solidFill>
                  <a:schemeClr val="bg1">
                    <a:alpha val="1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DE303BCC-A7FB-E844-13E2-190A989863D4}"/>
                    </a:ext>
                  </a:extLst>
                </p:cNvPr>
                <p:cNvSpPr/>
                <p:nvPr/>
              </p:nvSpPr>
              <p:spPr>
                <a:xfrm>
                  <a:off x="761315" y="1385071"/>
                  <a:ext cx="279289" cy="279287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pic>
              <p:nvPicPr>
                <p:cNvPr id="261" name="Graphic 260">
                  <a:extLst>
                    <a:ext uri="{FF2B5EF4-FFF2-40B4-BE49-F238E27FC236}">
                      <a16:creationId xmlns:a16="http://schemas.microsoft.com/office/drawing/2014/main" id="{CD593074-A297-A62D-0AF5-061AB89A70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827280" y="1451036"/>
                  <a:ext cx="147358" cy="147358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C1485767-FC9E-D8B2-B914-7EC28020A831}"/>
              </a:ext>
            </a:extLst>
          </p:cNvPr>
          <p:cNvSpPr/>
          <p:nvPr/>
        </p:nvSpPr>
        <p:spPr>
          <a:xfrm>
            <a:off x="3702013" y="1956427"/>
            <a:ext cx="3073734" cy="955757"/>
          </a:xfrm>
          <a:prstGeom prst="roundRect">
            <a:avLst>
              <a:gd name="adj" fmla="val 4795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2B9F8837-77BB-26A8-F848-350C70C4F356}"/>
              </a:ext>
            </a:extLst>
          </p:cNvPr>
          <p:cNvSpPr/>
          <p:nvPr/>
        </p:nvSpPr>
        <p:spPr>
          <a:xfrm>
            <a:off x="3702013" y="3001823"/>
            <a:ext cx="3073734" cy="955757"/>
          </a:xfrm>
          <a:prstGeom prst="roundRect">
            <a:avLst>
              <a:gd name="adj" fmla="val 4795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111B6417-2077-63C5-3AE4-E0B92E051555}"/>
              </a:ext>
            </a:extLst>
          </p:cNvPr>
          <p:cNvSpPr/>
          <p:nvPr/>
        </p:nvSpPr>
        <p:spPr>
          <a:xfrm>
            <a:off x="3702013" y="4047220"/>
            <a:ext cx="3073734" cy="955757"/>
          </a:xfrm>
          <a:prstGeom prst="roundRect">
            <a:avLst>
              <a:gd name="adj" fmla="val 4795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ED958CFD-7A46-98EB-8111-2DC22707AF4B}"/>
              </a:ext>
            </a:extLst>
          </p:cNvPr>
          <p:cNvSpPr/>
          <p:nvPr/>
        </p:nvSpPr>
        <p:spPr>
          <a:xfrm>
            <a:off x="3702013" y="5092617"/>
            <a:ext cx="3073734" cy="955757"/>
          </a:xfrm>
          <a:prstGeom prst="roundRect">
            <a:avLst>
              <a:gd name="adj" fmla="val 4795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1E7707E-D39C-84AE-999F-24B3D03FC279}"/>
              </a:ext>
            </a:extLst>
          </p:cNvPr>
          <p:cNvSpPr txBox="1"/>
          <p:nvPr/>
        </p:nvSpPr>
        <p:spPr>
          <a:xfrm>
            <a:off x="3892810" y="2295806"/>
            <a:ext cx="26921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Change Notification + Policy Data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88F6732-EC35-B300-5604-855B7055623B}"/>
              </a:ext>
            </a:extLst>
          </p:cNvPr>
          <p:cNvSpPr txBox="1"/>
          <p:nvPr/>
        </p:nvSpPr>
        <p:spPr>
          <a:xfrm>
            <a:off x="3892810" y="3341202"/>
            <a:ext cx="26921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Impacted Requirements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C35DE83-9BED-7FB8-F930-D08E53B44D00}"/>
              </a:ext>
            </a:extLst>
          </p:cNvPr>
          <p:cNvSpPr txBox="1"/>
          <p:nvPr/>
        </p:nvSpPr>
        <p:spPr>
          <a:xfrm>
            <a:off x="3892810" y="4386600"/>
            <a:ext cx="26921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Relevant LOBs Per Requirement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7BE95C1D-AB7A-7B84-40A4-4D8000EBC7B9}"/>
              </a:ext>
            </a:extLst>
          </p:cNvPr>
          <p:cNvSpPr txBox="1"/>
          <p:nvPr/>
        </p:nvSpPr>
        <p:spPr>
          <a:xfrm>
            <a:off x="3892809" y="5431996"/>
            <a:ext cx="302838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Applicability Decisions (Yes/No) + Rationale</a:t>
            </a: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34C58F1E-E82B-C1A5-D7E8-4B475A095602}"/>
              </a:ext>
            </a:extLst>
          </p:cNvPr>
          <p:cNvSpPr/>
          <p:nvPr/>
        </p:nvSpPr>
        <p:spPr>
          <a:xfrm>
            <a:off x="8842189" y="1354456"/>
            <a:ext cx="2864222" cy="511037"/>
          </a:xfrm>
          <a:prstGeom prst="roundRect">
            <a:avLst>
              <a:gd name="adj" fmla="val 10858"/>
            </a:avLst>
          </a:prstGeom>
          <a:solidFill>
            <a:schemeClr val="tx2"/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89623CE-1050-BD3C-1EB4-2EE58D1EF534}"/>
              </a:ext>
            </a:extLst>
          </p:cNvPr>
          <p:cNvSpPr txBox="1"/>
          <p:nvPr/>
        </p:nvSpPr>
        <p:spPr>
          <a:xfrm>
            <a:off x="9589388" y="1471475"/>
            <a:ext cx="205546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Tachyon LLM</a:t>
            </a: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75170775-B7A8-9C39-58E6-78519EBA06F7}"/>
              </a:ext>
            </a:extLst>
          </p:cNvPr>
          <p:cNvGrpSpPr/>
          <p:nvPr/>
        </p:nvGrpSpPr>
        <p:grpSpPr>
          <a:xfrm>
            <a:off x="9113254" y="1417300"/>
            <a:ext cx="385348" cy="385348"/>
            <a:chOff x="732737" y="1356493"/>
            <a:chExt cx="336444" cy="336444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F0EF7E0-266B-44B0-668B-7BCF295ACD65}"/>
                </a:ext>
              </a:extLst>
            </p:cNvPr>
            <p:cNvSpPr/>
            <p:nvPr/>
          </p:nvSpPr>
          <p:spPr>
            <a:xfrm>
              <a:off x="732737" y="1356493"/>
              <a:ext cx="336444" cy="336444"/>
            </a:xfrm>
            <a:prstGeom prst="ellipse">
              <a:avLst/>
            </a:prstGeom>
            <a:solidFill>
              <a:schemeClr val="bg1"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6F25B50B-D24D-0421-84C9-D2B635EE43F3}"/>
                </a:ext>
              </a:extLst>
            </p:cNvPr>
            <p:cNvSpPr/>
            <p:nvPr/>
          </p:nvSpPr>
          <p:spPr>
            <a:xfrm>
              <a:off x="761315" y="1385071"/>
              <a:ext cx="279289" cy="279287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LID4096" sz="4050"/>
            </a:p>
          </p:txBody>
        </p:sp>
        <p:pic>
          <p:nvPicPr>
            <p:cNvPr id="282" name="Graphic 281">
              <a:extLst>
                <a:ext uri="{FF2B5EF4-FFF2-40B4-BE49-F238E27FC236}">
                  <a16:creationId xmlns:a16="http://schemas.microsoft.com/office/drawing/2014/main" id="{38A2011F-F077-7DFA-7481-E6F6834B16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27280" y="1451036"/>
              <a:ext cx="147358" cy="147358"/>
            </a:xfrm>
            <a:prstGeom prst="rect">
              <a:avLst/>
            </a:prstGeom>
          </p:spPr>
        </p:pic>
      </p:grp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69BFCF41-3CE4-1FD9-1F16-9A8B4673DB5C}"/>
              </a:ext>
            </a:extLst>
          </p:cNvPr>
          <p:cNvSpPr/>
          <p:nvPr/>
        </p:nvSpPr>
        <p:spPr>
          <a:xfrm>
            <a:off x="8842189" y="1956427"/>
            <a:ext cx="2864222" cy="1995409"/>
          </a:xfrm>
          <a:prstGeom prst="roundRect">
            <a:avLst>
              <a:gd name="adj" fmla="val 2886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84" name="Rectangle: Rounded Corners 283">
            <a:extLst>
              <a:ext uri="{FF2B5EF4-FFF2-40B4-BE49-F238E27FC236}">
                <a16:creationId xmlns:a16="http://schemas.microsoft.com/office/drawing/2014/main" id="{C480063D-68C7-11C8-3D1F-9B88D80D49A0}"/>
              </a:ext>
            </a:extLst>
          </p:cNvPr>
          <p:cNvSpPr/>
          <p:nvPr/>
        </p:nvSpPr>
        <p:spPr>
          <a:xfrm>
            <a:off x="8842189" y="4052965"/>
            <a:ext cx="2864222" cy="1995409"/>
          </a:xfrm>
          <a:prstGeom prst="roundRect">
            <a:avLst>
              <a:gd name="adj" fmla="val 4795"/>
            </a:avLst>
          </a:prstGeom>
          <a:solidFill>
            <a:schemeClr val="accent2">
              <a:alpha val="5000"/>
            </a:schemeClr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ADF7EF79-694E-87A4-901C-5DEE43A04B3E}"/>
              </a:ext>
            </a:extLst>
          </p:cNvPr>
          <p:cNvSpPr/>
          <p:nvPr/>
        </p:nvSpPr>
        <p:spPr>
          <a:xfrm>
            <a:off x="8906211" y="2024436"/>
            <a:ext cx="2736179" cy="511037"/>
          </a:xfrm>
          <a:prstGeom prst="roundRect">
            <a:avLst>
              <a:gd name="adj" fmla="val 10858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660400" dist="215900" dir="27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1CFBD3CF-EF38-1AAB-9EDA-5A6CF1411EAE}"/>
              </a:ext>
            </a:extLst>
          </p:cNvPr>
          <p:cNvSpPr txBox="1"/>
          <p:nvPr/>
        </p:nvSpPr>
        <p:spPr>
          <a:xfrm>
            <a:off x="9246566" y="2141455"/>
            <a:ext cx="205546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bg1"/>
                </a:solidFill>
                <a:latin typeface="Satoshi" pitchFamily="50" charset="0"/>
                <a:ea typeface="Verdana" panose="020B0604030504040204" pitchFamily="34" charset="0"/>
                <a:cs typeface="Poppins" pitchFamily="2" charset="77"/>
              </a:rPr>
              <a:t>Tachyon API</a:t>
            </a:r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4E32B72C-CDE2-347D-DA37-5C29C9BE5F93}"/>
              </a:ext>
            </a:extLst>
          </p:cNvPr>
          <p:cNvGrpSpPr/>
          <p:nvPr/>
        </p:nvGrpSpPr>
        <p:grpSpPr>
          <a:xfrm>
            <a:off x="8906211" y="4131081"/>
            <a:ext cx="2736179" cy="511037"/>
            <a:chOff x="8906211" y="2024436"/>
            <a:chExt cx="2736179" cy="511037"/>
          </a:xfrm>
        </p:grpSpPr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5135A22-9934-0865-C518-4B26C0705D54}"/>
                </a:ext>
              </a:extLst>
            </p:cNvPr>
            <p:cNvSpPr/>
            <p:nvPr/>
          </p:nvSpPr>
          <p:spPr>
            <a:xfrm>
              <a:off x="8906211" y="2024436"/>
              <a:ext cx="2736179" cy="511037"/>
            </a:xfrm>
            <a:prstGeom prst="roundRect">
              <a:avLst>
                <a:gd name="adj" fmla="val 10858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610CF9FA-92AE-A121-3BB7-40664A22B0A9}"/>
                </a:ext>
              </a:extLst>
            </p:cNvPr>
            <p:cNvSpPr txBox="1"/>
            <p:nvPr/>
          </p:nvSpPr>
          <p:spPr>
            <a:xfrm>
              <a:off x="9246566" y="2141455"/>
              <a:ext cx="2055469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200">
                  <a:solidFill>
                    <a:schemeClr val="bg1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Tachyon Vector Index</a:t>
              </a: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1F1F2540-4CB9-921B-8DBF-941627E7F869}"/>
              </a:ext>
            </a:extLst>
          </p:cNvPr>
          <p:cNvGrpSpPr/>
          <p:nvPr/>
        </p:nvGrpSpPr>
        <p:grpSpPr>
          <a:xfrm>
            <a:off x="8928101" y="2643989"/>
            <a:ext cx="2692400" cy="1199330"/>
            <a:chOff x="8928101" y="2643989"/>
            <a:chExt cx="2692400" cy="1199330"/>
          </a:xfrm>
        </p:grpSpPr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4366CE95-A045-D621-41B7-FC397AEF6725}"/>
                </a:ext>
              </a:extLst>
            </p:cNvPr>
            <p:cNvSpPr/>
            <p:nvPr/>
          </p:nvSpPr>
          <p:spPr>
            <a:xfrm>
              <a:off x="9994900" y="2643989"/>
              <a:ext cx="558800" cy="558800"/>
            </a:xfrm>
            <a:prstGeom prst="ellipse">
              <a:avLst/>
            </a:prstGeom>
            <a:solidFill>
              <a:schemeClr val="accent2">
                <a:lumMod val="75000"/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40BECCF8-5293-1B03-2D0D-4C70E0207419}"/>
                </a:ext>
              </a:extLst>
            </p:cNvPr>
            <p:cNvSpPr/>
            <p:nvPr/>
          </p:nvSpPr>
          <p:spPr>
            <a:xfrm>
              <a:off x="10042365" y="2691456"/>
              <a:ext cx="463869" cy="46386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pic>
          <p:nvPicPr>
            <p:cNvPr id="295" name="Graphic 66">
              <a:extLst>
                <a:ext uri="{FF2B5EF4-FFF2-40B4-BE49-F238E27FC236}">
                  <a16:creationId xmlns:a16="http://schemas.microsoft.com/office/drawing/2014/main" id="{FED0FDBD-AF8E-FB20-12A0-5E3D708126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0158399" y="2807488"/>
              <a:ext cx="231801" cy="231801"/>
            </a:xfrm>
            <a:prstGeom prst="rect">
              <a:avLst/>
            </a:prstGeom>
          </p:spPr>
        </p:pic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E524DBA4-77FD-5010-B5CE-F21EF2FC3DC6}"/>
                </a:ext>
              </a:extLst>
            </p:cNvPr>
            <p:cNvSpPr txBox="1"/>
            <p:nvPr/>
          </p:nvSpPr>
          <p:spPr>
            <a:xfrm>
              <a:off x="8928101" y="3289321"/>
              <a:ext cx="2692400" cy="5539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>
                  <a:solidFill>
                    <a:schemeClr val="accent2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Tachyon / Gemini</a:t>
              </a:r>
              <a:br>
                <a:rPr lang="en-US" sz="1000">
                  <a:solidFill>
                    <a:schemeClr val="accent2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1000">
                  <a:solidFill>
                    <a:schemeClr val="bg1">
                      <a:lumMod val="50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LLM inference  ·  /chat/completion  ·  /embeddings  ·  Model Armor</a:t>
              </a: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4FCBA95E-CD36-55FD-E467-67324390463A}"/>
              </a:ext>
            </a:extLst>
          </p:cNvPr>
          <p:cNvGrpSpPr/>
          <p:nvPr/>
        </p:nvGrpSpPr>
        <p:grpSpPr>
          <a:xfrm>
            <a:off x="9010652" y="4743247"/>
            <a:ext cx="2527298" cy="1199330"/>
            <a:chOff x="9010652" y="2643989"/>
            <a:chExt cx="2527298" cy="1199330"/>
          </a:xfrm>
        </p:grpSpPr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6DA6F004-2A18-6584-8F99-96CBE2AF6387}"/>
                </a:ext>
              </a:extLst>
            </p:cNvPr>
            <p:cNvSpPr/>
            <p:nvPr/>
          </p:nvSpPr>
          <p:spPr>
            <a:xfrm>
              <a:off x="9994900" y="2643989"/>
              <a:ext cx="558800" cy="55880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1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E0352A6B-3A02-D768-C71F-704370761E5F}"/>
                </a:ext>
              </a:extLst>
            </p:cNvPr>
            <p:cNvSpPr/>
            <p:nvPr/>
          </p:nvSpPr>
          <p:spPr>
            <a:xfrm>
              <a:off x="10042365" y="2691456"/>
              <a:ext cx="463869" cy="463868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>
              <a:outerShdw blurRad="114300" dist="38100" dir="2700000" sx="101000" sy="101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LID4096" sz="4050"/>
            </a:p>
          </p:txBody>
        </p:sp>
        <p:pic>
          <p:nvPicPr>
            <p:cNvPr id="303" name="Graphic 66">
              <a:extLst>
                <a:ext uri="{FF2B5EF4-FFF2-40B4-BE49-F238E27FC236}">
                  <a16:creationId xmlns:a16="http://schemas.microsoft.com/office/drawing/2014/main" id="{C9FC925B-5A69-ECC9-23B7-7886B95DE5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0158399" y="2807488"/>
              <a:ext cx="231801" cy="231801"/>
            </a:xfrm>
            <a:prstGeom prst="rect">
              <a:avLst/>
            </a:prstGeom>
          </p:spPr>
        </p:pic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D6D593B7-BEA3-2392-AD03-7D4D1ECC2BC2}"/>
                </a:ext>
              </a:extLst>
            </p:cNvPr>
            <p:cNvSpPr txBox="1"/>
            <p:nvPr/>
          </p:nvSpPr>
          <p:spPr>
            <a:xfrm>
              <a:off x="9010652" y="3289321"/>
              <a:ext cx="2527298" cy="55399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Semantic Search</a:t>
              </a:r>
              <a:br>
                <a:rPr lang="en-US" sz="1000">
                  <a:solidFill>
                    <a:schemeClr val="accent2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1000">
                  <a:solidFill>
                    <a:schemeClr val="bg1">
                      <a:lumMod val="50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ECM Policy Docs  ·  LOB Descriptions  ·  ANN similarity retrieval</a:t>
              </a:r>
            </a:p>
          </p:txBody>
        </p:sp>
      </p:grp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0A826E96-9F9A-901C-A276-7FA81CAE77A9}"/>
              </a:ext>
            </a:extLst>
          </p:cNvPr>
          <p:cNvCxnSpPr>
            <a:stCxn id="9" idx="3"/>
            <a:endCxn id="246" idx="1"/>
          </p:cNvCxnSpPr>
          <p:nvPr/>
        </p:nvCxnSpPr>
        <p:spPr>
          <a:xfrm>
            <a:off x="2722864" y="3710808"/>
            <a:ext cx="898826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tailEnd type="arrow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>
            <a:extLst>
              <a:ext uri="{FF2B5EF4-FFF2-40B4-BE49-F238E27FC236}">
                <a16:creationId xmlns:a16="http://schemas.microsoft.com/office/drawing/2014/main" id="{8B383B0A-C634-0F0E-E4E7-03AA3C466D36}"/>
              </a:ext>
            </a:extLst>
          </p:cNvPr>
          <p:cNvSpPr txBox="1"/>
          <p:nvPr/>
        </p:nvSpPr>
        <p:spPr>
          <a:xfrm>
            <a:off x="2776728" y="3824368"/>
            <a:ext cx="81171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Change Notification &amp; Policy Data</a:t>
            </a:r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2B347753-E7D0-B9F9-197D-942A4F11F987}"/>
              </a:ext>
            </a:extLst>
          </p:cNvPr>
          <p:cNvGrpSpPr/>
          <p:nvPr/>
        </p:nvGrpSpPr>
        <p:grpSpPr>
          <a:xfrm>
            <a:off x="3037768" y="3520684"/>
            <a:ext cx="269018" cy="269016"/>
            <a:chOff x="3109265" y="1988327"/>
            <a:chExt cx="320043" cy="320043"/>
          </a:xfrm>
        </p:grpSpPr>
        <p:sp>
          <p:nvSpPr>
            <p:cNvPr id="308" name="Circle">
              <a:extLst>
                <a:ext uri="{FF2B5EF4-FFF2-40B4-BE49-F238E27FC236}">
                  <a16:creationId xmlns:a16="http://schemas.microsoft.com/office/drawing/2014/main" id="{C7DC268D-BE2C-A68D-DF20-90BF9C42EC08}"/>
                </a:ext>
              </a:extLst>
            </p:cNvPr>
            <p:cNvSpPr/>
            <p:nvPr/>
          </p:nvSpPr>
          <p:spPr>
            <a:xfrm>
              <a:off x="3109265" y="1988327"/>
              <a:ext cx="320043" cy="32004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sz="1000" b="1">
                <a:latin typeface="Satoshi" pitchFamily="50" charset="0"/>
              </a:endParaRPr>
            </a:p>
          </p:txBody>
        </p:sp>
        <p:sp>
          <p:nvSpPr>
            <p:cNvPr id="309" name="3">
              <a:extLst>
                <a:ext uri="{FF2B5EF4-FFF2-40B4-BE49-F238E27FC236}">
                  <a16:creationId xmlns:a16="http://schemas.microsoft.com/office/drawing/2014/main" id="{F1C6E0CA-87BF-1B4B-EEB0-A978FEB9F8B7}"/>
                </a:ext>
              </a:extLst>
            </p:cNvPr>
            <p:cNvSpPr txBox="1"/>
            <p:nvPr/>
          </p:nvSpPr>
          <p:spPr>
            <a:xfrm>
              <a:off x="3164782" y="2001888"/>
              <a:ext cx="209010" cy="292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latin typeface="Satoshi" pitchFamily="50" charset="0"/>
                </a:rPr>
                <a:t>4</a:t>
              </a:r>
              <a:endParaRPr sz="1000">
                <a:latin typeface="Satoshi" pitchFamily="50" charset="0"/>
              </a:endParaRP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295BF14A-F1C5-7E93-DC35-1157C8FF2E68}"/>
              </a:ext>
            </a:extLst>
          </p:cNvPr>
          <p:cNvGrpSpPr/>
          <p:nvPr/>
        </p:nvGrpSpPr>
        <p:grpSpPr>
          <a:xfrm>
            <a:off x="6856070" y="1718547"/>
            <a:ext cx="1919630" cy="657624"/>
            <a:chOff x="6856070" y="1840807"/>
            <a:chExt cx="1919630" cy="657624"/>
          </a:xfrm>
        </p:grpSpPr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0247F1B-F17E-0E3E-6468-E9F3444D8605}"/>
                </a:ext>
              </a:extLst>
            </p:cNvPr>
            <p:cNvCxnSpPr>
              <a:cxnSpLocks/>
              <a:endCxn id="247" idx="1"/>
            </p:cNvCxnSpPr>
            <p:nvPr/>
          </p:nvCxnSpPr>
          <p:spPr>
            <a:xfrm>
              <a:off x="6856070" y="2046317"/>
              <a:ext cx="191963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E5940AEF-8F04-BA49-DA32-A5AB8B41C9CE}"/>
                </a:ext>
              </a:extLst>
            </p:cNvPr>
            <p:cNvSpPr txBox="1"/>
            <p:nvPr/>
          </p:nvSpPr>
          <p:spPr>
            <a:xfrm>
              <a:off x="6936393" y="2159877"/>
              <a:ext cx="1667063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Change Notification + Policy Data</a:t>
              </a:r>
              <a:b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What requirements are affected?</a:t>
              </a: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3C5C55E5-B4CF-2CA1-585A-CF94BAFA31A3}"/>
                </a:ext>
              </a:extLst>
            </p:cNvPr>
            <p:cNvGrpSpPr/>
            <p:nvPr/>
          </p:nvGrpSpPr>
          <p:grpSpPr>
            <a:xfrm>
              <a:off x="6981594" y="1840807"/>
              <a:ext cx="269016" cy="269014"/>
              <a:chOff x="3109265" y="1988327"/>
              <a:chExt cx="320043" cy="320043"/>
            </a:xfrm>
          </p:grpSpPr>
          <p:sp>
            <p:nvSpPr>
              <p:cNvPr id="316" name="Circle">
                <a:extLst>
                  <a:ext uri="{FF2B5EF4-FFF2-40B4-BE49-F238E27FC236}">
                    <a16:creationId xmlns:a16="http://schemas.microsoft.com/office/drawing/2014/main" id="{A1B91274-4BAE-0B7F-90EF-B62D1DB4A120}"/>
                  </a:ext>
                </a:extLst>
              </p:cNvPr>
              <p:cNvSpPr/>
              <p:nvPr/>
            </p:nvSpPr>
            <p:spPr>
              <a:xfrm>
                <a:off x="3109265" y="1988327"/>
                <a:ext cx="320043" cy="320043"/>
              </a:xfrm>
              <a:prstGeom prst="ellipse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200" b="1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endParaRPr sz="1000" b="1">
                  <a:latin typeface="Satoshi" pitchFamily="50" charset="0"/>
                </a:endParaRPr>
              </a:p>
            </p:txBody>
          </p:sp>
          <p:sp>
            <p:nvSpPr>
              <p:cNvPr id="317" name="3">
                <a:extLst>
                  <a:ext uri="{FF2B5EF4-FFF2-40B4-BE49-F238E27FC236}">
                    <a16:creationId xmlns:a16="http://schemas.microsoft.com/office/drawing/2014/main" id="{B7A7EC41-DCB6-D7F6-1B64-DC87C025171D}"/>
                  </a:ext>
                </a:extLst>
              </p:cNvPr>
              <p:cNvSpPr txBox="1"/>
              <p:nvPr/>
            </p:nvSpPr>
            <p:spPr>
              <a:xfrm>
                <a:off x="3164783" y="2001886"/>
                <a:ext cx="209011" cy="292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defPPr>
                  <a:defRPr lang="en-US"/>
                </a:defPPr>
                <a:lvl1pPr marL="0" algn="ctr" defTabSz="914400" rtl="0" eaLnBrk="1" latinLnBrk="0" hangingPunct="1">
                  <a:defRPr sz="1200" b="1" kern="12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>
                    <a:latin typeface="Satoshi" pitchFamily="50" charset="0"/>
                  </a:rPr>
                  <a:t>5</a:t>
                </a:r>
                <a:endParaRPr sz="1000">
                  <a:latin typeface="Satoshi" pitchFamily="50" charset="0"/>
                </a:endParaRPr>
              </a:p>
            </p:txBody>
          </p:sp>
        </p:grp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F3D03032-DB61-BB09-AC6D-4F1A1EC5DB9A}"/>
              </a:ext>
            </a:extLst>
          </p:cNvPr>
          <p:cNvGrpSpPr/>
          <p:nvPr/>
        </p:nvGrpSpPr>
        <p:grpSpPr>
          <a:xfrm>
            <a:off x="6856070" y="2734135"/>
            <a:ext cx="1919630" cy="815281"/>
            <a:chOff x="6856070" y="2734135"/>
            <a:chExt cx="1919630" cy="815281"/>
          </a:xfrm>
        </p:grpSpPr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80FB13CE-73D7-188D-7E10-FD59FD1B3148}"/>
                </a:ext>
              </a:extLst>
            </p:cNvPr>
            <p:cNvGrpSpPr/>
            <p:nvPr/>
          </p:nvGrpSpPr>
          <p:grpSpPr>
            <a:xfrm>
              <a:off x="6856070" y="2734135"/>
              <a:ext cx="1919630" cy="420956"/>
              <a:chOff x="6856070" y="2734135"/>
              <a:chExt cx="1919630" cy="420956"/>
            </a:xfrm>
          </p:grpSpPr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65285900-5A9E-E0A8-33F3-EB3231D254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6070" y="3091587"/>
                <a:ext cx="1919630" cy="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tailEnd type="arrow" w="med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497D7B55-F4D9-0805-B5D1-DCD9F631D2DF}"/>
                  </a:ext>
                </a:extLst>
              </p:cNvPr>
              <p:cNvSpPr txBox="1"/>
              <p:nvPr/>
            </p:nvSpPr>
            <p:spPr>
              <a:xfrm>
                <a:off x="6936393" y="2734135"/>
                <a:ext cx="1293207" cy="33855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Requirements Impacted By Change</a:t>
                </a:r>
              </a:p>
            </p:txBody>
          </p: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A084F272-1B6C-CB53-942B-BA69F36599F8}"/>
                  </a:ext>
                </a:extLst>
              </p:cNvPr>
              <p:cNvGrpSpPr/>
              <p:nvPr/>
            </p:nvGrpSpPr>
            <p:grpSpPr>
              <a:xfrm>
                <a:off x="8420562" y="2886077"/>
                <a:ext cx="269016" cy="269014"/>
                <a:chOff x="3109265" y="1988327"/>
                <a:chExt cx="320043" cy="320043"/>
              </a:xfrm>
            </p:grpSpPr>
            <p:sp>
              <p:nvSpPr>
                <p:cNvPr id="323" name="Circle">
                  <a:extLst>
                    <a:ext uri="{FF2B5EF4-FFF2-40B4-BE49-F238E27FC236}">
                      <a16:creationId xmlns:a16="http://schemas.microsoft.com/office/drawing/2014/main" id="{FC337328-F164-B392-A9A1-A5E473828F81}"/>
                    </a:ext>
                  </a:extLst>
                </p:cNvPr>
                <p:cNvSpPr/>
                <p:nvPr/>
              </p:nvSpPr>
              <p:spPr>
                <a:xfrm>
                  <a:off x="3109265" y="1988327"/>
                  <a:ext cx="320043" cy="320043"/>
                </a:xfrm>
                <a:prstGeom prst="ellipse">
                  <a:avLst/>
                </a:pr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1200" b="1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sz="1000" b="1">
                    <a:latin typeface="Satoshi" pitchFamily="50" charset="0"/>
                  </a:endParaRPr>
                </a:p>
              </p:txBody>
            </p:sp>
            <p:sp>
              <p:nvSpPr>
                <p:cNvPr id="324" name="3">
                  <a:extLst>
                    <a:ext uri="{FF2B5EF4-FFF2-40B4-BE49-F238E27FC236}">
                      <a16:creationId xmlns:a16="http://schemas.microsoft.com/office/drawing/2014/main" id="{8B63A1DE-B325-0484-A575-93E702A51B27}"/>
                    </a:ext>
                  </a:extLst>
                </p:cNvPr>
                <p:cNvSpPr txBox="1"/>
                <p:nvPr/>
              </p:nvSpPr>
              <p:spPr>
                <a:xfrm>
                  <a:off x="3164783" y="2001886"/>
                  <a:ext cx="209011" cy="2929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defPPr>
                    <a:defRPr lang="en-US"/>
                  </a:defPPr>
                  <a:lvl1pPr marL="0" algn="ctr" defTabSz="914400" rtl="0" eaLnBrk="1" latinLnBrk="0" hangingPunct="1">
                    <a:defRPr sz="1200" b="1" kern="120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>
                      <a:latin typeface="Satoshi" pitchFamily="50" charset="0"/>
                    </a:rPr>
                    <a:t>6</a:t>
                  </a:r>
                  <a:endParaRPr sz="1000">
                    <a:latin typeface="Satoshi" pitchFamily="50" charset="0"/>
                  </a:endParaRPr>
                </a:p>
              </p:txBody>
            </p:sp>
          </p:grp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B571691B-FC0A-B862-3822-58FBF34C956A}"/>
                </a:ext>
              </a:extLst>
            </p:cNvPr>
            <p:cNvGrpSpPr/>
            <p:nvPr/>
          </p:nvGrpSpPr>
          <p:grpSpPr>
            <a:xfrm flipH="1">
              <a:off x="6856070" y="3148990"/>
              <a:ext cx="1919630" cy="400426"/>
              <a:chOff x="6856070" y="2754665"/>
              <a:chExt cx="1919630" cy="400426"/>
            </a:xfrm>
          </p:grpSpPr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4F89A290-4AD5-7D82-0741-8903C9556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56070" y="3091587"/>
                <a:ext cx="1919630" cy="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  <a:tailEnd type="arrow" w="med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4E5EC44A-492B-951C-B158-8737F481063B}"/>
                  </a:ext>
                </a:extLst>
              </p:cNvPr>
              <p:cNvSpPr txBox="1"/>
              <p:nvPr/>
            </p:nvSpPr>
            <p:spPr>
              <a:xfrm>
                <a:off x="7001514" y="2754665"/>
                <a:ext cx="1354109" cy="33855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Requirements — Which LOBs are impacted?</a:t>
                </a:r>
              </a:p>
            </p:txBody>
          </p: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19661CB6-5E3C-8791-916C-6A49C98A8DE8}"/>
                  </a:ext>
                </a:extLst>
              </p:cNvPr>
              <p:cNvGrpSpPr/>
              <p:nvPr/>
            </p:nvGrpSpPr>
            <p:grpSpPr>
              <a:xfrm>
                <a:off x="8420562" y="2886077"/>
                <a:ext cx="269016" cy="269014"/>
                <a:chOff x="3109265" y="1988327"/>
                <a:chExt cx="320043" cy="320043"/>
              </a:xfrm>
            </p:grpSpPr>
            <p:sp>
              <p:nvSpPr>
                <p:cNvPr id="331" name="Circle">
                  <a:extLst>
                    <a:ext uri="{FF2B5EF4-FFF2-40B4-BE49-F238E27FC236}">
                      <a16:creationId xmlns:a16="http://schemas.microsoft.com/office/drawing/2014/main" id="{1E616C6E-2994-3EC0-0A3A-86550DFB9360}"/>
                    </a:ext>
                  </a:extLst>
                </p:cNvPr>
                <p:cNvSpPr/>
                <p:nvPr/>
              </p:nvSpPr>
              <p:spPr>
                <a:xfrm>
                  <a:off x="3109265" y="1988327"/>
                  <a:ext cx="320043" cy="320043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12700" cap="flat">
                  <a:noFill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1200" b="1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sz="1000" b="1">
                    <a:latin typeface="Satoshi" pitchFamily="50" charset="0"/>
                  </a:endParaRPr>
                </a:p>
              </p:txBody>
            </p:sp>
            <p:sp>
              <p:nvSpPr>
                <p:cNvPr id="332" name="3">
                  <a:extLst>
                    <a:ext uri="{FF2B5EF4-FFF2-40B4-BE49-F238E27FC236}">
                      <a16:creationId xmlns:a16="http://schemas.microsoft.com/office/drawing/2014/main" id="{BA8392E0-29A5-3EE7-BEC6-C7B5B4954AC0}"/>
                    </a:ext>
                  </a:extLst>
                </p:cNvPr>
                <p:cNvSpPr txBox="1"/>
                <p:nvPr/>
              </p:nvSpPr>
              <p:spPr>
                <a:xfrm>
                  <a:off x="3173365" y="2001886"/>
                  <a:ext cx="191848" cy="2929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defPPr>
                    <a:defRPr lang="en-US"/>
                  </a:defPPr>
                  <a:lvl1pPr marL="0" algn="ctr" defTabSz="914400" rtl="0" eaLnBrk="1" latinLnBrk="0" hangingPunct="1">
                    <a:defRPr sz="1200" b="1" kern="120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>
                      <a:latin typeface="Satoshi" pitchFamily="50" charset="0"/>
                    </a:rPr>
                    <a:t>7</a:t>
                  </a:r>
                  <a:endParaRPr sz="1000">
                    <a:latin typeface="Satoshi" pitchFamily="50" charset="0"/>
                  </a:endParaRPr>
                </a:p>
              </p:txBody>
            </p:sp>
          </p:grpSp>
        </p:grp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36A61059-F94E-EE55-8096-7032554B0DD0}"/>
              </a:ext>
            </a:extLst>
          </p:cNvPr>
          <p:cNvGrpSpPr/>
          <p:nvPr/>
        </p:nvGrpSpPr>
        <p:grpSpPr>
          <a:xfrm>
            <a:off x="6856070" y="4347784"/>
            <a:ext cx="1919630" cy="307649"/>
            <a:chOff x="6856070" y="2847442"/>
            <a:chExt cx="1919630" cy="307649"/>
          </a:xfrm>
        </p:grpSpPr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004F9DB6-B19E-77C6-5A29-D3928999E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6070" y="3091587"/>
              <a:ext cx="191963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8E4D051-E212-0255-E874-F149770C4F60}"/>
                </a:ext>
              </a:extLst>
            </p:cNvPr>
            <p:cNvSpPr txBox="1"/>
            <p:nvPr/>
          </p:nvSpPr>
          <p:spPr>
            <a:xfrm>
              <a:off x="6936393" y="2847442"/>
              <a:ext cx="1293207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Requirements by LOB</a:t>
              </a:r>
            </a:p>
          </p:txBody>
        </p: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9C096BF0-EC30-82DF-515C-2F0E9380B703}"/>
                </a:ext>
              </a:extLst>
            </p:cNvPr>
            <p:cNvGrpSpPr/>
            <p:nvPr/>
          </p:nvGrpSpPr>
          <p:grpSpPr>
            <a:xfrm>
              <a:off x="8420562" y="2886077"/>
              <a:ext cx="269016" cy="269014"/>
              <a:chOff x="3109265" y="1988327"/>
              <a:chExt cx="320043" cy="320043"/>
            </a:xfrm>
          </p:grpSpPr>
          <p:sp>
            <p:nvSpPr>
              <p:cNvPr id="346" name="Circle">
                <a:extLst>
                  <a:ext uri="{FF2B5EF4-FFF2-40B4-BE49-F238E27FC236}">
                    <a16:creationId xmlns:a16="http://schemas.microsoft.com/office/drawing/2014/main" id="{C9906C0E-A7F2-FB74-8764-740ED3E398A2}"/>
                  </a:ext>
                </a:extLst>
              </p:cNvPr>
              <p:cNvSpPr/>
              <p:nvPr/>
            </p:nvSpPr>
            <p:spPr>
              <a:xfrm>
                <a:off x="3109265" y="1988327"/>
                <a:ext cx="320043" cy="320043"/>
              </a:xfrm>
              <a:prstGeom prst="ellipse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200" b="1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endParaRPr sz="1000" b="1">
                  <a:latin typeface="Satoshi" pitchFamily="50" charset="0"/>
                </a:endParaRPr>
              </a:p>
            </p:txBody>
          </p:sp>
          <p:sp>
            <p:nvSpPr>
              <p:cNvPr id="347" name="3">
                <a:extLst>
                  <a:ext uri="{FF2B5EF4-FFF2-40B4-BE49-F238E27FC236}">
                    <a16:creationId xmlns:a16="http://schemas.microsoft.com/office/drawing/2014/main" id="{DF9C1DCB-79B5-F2C8-74B7-456C79BB33E3}"/>
                  </a:ext>
                </a:extLst>
              </p:cNvPr>
              <p:cNvSpPr txBox="1"/>
              <p:nvPr/>
            </p:nvSpPr>
            <p:spPr>
              <a:xfrm>
                <a:off x="3164783" y="2001886"/>
                <a:ext cx="209011" cy="292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defPPr>
                  <a:defRPr lang="en-US"/>
                </a:defPPr>
                <a:lvl1pPr marL="0" algn="ctr" defTabSz="914400" rtl="0" eaLnBrk="1" latinLnBrk="0" hangingPunct="1">
                  <a:defRPr sz="1200" b="1" kern="12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>
                    <a:latin typeface="Satoshi" pitchFamily="50" charset="0"/>
                  </a:rPr>
                  <a:t>8</a:t>
                </a:r>
                <a:endParaRPr sz="1000">
                  <a:latin typeface="Satoshi" pitchFamily="50" charset="0"/>
                </a:endParaRPr>
              </a:p>
            </p:txBody>
          </p:sp>
        </p:grp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E2F86C5C-5C0A-5013-4186-C1B4C7078730}"/>
              </a:ext>
            </a:extLst>
          </p:cNvPr>
          <p:cNvGrpSpPr/>
          <p:nvPr/>
        </p:nvGrpSpPr>
        <p:grpSpPr>
          <a:xfrm flipH="1">
            <a:off x="6856070" y="4649332"/>
            <a:ext cx="1919630" cy="400426"/>
            <a:chOff x="6856070" y="2754665"/>
            <a:chExt cx="1919630" cy="400426"/>
          </a:xfrm>
        </p:grpSpPr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0904F699-640C-9FF1-A963-30D4E3547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6070" y="3091587"/>
              <a:ext cx="191963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6A1754D3-4CD8-2A48-366E-ECD6CE4AFF2E}"/>
                </a:ext>
              </a:extLst>
            </p:cNvPr>
            <p:cNvSpPr txBox="1"/>
            <p:nvPr/>
          </p:nvSpPr>
          <p:spPr>
            <a:xfrm>
              <a:off x="7001514" y="2754665"/>
              <a:ext cx="1354109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LOBs + Requirements — Is LOB affected?</a:t>
              </a:r>
            </a:p>
          </p:txBody>
        </p: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821914C9-40A7-A468-162B-7EB012E9C9D4}"/>
                </a:ext>
              </a:extLst>
            </p:cNvPr>
            <p:cNvGrpSpPr/>
            <p:nvPr/>
          </p:nvGrpSpPr>
          <p:grpSpPr>
            <a:xfrm>
              <a:off x="8420562" y="2886077"/>
              <a:ext cx="269016" cy="269014"/>
              <a:chOff x="3109265" y="1988327"/>
              <a:chExt cx="320043" cy="320043"/>
            </a:xfrm>
          </p:grpSpPr>
          <p:sp>
            <p:nvSpPr>
              <p:cNvPr id="341" name="Circle">
                <a:extLst>
                  <a:ext uri="{FF2B5EF4-FFF2-40B4-BE49-F238E27FC236}">
                    <a16:creationId xmlns:a16="http://schemas.microsoft.com/office/drawing/2014/main" id="{92197AEF-195A-5BC6-11B2-54DA6F966D00}"/>
                  </a:ext>
                </a:extLst>
              </p:cNvPr>
              <p:cNvSpPr/>
              <p:nvPr/>
            </p:nvSpPr>
            <p:spPr>
              <a:xfrm>
                <a:off x="3109265" y="1988327"/>
                <a:ext cx="320043" cy="320043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 cap="flat">
                <a:noFill/>
                <a:miter lim="400000"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200" b="1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endParaRPr sz="1000" b="1">
                  <a:latin typeface="Satoshi" pitchFamily="50" charset="0"/>
                </a:endParaRPr>
              </a:p>
            </p:txBody>
          </p:sp>
          <p:sp>
            <p:nvSpPr>
              <p:cNvPr id="342" name="3">
                <a:extLst>
                  <a:ext uri="{FF2B5EF4-FFF2-40B4-BE49-F238E27FC236}">
                    <a16:creationId xmlns:a16="http://schemas.microsoft.com/office/drawing/2014/main" id="{B5C2A95D-3BE7-EB5A-E48D-402B3B499105}"/>
                  </a:ext>
                </a:extLst>
              </p:cNvPr>
              <p:cNvSpPr txBox="1"/>
              <p:nvPr/>
            </p:nvSpPr>
            <p:spPr>
              <a:xfrm>
                <a:off x="3164783" y="2001886"/>
                <a:ext cx="209011" cy="292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defPPr>
                  <a:defRPr lang="en-US"/>
                </a:defPPr>
                <a:lvl1pPr marL="0" algn="ctr" defTabSz="914400" rtl="0" eaLnBrk="1" latinLnBrk="0" hangingPunct="1">
                  <a:defRPr sz="1200" b="1" kern="12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>
                    <a:latin typeface="Satoshi" pitchFamily="50" charset="0"/>
                  </a:rPr>
                  <a:t>9</a:t>
                </a:r>
                <a:endParaRPr sz="1000">
                  <a:latin typeface="Satoshi" pitchFamily="50" charset="0"/>
                </a:endParaRPr>
              </a:p>
            </p:txBody>
          </p:sp>
        </p:grp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86286BDA-1AB3-CEDC-BCFA-1FF8A152BD55}"/>
              </a:ext>
            </a:extLst>
          </p:cNvPr>
          <p:cNvGrpSpPr/>
          <p:nvPr/>
        </p:nvGrpSpPr>
        <p:grpSpPr>
          <a:xfrm>
            <a:off x="6769001" y="5793894"/>
            <a:ext cx="2006699" cy="269014"/>
            <a:chOff x="6769001" y="2886077"/>
            <a:chExt cx="2006699" cy="269014"/>
          </a:xfrm>
        </p:grpSpPr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9E121113-CDA3-8836-07A1-0930EA3811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6070" y="3091587"/>
              <a:ext cx="1919630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tailEnd type="arrow" w="med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2A918053-FFC3-0C3C-A9F0-4F370CD80FE0}"/>
                </a:ext>
              </a:extLst>
            </p:cNvPr>
            <p:cNvSpPr txBox="1"/>
            <p:nvPr/>
          </p:nvSpPr>
          <p:spPr>
            <a:xfrm>
              <a:off x="6769001" y="2909584"/>
              <a:ext cx="1627989" cy="2154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spcBef>
                  <a:spcPts val="600"/>
                </a:spcBef>
                <a:buClr>
                  <a:srgbClr val="008DB9"/>
                </a:buClr>
              </a:pPr>
              <a:r>
                <a:rPr lang="en-US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LOB Applicability + Rationale</a:t>
              </a: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A200FCCE-2F3F-6FB8-1576-9707DFFB2B5E}"/>
                </a:ext>
              </a:extLst>
            </p:cNvPr>
            <p:cNvGrpSpPr/>
            <p:nvPr/>
          </p:nvGrpSpPr>
          <p:grpSpPr>
            <a:xfrm>
              <a:off x="8420562" y="2886077"/>
              <a:ext cx="269016" cy="269014"/>
              <a:chOff x="3109265" y="1988327"/>
              <a:chExt cx="320043" cy="320043"/>
            </a:xfrm>
          </p:grpSpPr>
          <p:sp>
            <p:nvSpPr>
              <p:cNvPr id="352" name="Circle">
                <a:extLst>
                  <a:ext uri="{FF2B5EF4-FFF2-40B4-BE49-F238E27FC236}">
                    <a16:creationId xmlns:a16="http://schemas.microsoft.com/office/drawing/2014/main" id="{0F0ED5B5-F64D-8A50-B99A-1E003897A3E6}"/>
                  </a:ext>
                </a:extLst>
              </p:cNvPr>
              <p:cNvSpPr/>
              <p:nvPr/>
            </p:nvSpPr>
            <p:spPr>
              <a:xfrm>
                <a:off x="3109265" y="1988327"/>
                <a:ext cx="320043" cy="320043"/>
              </a:xfrm>
              <a:prstGeom prst="ellipse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defRPr sz="1200" b="1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endParaRPr sz="1000" b="1">
                  <a:latin typeface="Satoshi" pitchFamily="50" charset="0"/>
                </a:endParaRPr>
              </a:p>
            </p:txBody>
          </p:sp>
          <p:sp>
            <p:nvSpPr>
              <p:cNvPr id="353" name="3">
                <a:extLst>
                  <a:ext uri="{FF2B5EF4-FFF2-40B4-BE49-F238E27FC236}">
                    <a16:creationId xmlns:a16="http://schemas.microsoft.com/office/drawing/2014/main" id="{A1E2C92F-9C08-6E80-2105-88F381A13FFA}"/>
                  </a:ext>
                </a:extLst>
              </p:cNvPr>
              <p:cNvSpPr txBox="1"/>
              <p:nvPr/>
            </p:nvSpPr>
            <p:spPr>
              <a:xfrm>
                <a:off x="3132782" y="2001886"/>
                <a:ext cx="277665" cy="292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defPPr>
                  <a:defRPr lang="en-US"/>
                </a:defPPr>
                <a:lvl1pPr marL="0" algn="ctr" defTabSz="914400" rtl="0" eaLnBrk="1" latinLnBrk="0" hangingPunct="1">
                  <a:defRPr sz="1200" b="1" kern="120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000">
                    <a:latin typeface="Satoshi" pitchFamily="50" charset="0"/>
                  </a:rPr>
                  <a:t>10</a:t>
                </a:r>
                <a:endParaRPr sz="1000">
                  <a:latin typeface="Satoshi" pitchFamily="50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4881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24CC51-7CF5-6433-1FEE-60B283F3A540}"/>
              </a:ext>
            </a:extLst>
          </p:cNvPr>
          <p:cNvGrpSpPr/>
          <p:nvPr/>
        </p:nvGrpSpPr>
        <p:grpSpPr>
          <a:xfrm>
            <a:off x="320040" y="103392"/>
            <a:ext cx="7551420" cy="461665"/>
            <a:chOff x="320040" y="103392"/>
            <a:chExt cx="7551420" cy="4616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7AD6114-C935-5E47-6ADB-D70EBA66D926}"/>
                </a:ext>
              </a:extLst>
            </p:cNvPr>
            <p:cNvSpPr txBox="1"/>
            <p:nvPr/>
          </p:nvSpPr>
          <p:spPr>
            <a:xfrm>
              <a:off x="320040" y="103392"/>
              <a:ext cx="7551420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24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Space Grotesk" pitchFamily="2" charset="0"/>
                </a:rPr>
                <a:t>Policy Change — Analyst Review &amp; GAIP Assessment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45B3CF8-B9F6-3B4D-D6C2-96F3318B2C60}"/>
                </a:ext>
              </a:extLst>
            </p:cNvPr>
            <p:cNvCxnSpPr>
              <a:cxnSpLocks/>
            </p:cNvCxnSpPr>
            <p:nvPr/>
          </p:nvCxnSpPr>
          <p:spPr>
            <a:xfrm>
              <a:off x="4006691" y="565057"/>
              <a:ext cx="3270409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41CD0F-D4CF-939C-4850-B25DA790426B}"/>
              </a:ext>
            </a:extLst>
          </p:cNvPr>
          <p:cNvSpPr txBox="1"/>
          <p:nvPr/>
        </p:nvSpPr>
        <p:spPr>
          <a:xfrm>
            <a:off x="320040" y="598427"/>
            <a:ext cx="7909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buClr>
                <a:srgbClr val="008DB9"/>
              </a:buClr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rPr>
              <a:t>Applicability output from Diagram 2 - Power Platform analyst workflow - Applicability document stored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68FBF3-1926-9307-1466-AD0DE5089F71}"/>
              </a:ext>
            </a:extLst>
          </p:cNvPr>
          <p:cNvGrpSpPr/>
          <p:nvPr/>
        </p:nvGrpSpPr>
        <p:grpSpPr>
          <a:xfrm>
            <a:off x="-104775" y="1064822"/>
            <a:ext cx="12401550" cy="5321335"/>
            <a:chOff x="-104775" y="1152036"/>
            <a:chExt cx="12401550" cy="5321335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8329F97-FD09-6BBB-1835-9804469A90FA}"/>
                </a:ext>
              </a:extLst>
            </p:cNvPr>
            <p:cNvSpPr/>
            <p:nvPr/>
          </p:nvSpPr>
          <p:spPr>
            <a:xfrm>
              <a:off x="-104775" y="1152036"/>
              <a:ext cx="12401550" cy="5321335"/>
            </a:xfrm>
            <a:prstGeom prst="rect">
              <a:avLst/>
            </a:prstGeom>
            <a:solidFill>
              <a:schemeClr val="tx1">
                <a:alpha val="5000"/>
              </a:schemeClr>
            </a:solidFill>
            <a:ln w="6350" cmpd="sng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83FC4662-A3D7-546B-052B-48BEB8FB682B}"/>
                </a:ext>
              </a:extLst>
            </p:cNvPr>
            <p:cNvGrpSpPr/>
            <p:nvPr/>
          </p:nvGrpSpPr>
          <p:grpSpPr>
            <a:xfrm>
              <a:off x="419099" y="1366907"/>
              <a:ext cx="11353802" cy="4891592"/>
              <a:chOff x="419099" y="1367981"/>
              <a:chExt cx="11353802" cy="489159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EE0100-3A67-54C2-2CF9-EF68FC2D88BE}"/>
                  </a:ext>
                </a:extLst>
              </p:cNvPr>
              <p:cNvSpPr txBox="1"/>
              <p:nvPr/>
            </p:nvSpPr>
            <p:spPr>
              <a:xfrm>
                <a:off x="419101" y="1367981"/>
                <a:ext cx="11353800" cy="276999"/>
              </a:xfrm>
              <a:prstGeom prst="rect">
                <a:avLst/>
              </a:prstGeom>
              <a:solidFill>
                <a:schemeClr val="accent1">
                  <a:alpha val="5000"/>
                </a:schemeClr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120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Power Platform</a:t>
                </a: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2D2B91D6-72A3-3A61-2C1D-D78966DF1057}"/>
                  </a:ext>
                </a:extLst>
              </p:cNvPr>
              <p:cNvGrpSpPr/>
              <p:nvPr/>
            </p:nvGrpSpPr>
            <p:grpSpPr>
              <a:xfrm>
                <a:off x="419099" y="1854200"/>
                <a:ext cx="11319536" cy="4405373"/>
                <a:chOff x="419099" y="1854200"/>
                <a:chExt cx="11319536" cy="4405373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048A7BA2-F9F3-A60B-080B-44D7ED3B3694}"/>
                    </a:ext>
                  </a:extLst>
                </p:cNvPr>
                <p:cNvSpPr/>
                <p:nvPr/>
              </p:nvSpPr>
              <p:spPr>
                <a:xfrm>
                  <a:off x="419099" y="2439059"/>
                  <a:ext cx="2452715" cy="3235654"/>
                </a:xfrm>
                <a:prstGeom prst="roundRect">
                  <a:avLst>
                    <a:gd name="adj" fmla="val 2509"/>
                  </a:avLst>
                </a:prstGeom>
                <a:solidFill>
                  <a:schemeClr val="accent1">
                    <a:alpha val="5000"/>
                  </a:schemeClr>
                </a:solidFill>
                <a:ln w="6350">
                  <a:solidFill>
                    <a:schemeClr val="accent3"/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A14C2C12-5040-6EA6-1235-AC7D4A5EBC29}"/>
                    </a:ext>
                  </a:extLst>
                </p:cNvPr>
                <p:cNvSpPr/>
                <p:nvPr/>
              </p:nvSpPr>
              <p:spPr>
                <a:xfrm>
                  <a:off x="499821" y="2521129"/>
                  <a:ext cx="2291270" cy="573388"/>
                </a:xfrm>
                <a:prstGeom prst="roundRect">
                  <a:avLst>
                    <a:gd name="adj" fmla="val 10858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0D75B24-22FA-2601-EF75-00AD7ADE5788}"/>
                    </a:ext>
                  </a:extLst>
                </p:cNvPr>
                <p:cNvSpPr txBox="1"/>
                <p:nvPr/>
              </p:nvSpPr>
              <p:spPr>
                <a:xfrm>
                  <a:off x="1083169" y="2669322"/>
                  <a:ext cx="1416845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Dataverse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F661D92-B547-6507-F846-FEE7B93D1CC4}"/>
                    </a:ext>
                  </a:extLst>
                </p:cNvPr>
                <p:cNvSpPr/>
                <p:nvPr/>
              </p:nvSpPr>
              <p:spPr>
                <a:xfrm>
                  <a:off x="634656" y="2615148"/>
                  <a:ext cx="385348" cy="385348"/>
                </a:xfrm>
                <a:prstGeom prst="ellipse">
                  <a:avLst/>
                </a:prstGeom>
                <a:solidFill>
                  <a:schemeClr val="bg1">
                    <a:alpha val="1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5BB2066-4067-AA30-018D-3B76F2ABDACA}"/>
                    </a:ext>
                  </a:extLst>
                </p:cNvPr>
                <p:cNvSpPr/>
                <p:nvPr/>
              </p:nvSpPr>
              <p:spPr>
                <a:xfrm>
                  <a:off x="667388" y="2647880"/>
                  <a:ext cx="319885" cy="319883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pic>
              <p:nvPicPr>
                <p:cNvPr id="24" name="Graphic 23">
                  <a:extLst>
                    <a:ext uri="{FF2B5EF4-FFF2-40B4-BE49-F238E27FC236}">
                      <a16:creationId xmlns:a16="http://schemas.microsoft.com/office/drawing/2014/main" id="{55F721B8-1692-E748-D1E4-E3BCE41751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/>
                <a:stretch/>
              </p:blipFill>
              <p:spPr>
                <a:xfrm>
                  <a:off x="742941" y="2723433"/>
                  <a:ext cx="168777" cy="168777"/>
                </a:xfrm>
                <a:prstGeom prst="rect">
                  <a:avLst/>
                </a:prstGeom>
              </p:spPr>
            </p:pic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E94D2E7-B6C6-CFD0-767D-6C7FEDE6CE57}"/>
                    </a:ext>
                  </a:extLst>
                </p:cNvPr>
                <p:cNvSpPr txBox="1"/>
                <p:nvPr/>
              </p:nvSpPr>
              <p:spPr>
                <a:xfrm>
                  <a:off x="481461" y="3127249"/>
                  <a:ext cx="2291270" cy="246221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accent3"/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Output from Policy Change Pipeline</a:t>
                  </a: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FEE7662E-7238-1F5C-BCB4-64D65BC3A6D0}"/>
                    </a:ext>
                  </a:extLst>
                </p:cNvPr>
                <p:cNvSpPr/>
                <p:nvPr/>
              </p:nvSpPr>
              <p:spPr>
                <a:xfrm>
                  <a:off x="499821" y="4239138"/>
                  <a:ext cx="2291270" cy="573388"/>
                </a:xfrm>
                <a:prstGeom prst="roundRect">
                  <a:avLst>
                    <a:gd name="adj" fmla="val 10858"/>
                  </a:avLst>
                </a:prstGeom>
                <a:solidFill>
                  <a:schemeClr val="tx1">
                    <a:alpha val="10000"/>
                  </a:schemeClr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B5940CF-53FC-6269-F415-5D957F8D8FE6}"/>
                    </a:ext>
                  </a:extLst>
                </p:cNvPr>
                <p:cNvSpPr txBox="1"/>
                <p:nvPr/>
              </p:nvSpPr>
              <p:spPr>
                <a:xfrm>
                  <a:off x="499821" y="4931747"/>
                  <a:ext cx="2272910" cy="553998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This diagram continues the assessment pipeline after AI decisions are stored in Dataverse.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5E7FCC5-538E-2710-756A-B2D1D80E1369}"/>
                    </a:ext>
                  </a:extLst>
                </p:cNvPr>
                <p:cNvSpPr txBox="1"/>
                <p:nvPr/>
              </p:nvSpPr>
              <p:spPr>
                <a:xfrm>
                  <a:off x="645360" y="4295000"/>
                  <a:ext cx="2000193" cy="461665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LOB: Requirement - Is Impacted? - Reason</a:t>
                  </a:r>
                </a:p>
              </p:txBody>
            </p: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55FB551C-880E-CC59-8D66-DE4BF5BF3929}"/>
                    </a:ext>
                  </a:extLst>
                </p:cNvPr>
                <p:cNvGrpSpPr/>
                <p:nvPr/>
              </p:nvGrpSpPr>
              <p:grpSpPr>
                <a:xfrm>
                  <a:off x="529396" y="3579123"/>
                  <a:ext cx="411856" cy="411856"/>
                  <a:chOff x="547279" y="3572300"/>
                  <a:chExt cx="560102" cy="560102"/>
                </a:xfrm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94B49D9-A05C-C221-AE83-B0623A0C25B0}"/>
                      </a:ext>
                    </a:extLst>
                  </p:cNvPr>
                  <p:cNvSpPr/>
                  <p:nvPr/>
                </p:nvSpPr>
                <p:spPr>
                  <a:xfrm>
                    <a:off x="547279" y="3572300"/>
                    <a:ext cx="560102" cy="560102"/>
                  </a:xfrm>
                  <a:prstGeom prst="ellipse">
                    <a:avLst/>
                  </a:prstGeom>
                  <a:solidFill>
                    <a:schemeClr val="accent3">
                      <a:alpha val="10000"/>
                    </a:schemeClr>
                  </a:solidFill>
                  <a:ln w="19050">
                    <a:noFill/>
                  </a:ln>
                  <a:effectLst>
                    <a:outerShdw blurRad="114300" dist="38100" dir="2700000" sx="101000" sy="101000" algn="tl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LID4096" sz="4050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5CFB3E3-AD5F-8A61-EC6D-24202176D1AD}"/>
                      </a:ext>
                    </a:extLst>
                  </p:cNvPr>
                  <p:cNvSpPr/>
                  <p:nvPr/>
                </p:nvSpPr>
                <p:spPr>
                  <a:xfrm>
                    <a:off x="594855" y="3619876"/>
                    <a:ext cx="464952" cy="464949"/>
                  </a:xfrm>
                  <a:prstGeom prst="ellipse">
                    <a:avLst/>
                  </a:prstGeom>
                  <a:solidFill>
                    <a:schemeClr val="accent3"/>
                  </a:solidFill>
                  <a:ln w="19050">
                    <a:noFill/>
                  </a:ln>
                  <a:effectLst>
                    <a:outerShdw blurRad="114300" dist="38100" dir="2700000" sx="101000" sy="101000" algn="tl" rotWithShape="0">
                      <a:prstClr val="black">
                        <a:alpha val="15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LID4096" sz="4050"/>
                  </a:p>
                </p:txBody>
              </p:sp>
              <p:pic>
                <p:nvPicPr>
                  <p:cNvPr id="31" name="Graphic 30">
                    <a:extLst>
                      <a:ext uri="{FF2B5EF4-FFF2-40B4-BE49-F238E27FC236}">
                        <a16:creationId xmlns:a16="http://schemas.microsoft.com/office/drawing/2014/main" id="{F42DBC92-2D4E-6F56-04F6-3176150C94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704671" y="3729692"/>
                    <a:ext cx="245317" cy="24531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3BDFA3E4-4D72-AFE3-1748-04154DD2BCC0}"/>
                    </a:ext>
                  </a:extLst>
                </p:cNvPr>
                <p:cNvGrpSpPr/>
                <p:nvPr/>
              </p:nvGrpSpPr>
              <p:grpSpPr>
                <a:xfrm>
                  <a:off x="987019" y="3479994"/>
                  <a:ext cx="1774498" cy="610115"/>
                  <a:chOff x="957485" y="3578650"/>
                  <a:chExt cx="1774498" cy="610115"/>
                </a:xfrm>
              </p:grpSpPr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D7A81CBF-6D08-4EAA-15E8-4163D0969B56}"/>
                      </a:ext>
                    </a:extLst>
                  </p:cNvPr>
                  <p:cNvSpPr txBox="1"/>
                  <p:nvPr/>
                </p:nvSpPr>
                <p:spPr>
                  <a:xfrm>
                    <a:off x="957485" y="3942544"/>
                    <a:ext cx="1774498" cy="246221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accent3"/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Stored by Diagram 2 Pipeline</a:t>
                    </a:r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190854B-2AA8-FAC5-D6BC-812336452672}"/>
                      </a:ext>
                    </a:extLst>
                  </p:cNvPr>
                  <p:cNvSpPr txBox="1"/>
                  <p:nvPr/>
                </p:nvSpPr>
                <p:spPr>
                  <a:xfrm>
                    <a:off x="975511" y="3578650"/>
                    <a:ext cx="1484865" cy="400110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Applicability Decisions (Yes/No) + Rationale</a:t>
                    </a:r>
                  </a:p>
                </p:txBody>
              </p:sp>
            </p:grpSp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6C83129C-23ED-C8F8-04B3-0A2D5E535B69}"/>
                    </a:ext>
                  </a:extLst>
                </p:cNvPr>
                <p:cNvSpPr/>
                <p:nvPr/>
              </p:nvSpPr>
              <p:spPr>
                <a:xfrm>
                  <a:off x="3794246" y="1854200"/>
                  <a:ext cx="2379394" cy="4405373"/>
                </a:xfrm>
                <a:prstGeom prst="roundRect">
                  <a:avLst>
                    <a:gd name="adj" fmla="val 2509"/>
                  </a:avLst>
                </a:prstGeom>
                <a:solidFill>
                  <a:schemeClr val="bg1"/>
                </a:solidFill>
                <a:ln w="6350">
                  <a:solidFill>
                    <a:schemeClr val="accent2"/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8185F4F-EE5B-83F8-5539-1CF26855BCCF}"/>
                    </a:ext>
                  </a:extLst>
                </p:cNvPr>
                <p:cNvGrpSpPr/>
                <p:nvPr/>
              </p:nvGrpSpPr>
              <p:grpSpPr>
                <a:xfrm>
                  <a:off x="5842223" y="1939534"/>
                  <a:ext cx="269018" cy="269016"/>
                  <a:chOff x="3109265" y="1988327"/>
                  <a:chExt cx="320043" cy="320043"/>
                </a:xfrm>
              </p:grpSpPr>
              <p:sp>
                <p:nvSpPr>
                  <p:cNvPr id="46" name="Circle">
                    <a:extLst>
                      <a:ext uri="{FF2B5EF4-FFF2-40B4-BE49-F238E27FC236}">
                        <a16:creationId xmlns:a16="http://schemas.microsoft.com/office/drawing/2014/main" id="{23D5EC52-DC2E-9DB4-159E-59B7EF504053}"/>
                      </a:ext>
                    </a:extLst>
                  </p:cNvPr>
                  <p:cNvSpPr/>
                  <p:nvPr/>
                </p:nvSpPr>
                <p:spPr>
                  <a:xfrm>
                    <a:off x="3109265" y="1988327"/>
                    <a:ext cx="320043" cy="320043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12700" cap="flat">
                    <a:noFill/>
                    <a:miter lim="400000"/>
                  </a:ln>
                  <a:effectLst>
                    <a:outerShdw blurRad="381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 sz="1200" b="1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pPr>
                    <a:endParaRPr sz="1000" b="1">
                      <a:latin typeface="Satoshi" pitchFamily="50" charset="0"/>
                    </a:endParaRPr>
                  </a:p>
                </p:txBody>
              </p:sp>
              <p:sp>
                <p:nvSpPr>
                  <p:cNvPr id="47" name="3">
                    <a:extLst>
                      <a:ext uri="{FF2B5EF4-FFF2-40B4-BE49-F238E27FC236}">
                        <a16:creationId xmlns:a16="http://schemas.microsoft.com/office/drawing/2014/main" id="{234E2EF8-DAF3-3725-E7D1-093194036FC9}"/>
                      </a:ext>
                    </a:extLst>
                  </p:cNvPr>
                  <p:cNvSpPr txBox="1"/>
                  <p:nvPr/>
                </p:nvSpPr>
                <p:spPr>
                  <a:xfrm>
                    <a:off x="3169549" y="2001888"/>
                    <a:ext cx="199476" cy="29292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45719" tIns="45719" rIns="45719" bIns="45719" numCol="1" anchor="ctr">
                    <a:spAutoFit/>
                  </a:bodyPr>
                  <a:lstStyle>
                    <a:defPPr>
                      <a:defRPr lang="en-US"/>
                    </a:defPPr>
                    <a:lvl1pPr marL="0" algn="ctr" defTabSz="914400" rtl="0" eaLnBrk="1" latinLnBrk="0" hangingPunct="1">
                      <a:defRPr sz="1200" b="1" kern="1200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000">
                        <a:latin typeface="Satoshi" pitchFamily="50" charset="0"/>
                      </a:rPr>
                      <a:t>2</a:t>
                    </a:r>
                    <a:endParaRPr sz="1000">
                      <a:latin typeface="Satoshi" pitchFamily="50" charset="0"/>
                    </a:endParaRPr>
                  </a:p>
                </p:txBody>
              </p:sp>
            </p:grp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2091E1A-BCDF-E4FC-1AAF-5ED986277907}"/>
                    </a:ext>
                  </a:extLst>
                </p:cNvPr>
                <p:cNvSpPr/>
                <p:nvPr/>
              </p:nvSpPr>
              <p:spPr>
                <a:xfrm>
                  <a:off x="4605309" y="2289131"/>
                  <a:ext cx="757266" cy="757266"/>
                </a:xfrm>
                <a:prstGeom prst="ellipse">
                  <a:avLst/>
                </a:prstGeom>
                <a:solidFill>
                  <a:schemeClr val="accent4">
                    <a:alpha val="1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A6C1505-1133-4C03-6F42-48DAE790BC61}"/>
                    </a:ext>
                  </a:extLst>
                </p:cNvPr>
                <p:cNvSpPr/>
                <p:nvPr/>
              </p:nvSpPr>
              <p:spPr>
                <a:xfrm>
                  <a:off x="4669632" y="2353455"/>
                  <a:ext cx="628620" cy="628617"/>
                </a:xfrm>
                <a:prstGeom prst="ellipse">
                  <a:avLst/>
                </a:prstGeom>
                <a:solidFill>
                  <a:schemeClr val="accent4"/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pic>
              <p:nvPicPr>
                <p:cNvPr id="51" name="Graphic 50">
                  <a:extLst>
                    <a:ext uri="{FF2B5EF4-FFF2-40B4-BE49-F238E27FC236}">
                      <a16:creationId xmlns:a16="http://schemas.microsoft.com/office/drawing/2014/main" id="{13C7AE73-577E-5129-1802-1BDD281AEC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4826877" y="2510699"/>
                  <a:ext cx="314129" cy="314129"/>
                </a:xfrm>
                <a:prstGeom prst="rect">
                  <a:avLst/>
                </a:prstGeom>
              </p:spPr>
            </p:pic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FEB0F226-924E-32B3-29F6-D6D373C2BCCC}"/>
                    </a:ext>
                  </a:extLst>
                </p:cNvPr>
                <p:cNvSpPr/>
                <p:nvPr/>
              </p:nvSpPr>
              <p:spPr>
                <a:xfrm>
                  <a:off x="3849270" y="5453063"/>
                  <a:ext cx="2269346" cy="737544"/>
                </a:xfrm>
                <a:prstGeom prst="roundRect">
                  <a:avLst>
                    <a:gd name="adj" fmla="val 6509"/>
                  </a:avLst>
                </a:prstGeom>
                <a:solidFill>
                  <a:schemeClr val="accent1">
                    <a:alpha val="5000"/>
                  </a:schemeClr>
                </a:solidFill>
                <a:ln w="6350">
                  <a:solidFill>
                    <a:schemeClr val="accent3"/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0852DD4-450A-2836-8B94-9892D1A6541B}"/>
                    </a:ext>
                  </a:extLst>
                </p:cNvPr>
                <p:cNvSpPr txBox="1"/>
                <p:nvPr/>
              </p:nvSpPr>
              <p:spPr>
                <a:xfrm>
                  <a:off x="3933796" y="5544836"/>
                  <a:ext cx="2100292" cy="553998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Triggered by new Dataverse Applicability record. Email includes LOB, requirements.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F2BE005-E375-B5F6-5BBC-E1240302A0A4}"/>
                    </a:ext>
                  </a:extLst>
                </p:cNvPr>
                <p:cNvSpPr txBox="1"/>
                <p:nvPr/>
              </p:nvSpPr>
              <p:spPr>
                <a:xfrm>
                  <a:off x="3986184" y="4663772"/>
                  <a:ext cx="1995516" cy="553998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Power Automate sends notification to assigned analysts with review link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28212B6-9FD4-1ABC-C2C3-E50FA659562B}"/>
                    </a:ext>
                  </a:extLst>
                </p:cNvPr>
                <p:cNvSpPr txBox="1"/>
                <p:nvPr/>
              </p:nvSpPr>
              <p:spPr>
                <a:xfrm>
                  <a:off x="3986184" y="4295000"/>
                  <a:ext cx="1995516" cy="27699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Email Analysts To Review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EEB085C0-2850-3ADF-3C4F-128325B04B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26878" y="4625672"/>
                  <a:ext cx="314129" cy="0"/>
                </a:xfrm>
                <a:prstGeom prst="line">
                  <a:avLst/>
                </a:prstGeom>
                <a:ln cap="rnd"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013FE79B-8467-AD6D-AE5D-AC4DD1C3BA0C}"/>
                    </a:ext>
                  </a:extLst>
                </p:cNvPr>
                <p:cNvGrpSpPr/>
                <p:nvPr/>
              </p:nvGrpSpPr>
              <p:grpSpPr>
                <a:xfrm>
                  <a:off x="3986184" y="3175491"/>
                  <a:ext cx="1995516" cy="530401"/>
                  <a:chOff x="3986184" y="3175491"/>
                  <a:chExt cx="1995516" cy="530401"/>
                </a:xfrm>
              </p:grpSpPr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9C771287-49A7-879E-C38E-59D861166A70}"/>
                      </a:ext>
                    </a:extLst>
                  </p:cNvPr>
                  <p:cNvSpPr txBox="1"/>
                  <p:nvPr/>
                </p:nvSpPr>
                <p:spPr>
                  <a:xfrm>
                    <a:off x="4101924" y="3175491"/>
                    <a:ext cx="176403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>
                        <a:solidFill>
                          <a:schemeClr val="accent1"/>
                        </a:solidFill>
                        <a:latin typeface="Satoshi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Power Automate</a:t>
                    </a:r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F09F1498-F396-5BA1-A544-41D05B985DF1}"/>
                      </a:ext>
                    </a:extLst>
                  </p:cNvPr>
                  <p:cNvSpPr txBox="1"/>
                  <p:nvPr/>
                </p:nvSpPr>
                <p:spPr>
                  <a:xfrm>
                    <a:off x="3986184" y="3428893"/>
                    <a:ext cx="199551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Outlook/M365</a:t>
                    </a:r>
                  </a:p>
                </p:txBody>
              </p:sp>
            </p:grpSp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72531F97-D7BB-B463-65FC-C43C6E77B7BB}"/>
                    </a:ext>
                  </a:extLst>
                </p:cNvPr>
                <p:cNvSpPr/>
                <p:nvPr/>
              </p:nvSpPr>
              <p:spPr>
                <a:xfrm>
                  <a:off x="6576744" y="1854200"/>
                  <a:ext cx="2379394" cy="4405373"/>
                </a:xfrm>
                <a:prstGeom prst="roundRect">
                  <a:avLst>
                    <a:gd name="adj" fmla="val 2509"/>
                  </a:avLst>
                </a:prstGeom>
                <a:solidFill>
                  <a:schemeClr val="bg1"/>
                </a:solidFill>
                <a:ln w="6350">
                  <a:solidFill>
                    <a:schemeClr val="accent2">
                      <a:lumMod val="50000"/>
                    </a:schemeClr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9CEC37A4-C0D3-0B26-E44C-81A45D311E05}"/>
                    </a:ext>
                  </a:extLst>
                </p:cNvPr>
                <p:cNvGrpSpPr/>
                <p:nvPr/>
              </p:nvGrpSpPr>
              <p:grpSpPr>
                <a:xfrm>
                  <a:off x="8624721" y="1939534"/>
                  <a:ext cx="269018" cy="269016"/>
                  <a:chOff x="3109265" y="1988327"/>
                  <a:chExt cx="320043" cy="320043"/>
                </a:xfrm>
              </p:grpSpPr>
              <p:sp>
                <p:nvSpPr>
                  <p:cNvPr id="79" name="Circle">
                    <a:extLst>
                      <a:ext uri="{FF2B5EF4-FFF2-40B4-BE49-F238E27FC236}">
                        <a16:creationId xmlns:a16="http://schemas.microsoft.com/office/drawing/2014/main" id="{C603FDCC-E2B8-C5E6-285A-6F2D04BC6892}"/>
                      </a:ext>
                    </a:extLst>
                  </p:cNvPr>
                  <p:cNvSpPr/>
                  <p:nvPr/>
                </p:nvSpPr>
                <p:spPr>
                  <a:xfrm>
                    <a:off x="3109265" y="1988327"/>
                    <a:ext cx="320043" cy="320043"/>
                  </a:xfrm>
                  <a:prstGeom prst="ellipse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>
                    <a:outerShdw blurRad="381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 sz="1200" b="1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pPr>
                    <a:endParaRPr sz="1000" b="1">
                      <a:latin typeface="Satoshi" pitchFamily="50" charset="0"/>
                    </a:endParaRPr>
                  </a:p>
                </p:txBody>
              </p:sp>
              <p:sp>
                <p:nvSpPr>
                  <p:cNvPr id="80" name="3">
                    <a:extLst>
                      <a:ext uri="{FF2B5EF4-FFF2-40B4-BE49-F238E27FC236}">
                        <a16:creationId xmlns:a16="http://schemas.microsoft.com/office/drawing/2014/main" id="{9BB16FD7-95B1-065E-A215-1C7432B26707}"/>
                      </a:ext>
                    </a:extLst>
                  </p:cNvPr>
                  <p:cNvSpPr txBox="1"/>
                  <p:nvPr/>
                </p:nvSpPr>
                <p:spPr>
                  <a:xfrm>
                    <a:off x="3170502" y="2001888"/>
                    <a:ext cx="197569" cy="29292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45719" tIns="45719" rIns="45719" bIns="45719" numCol="1" anchor="ctr">
                    <a:spAutoFit/>
                  </a:bodyPr>
                  <a:lstStyle>
                    <a:defPPr>
                      <a:defRPr lang="en-US"/>
                    </a:defPPr>
                    <a:lvl1pPr marL="0" algn="ctr" defTabSz="914400" rtl="0" eaLnBrk="1" latinLnBrk="0" hangingPunct="1">
                      <a:defRPr sz="1200" b="1" kern="1200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000">
                        <a:latin typeface="Satoshi" pitchFamily="50" charset="0"/>
                      </a:rPr>
                      <a:t>3</a:t>
                    </a:r>
                    <a:endParaRPr sz="1000">
                      <a:latin typeface="Satoshi" pitchFamily="50" charset="0"/>
                    </a:endParaRPr>
                  </a:p>
                </p:txBody>
              </p:sp>
            </p:grp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07D68D9A-FBDA-EC5C-0EF5-9BA0D79AF376}"/>
                    </a:ext>
                  </a:extLst>
                </p:cNvPr>
                <p:cNvSpPr/>
                <p:nvPr/>
              </p:nvSpPr>
              <p:spPr>
                <a:xfrm>
                  <a:off x="7387807" y="2289131"/>
                  <a:ext cx="757266" cy="757266"/>
                </a:xfrm>
                <a:prstGeom prst="ellipse">
                  <a:avLst/>
                </a:prstGeom>
                <a:solidFill>
                  <a:schemeClr val="accent2">
                    <a:lumMod val="50000"/>
                    <a:alpha val="1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8E44D153-C26C-5768-9E16-0BC993D1A075}"/>
                    </a:ext>
                  </a:extLst>
                </p:cNvPr>
                <p:cNvSpPr/>
                <p:nvPr/>
              </p:nvSpPr>
              <p:spPr>
                <a:xfrm>
                  <a:off x="7452130" y="2353455"/>
                  <a:ext cx="628620" cy="628617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pic>
              <p:nvPicPr>
                <p:cNvPr id="78" name="Graphic 77">
                  <a:extLst>
                    <a:ext uri="{FF2B5EF4-FFF2-40B4-BE49-F238E27FC236}">
                      <a16:creationId xmlns:a16="http://schemas.microsoft.com/office/drawing/2014/main" id="{FF0E26EF-3AC0-566F-3F23-4B4933E340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7609375" y="2510699"/>
                  <a:ext cx="314129" cy="314129"/>
                </a:xfrm>
                <a:prstGeom prst="rect">
                  <a:avLst/>
                </a:prstGeom>
              </p:spPr>
            </p:pic>
            <p:sp>
              <p:nvSpPr>
                <p:cNvPr id="68" name="Rectangle: Rounded Corners 67">
                  <a:extLst>
                    <a:ext uri="{FF2B5EF4-FFF2-40B4-BE49-F238E27FC236}">
                      <a16:creationId xmlns:a16="http://schemas.microsoft.com/office/drawing/2014/main" id="{6ECBC63F-461D-CA63-AEC2-3FBDD0FEACA5}"/>
                    </a:ext>
                  </a:extLst>
                </p:cNvPr>
                <p:cNvSpPr/>
                <p:nvPr/>
              </p:nvSpPr>
              <p:spPr>
                <a:xfrm>
                  <a:off x="6631768" y="5453063"/>
                  <a:ext cx="2269346" cy="737544"/>
                </a:xfrm>
                <a:prstGeom prst="roundRect">
                  <a:avLst>
                    <a:gd name="adj" fmla="val 6509"/>
                  </a:avLst>
                </a:prstGeom>
                <a:solidFill>
                  <a:schemeClr val="accent1">
                    <a:alpha val="5000"/>
                  </a:schemeClr>
                </a:solidFill>
                <a:ln w="6350">
                  <a:solidFill>
                    <a:schemeClr val="accent3"/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8F31E03-4EA0-A3E1-74BD-2836B0A0E6AD}"/>
                    </a:ext>
                  </a:extLst>
                </p:cNvPr>
                <p:cNvSpPr txBox="1"/>
                <p:nvPr/>
              </p:nvSpPr>
              <p:spPr>
                <a:xfrm>
                  <a:off x="6716294" y="5544836"/>
                  <a:ext cx="2100292" cy="553998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Display per requirement Applicability decisions. Analyst can accept, override.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4AD75D20-7A4A-A802-E0C2-DF8E75FCDF79}"/>
                    </a:ext>
                  </a:extLst>
                </p:cNvPr>
                <p:cNvSpPr txBox="1"/>
                <p:nvPr/>
              </p:nvSpPr>
              <p:spPr>
                <a:xfrm>
                  <a:off x="6768682" y="4663772"/>
                  <a:ext cx="1995516" cy="707886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Analyst opens Power App,</a:t>
                  </a:r>
                </a:p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Reviews AI applicability</a:t>
                  </a:r>
                </a:p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decisions per LOB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A16B701-F1F2-A686-D659-3BCD6CE88B9A}"/>
                    </a:ext>
                  </a:extLst>
                </p:cNvPr>
                <p:cNvSpPr txBox="1"/>
                <p:nvPr/>
              </p:nvSpPr>
              <p:spPr>
                <a:xfrm>
                  <a:off x="6772344" y="4079276"/>
                  <a:ext cx="1995516" cy="538609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Power Apps </a:t>
                  </a:r>
                </a:p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GAIP form review</a:t>
                  </a:r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0E55B52B-3365-7588-C950-F76DB414AB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09376" y="4625672"/>
                  <a:ext cx="314129" cy="0"/>
                </a:xfrm>
                <a:prstGeom prst="line">
                  <a:avLst/>
                </a:prstGeom>
                <a:ln cap="rnd"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329B2794-64AF-3C47-EBF3-45347DABBC53}"/>
                    </a:ext>
                  </a:extLst>
                </p:cNvPr>
                <p:cNvGrpSpPr/>
                <p:nvPr/>
              </p:nvGrpSpPr>
              <p:grpSpPr>
                <a:xfrm>
                  <a:off x="6768682" y="3175491"/>
                  <a:ext cx="1995516" cy="530401"/>
                  <a:chOff x="3986184" y="3175491"/>
                  <a:chExt cx="1995516" cy="530401"/>
                </a:xfrm>
              </p:grpSpPr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2D98D4BD-0FAB-FE62-EFDA-339D5124E56F}"/>
                      </a:ext>
                    </a:extLst>
                  </p:cNvPr>
                  <p:cNvSpPr txBox="1"/>
                  <p:nvPr/>
                </p:nvSpPr>
                <p:spPr>
                  <a:xfrm>
                    <a:off x="4101924" y="3175491"/>
                    <a:ext cx="176403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>
                        <a:solidFill>
                          <a:schemeClr val="accent1"/>
                        </a:solidFill>
                        <a:latin typeface="Satoshi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Power Apps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FD17C898-74D3-6D91-D84F-C46AF4EB9328}"/>
                      </a:ext>
                    </a:extLst>
                  </p:cNvPr>
                  <p:cNvSpPr txBox="1"/>
                  <p:nvPr/>
                </p:nvSpPr>
                <p:spPr>
                  <a:xfrm>
                    <a:off x="3986184" y="3428893"/>
                    <a:ext cx="199551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GAIP review form</a:t>
                    </a:r>
                  </a:p>
                </p:txBody>
              </p:sp>
            </p:grp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A9A5F896-E5E3-E538-1B35-5A55FC6437F6}"/>
                    </a:ext>
                  </a:extLst>
                </p:cNvPr>
                <p:cNvSpPr/>
                <p:nvPr/>
              </p:nvSpPr>
              <p:spPr>
                <a:xfrm>
                  <a:off x="9359241" y="1854200"/>
                  <a:ext cx="2379394" cy="4405373"/>
                </a:xfrm>
                <a:prstGeom prst="roundRect">
                  <a:avLst>
                    <a:gd name="adj" fmla="val 2509"/>
                  </a:avLst>
                </a:prstGeom>
                <a:solidFill>
                  <a:schemeClr val="bg1"/>
                </a:solidFill>
                <a:ln w="6350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90FFFDBB-6F63-E262-C575-0EEB2CF97F42}"/>
                    </a:ext>
                  </a:extLst>
                </p:cNvPr>
                <p:cNvGrpSpPr/>
                <p:nvPr/>
              </p:nvGrpSpPr>
              <p:grpSpPr>
                <a:xfrm>
                  <a:off x="11407218" y="1939534"/>
                  <a:ext cx="269018" cy="269016"/>
                  <a:chOff x="3109265" y="1988327"/>
                  <a:chExt cx="320043" cy="320043"/>
                </a:xfrm>
              </p:grpSpPr>
              <p:sp>
                <p:nvSpPr>
                  <p:cNvPr id="96" name="Circle">
                    <a:extLst>
                      <a:ext uri="{FF2B5EF4-FFF2-40B4-BE49-F238E27FC236}">
                        <a16:creationId xmlns:a16="http://schemas.microsoft.com/office/drawing/2014/main" id="{CB20D142-B743-D798-E589-0FF12E584452}"/>
                      </a:ext>
                    </a:extLst>
                  </p:cNvPr>
                  <p:cNvSpPr/>
                  <p:nvPr/>
                </p:nvSpPr>
                <p:spPr>
                  <a:xfrm>
                    <a:off x="3109265" y="1988327"/>
                    <a:ext cx="320043" cy="320043"/>
                  </a:xfrm>
                  <a:prstGeom prst="ellipse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12700" cap="flat">
                    <a:noFill/>
                    <a:miter lim="400000"/>
                  </a:ln>
                  <a:effectLst>
                    <a:outerShdw blurRad="381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defRPr sz="1200" b="1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pPr>
                    <a:endParaRPr sz="1000" b="1">
                      <a:latin typeface="Satoshi" pitchFamily="50" charset="0"/>
                    </a:endParaRPr>
                  </a:p>
                </p:txBody>
              </p:sp>
              <p:sp>
                <p:nvSpPr>
                  <p:cNvPr id="97" name="3">
                    <a:extLst>
                      <a:ext uri="{FF2B5EF4-FFF2-40B4-BE49-F238E27FC236}">
                        <a16:creationId xmlns:a16="http://schemas.microsoft.com/office/drawing/2014/main" id="{3DF9C42C-2D2B-E4D9-04C6-C65E640ABBBC}"/>
                      </a:ext>
                    </a:extLst>
                  </p:cNvPr>
                  <p:cNvSpPr txBox="1"/>
                  <p:nvPr/>
                </p:nvSpPr>
                <p:spPr>
                  <a:xfrm>
                    <a:off x="3164782" y="2001888"/>
                    <a:ext cx="209010" cy="29292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45719" tIns="45719" rIns="45719" bIns="45719" numCol="1" anchor="ctr">
                    <a:spAutoFit/>
                  </a:bodyPr>
                  <a:lstStyle>
                    <a:defPPr>
                      <a:defRPr lang="en-US"/>
                    </a:defPPr>
                    <a:lvl1pPr marL="0" algn="ctr" defTabSz="914400" rtl="0" eaLnBrk="1" latinLnBrk="0" hangingPunct="1">
                      <a:defRPr sz="1200" b="1" kern="1200">
                        <a:solidFill>
                          <a:srgbClr val="FFFFFF"/>
                        </a:solidFill>
                        <a:latin typeface="Segoe UI"/>
                        <a:ea typeface="Segoe UI"/>
                        <a:cs typeface="Segoe UI"/>
                        <a:sym typeface="Segoe UI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000">
                        <a:latin typeface="Satoshi" pitchFamily="50" charset="0"/>
                      </a:rPr>
                      <a:t>4</a:t>
                    </a:r>
                    <a:endParaRPr sz="1000">
                      <a:latin typeface="Satoshi" pitchFamily="50" charset="0"/>
                    </a:endParaRPr>
                  </a:p>
                </p:txBody>
              </p:sp>
            </p:grp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8568313D-C22E-3CB8-EEA1-D40B91C84280}"/>
                    </a:ext>
                  </a:extLst>
                </p:cNvPr>
                <p:cNvSpPr/>
                <p:nvPr/>
              </p:nvSpPr>
              <p:spPr>
                <a:xfrm>
                  <a:off x="10170304" y="2289131"/>
                  <a:ext cx="757266" cy="757266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  <a:alpha val="1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18120319-7E31-C222-7B80-FDE623BB5960}"/>
                    </a:ext>
                  </a:extLst>
                </p:cNvPr>
                <p:cNvSpPr/>
                <p:nvPr/>
              </p:nvSpPr>
              <p:spPr>
                <a:xfrm>
                  <a:off x="10234627" y="2353455"/>
                  <a:ext cx="628620" cy="628617"/>
                </a:xfrm>
                <a:prstGeom prst="ellipse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19050">
                  <a:noFill/>
                </a:ln>
                <a:effectLst>
                  <a:outerShdw blurRad="114300" dist="38100" dir="2700000" sx="101000" sy="101000" algn="tl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LID4096" sz="4050"/>
                </a:p>
              </p:txBody>
            </p:sp>
            <p:pic>
              <p:nvPicPr>
                <p:cNvPr id="95" name="Graphic 94">
                  <a:extLst>
                    <a:ext uri="{FF2B5EF4-FFF2-40B4-BE49-F238E27FC236}">
                      <a16:creationId xmlns:a16="http://schemas.microsoft.com/office/drawing/2014/main" id="{8FC01B4B-9D93-66EE-E466-29CC7359FE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10391872" y="2510699"/>
                  <a:ext cx="314129" cy="314129"/>
                </a:xfrm>
                <a:prstGeom prst="rect">
                  <a:avLst/>
                </a:prstGeom>
              </p:spPr>
            </p:pic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954CFC50-8A4D-DB48-1E2C-C1579BBEBB63}"/>
                    </a:ext>
                  </a:extLst>
                </p:cNvPr>
                <p:cNvSpPr/>
                <p:nvPr/>
              </p:nvSpPr>
              <p:spPr>
                <a:xfrm>
                  <a:off x="9414265" y="5453063"/>
                  <a:ext cx="2269346" cy="737544"/>
                </a:xfrm>
                <a:prstGeom prst="roundRect">
                  <a:avLst>
                    <a:gd name="adj" fmla="val 6509"/>
                  </a:avLst>
                </a:prstGeom>
                <a:solidFill>
                  <a:schemeClr val="accent1">
                    <a:alpha val="5000"/>
                  </a:schemeClr>
                </a:solidFill>
                <a:ln w="6350">
                  <a:solidFill>
                    <a:schemeClr val="accent3"/>
                  </a:solidFill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60EA30D-6BA9-A94B-38E7-58774BF093B5}"/>
                    </a:ext>
                  </a:extLst>
                </p:cNvPr>
                <p:cNvSpPr txBox="1"/>
                <p:nvPr/>
              </p:nvSpPr>
              <p:spPr>
                <a:xfrm>
                  <a:off x="9498791" y="5544836"/>
                  <a:ext cx="2100292" cy="553998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Final GAIP document stored. Dataverse record marked reviewed. Audit trail. 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E7EAC13-7665-A05C-4C73-F69069C8A5DE}"/>
                    </a:ext>
                  </a:extLst>
                </p:cNvPr>
                <p:cNvSpPr txBox="1"/>
                <p:nvPr/>
              </p:nvSpPr>
              <p:spPr>
                <a:xfrm>
                  <a:off x="9551179" y="4663772"/>
                  <a:ext cx="1995516" cy="40011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Approved applicability doc saved. 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9402F07-9AD7-7FB3-2627-19027B4C33E8}"/>
                    </a:ext>
                  </a:extLst>
                </p:cNvPr>
                <p:cNvSpPr txBox="1"/>
                <p:nvPr/>
              </p:nvSpPr>
              <p:spPr>
                <a:xfrm>
                  <a:off x="9551179" y="4202667"/>
                  <a:ext cx="1995516" cy="46166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Applicability document stored</a:t>
                  </a:r>
                </a:p>
              </p:txBody>
            </p: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2FDF825B-BD64-D4D7-025B-3D44B0F1C2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91873" y="4625672"/>
                  <a:ext cx="314129" cy="0"/>
                </a:xfrm>
                <a:prstGeom prst="line">
                  <a:avLst/>
                </a:prstGeom>
                <a:ln cap="rnd"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301165D1-188A-E057-0F46-1205FAFB9864}"/>
                    </a:ext>
                  </a:extLst>
                </p:cNvPr>
                <p:cNvGrpSpPr/>
                <p:nvPr/>
              </p:nvGrpSpPr>
              <p:grpSpPr>
                <a:xfrm>
                  <a:off x="9551179" y="3175491"/>
                  <a:ext cx="1995516" cy="530401"/>
                  <a:chOff x="3986184" y="3175491"/>
                  <a:chExt cx="1995516" cy="530401"/>
                </a:xfrm>
              </p:grpSpPr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EB88E9-5C2B-D443-86A4-15D7618CA12E}"/>
                      </a:ext>
                    </a:extLst>
                  </p:cNvPr>
                  <p:cNvSpPr txBox="1"/>
                  <p:nvPr/>
                </p:nvSpPr>
                <p:spPr>
                  <a:xfrm>
                    <a:off x="4101924" y="3175491"/>
                    <a:ext cx="176403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>
                        <a:solidFill>
                          <a:schemeClr val="accent1"/>
                        </a:solidFill>
                        <a:latin typeface="Satoshi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SharePoint</a:t>
                    </a:r>
                  </a:p>
                </p:txBody>
              </p:sp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9ED2F432-BA0A-7CA1-857B-8761913659B3}"/>
                      </a:ext>
                    </a:extLst>
                  </p:cNvPr>
                  <p:cNvSpPr txBox="1"/>
                  <p:nvPr/>
                </p:nvSpPr>
                <p:spPr>
                  <a:xfrm>
                    <a:off x="3986184" y="3428893"/>
                    <a:ext cx="1995516" cy="276999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200" i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Document library</a:t>
                    </a:r>
                  </a:p>
                </p:txBody>
              </p:sp>
            </p:grp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54259686-8431-A432-173C-12E0EB7CA595}"/>
                    </a:ext>
                  </a:extLst>
                </p:cNvPr>
                <p:cNvCxnSpPr>
                  <a:cxnSpLocks/>
                  <a:stCxn id="9" idx="3"/>
                  <a:endCxn id="10" idx="1"/>
                </p:cNvCxnSpPr>
                <p:nvPr/>
              </p:nvCxnSpPr>
              <p:spPr>
                <a:xfrm>
                  <a:off x="2871814" y="4056886"/>
                  <a:ext cx="922432" cy="1"/>
                </a:xfrm>
                <a:prstGeom prst="line">
                  <a:avLst/>
                </a:prstGeom>
                <a:ln w="3175">
                  <a:solidFill>
                    <a:schemeClr val="bg1">
                      <a:lumMod val="50000"/>
                    </a:schemeClr>
                  </a:solidFill>
                  <a:tailEnd type="arrow" w="med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8D2CC18-A1FA-9EFB-7FFE-6B3765F9DE2D}"/>
                    </a:ext>
                  </a:extLst>
                </p:cNvPr>
                <p:cNvSpPr txBox="1"/>
                <p:nvPr/>
              </p:nvSpPr>
              <p:spPr>
                <a:xfrm>
                  <a:off x="2894900" y="4090109"/>
                  <a:ext cx="839597" cy="215444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Applicability →</a:t>
                  </a:r>
                </a:p>
              </p:txBody>
            </p:sp>
            <p:sp>
              <p:nvSpPr>
                <p:cNvPr id="102" name="Circle">
                  <a:extLst>
                    <a:ext uri="{FF2B5EF4-FFF2-40B4-BE49-F238E27FC236}">
                      <a16:creationId xmlns:a16="http://schemas.microsoft.com/office/drawing/2014/main" id="{BB122951-AFB3-18C1-2669-2D600B6D3AA3}"/>
                    </a:ext>
                  </a:extLst>
                </p:cNvPr>
                <p:cNvSpPr/>
                <p:nvPr/>
              </p:nvSpPr>
              <p:spPr>
                <a:xfrm>
                  <a:off x="3180190" y="3740736"/>
                  <a:ext cx="269018" cy="269016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2700" cap="flat">
                  <a:noFill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1200" b="1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sz="1000" b="1">
                    <a:latin typeface="Satoshi" pitchFamily="50" charset="0"/>
                  </a:endParaRPr>
                </a:p>
              </p:txBody>
            </p:sp>
            <p:sp>
              <p:nvSpPr>
                <p:cNvPr id="103" name="3">
                  <a:extLst>
                    <a:ext uri="{FF2B5EF4-FFF2-40B4-BE49-F238E27FC236}">
                      <a16:creationId xmlns:a16="http://schemas.microsoft.com/office/drawing/2014/main" id="{B4C22F79-91DD-CE71-80D2-05F0436AE447}"/>
                    </a:ext>
                  </a:extLst>
                </p:cNvPr>
                <p:cNvSpPr txBox="1"/>
                <p:nvPr/>
              </p:nvSpPr>
              <p:spPr>
                <a:xfrm>
                  <a:off x="3242886" y="3752135"/>
                  <a:ext cx="143627" cy="2462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defPPr>
                    <a:defRPr lang="en-US"/>
                  </a:defPPr>
                  <a:lvl1pPr marL="0" algn="ctr" defTabSz="914400" rtl="0" eaLnBrk="1" latinLnBrk="0" hangingPunct="1">
                    <a:defRPr sz="1200" b="1" kern="120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>
                      <a:latin typeface="Satoshi" pitchFamily="50" charset="0"/>
                    </a:rPr>
                    <a:t>1</a:t>
                  </a:r>
                  <a:endParaRPr sz="1000">
                    <a:latin typeface="Satoshi" pitchFamily="50" charset="0"/>
                  </a:endParaRPr>
                </a:p>
              </p:txBody>
            </p:sp>
            <p:sp>
              <p:nvSpPr>
                <p:cNvPr id="106" name="Circle">
                  <a:extLst>
                    <a:ext uri="{FF2B5EF4-FFF2-40B4-BE49-F238E27FC236}">
                      <a16:creationId xmlns:a16="http://schemas.microsoft.com/office/drawing/2014/main" id="{D3E62BF6-6122-12F6-5AE7-9D20E5399B09}"/>
                    </a:ext>
                  </a:extLst>
                </p:cNvPr>
                <p:cNvSpPr/>
                <p:nvPr/>
              </p:nvSpPr>
              <p:spPr>
                <a:xfrm>
                  <a:off x="6210302" y="3679972"/>
                  <a:ext cx="329782" cy="32978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2700" cap="flat">
                  <a:noFill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1200" b="1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sz="1000" b="1">
                    <a:latin typeface="Satoshi" pitchFamily="50" charset="0"/>
                  </a:endParaRPr>
                </a:p>
              </p:txBody>
            </p:sp>
            <p:sp>
              <p:nvSpPr>
                <p:cNvPr id="107" name="3">
                  <a:extLst>
                    <a:ext uri="{FF2B5EF4-FFF2-40B4-BE49-F238E27FC236}">
                      <a16:creationId xmlns:a16="http://schemas.microsoft.com/office/drawing/2014/main" id="{E415622C-191E-D089-4C02-879E31A12C8D}"/>
                    </a:ext>
                  </a:extLst>
                </p:cNvPr>
                <p:cNvSpPr txBox="1"/>
                <p:nvPr/>
              </p:nvSpPr>
              <p:spPr>
                <a:xfrm>
                  <a:off x="6191972" y="3721753"/>
                  <a:ext cx="366445" cy="2462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defPPr>
                    <a:defRPr lang="en-US"/>
                  </a:defPPr>
                  <a:lvl1pPr marL="0" algn="ctr" defTabSz="914400" rtl="0" eaLnBrk="1" latinLnBrk="0" hangingPunct="1">
                    <a:defRPr sz="1200" b="1" kern="120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</a:rPr>
                    <a:t>2</a:t>
                  </a:r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→3</a:t>
                  </a:r>
                  <a:endParaRPr sz="1000">
                    <a:solidFill>
                      <a:schemeClr val="bg1"/>
                    </a:solidFill>
                    <a:latin typeface="Satoshi" pitchFamily="50" charset="0"/>
                  </a:endParaRPr>
                </a:p>
              </p:txBody>
            </p:sp>
            <p:sp>
              <p:nvSpPr>
                <p:cNvPr id="110" name="Circle">
                  <a:extLst>
                    <a:ext uri="{FF2B5EF4-FFF2-40B4-BE49-F238E27FC236}">
                      <a16:creationId xmlns:a16="http://schemas.microsoft.com/office/drawing/2014/main" id="{56E52086-072B-49D0-0A3C-23F6ECCE8B95}"/>
                    </a:ext>
                  </a:extLst>
                </p:cNvPr>
                <p:cNvSpPr/>
                <p:nvPr/>
              </p:nvSpPr>
              <p:spPr>
                <a:xfrm>
                  <a:off x="8992800" y="3679972"/>
                  <a:ext cx="329783" cy="329780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12700" cap="flat">
                  <a:noFill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1200" b="1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sz="1000" b="1">
                    <a:latin typeface="Satoshi" pitchFamily="50" charset="0"/>
                  </a:endParaRPr>
                </a:p>
              </p:txBody>
            </p:sp>
            <p:sp>
              <p:nvSpPr>
                <p:cNvPr id="111" name="3">
                  <a:extLst>
                    <a:ext uri="{FF2B5EF4-FFF2-40B4-BE49-F238E27FC236}">
                      <a16:creationId xmlns:a16="http://schemas.microsoft.com/office/drawing/2014/main" id="{20396898-88DB-661D-3515-52D1F2C2D838}"/>
                    </a:ext>
                  </a:extLst>
                </p:cNvPr>
                <p:cNvSpPr txBox="1"/>
                <p:nvPr/>
              </p:nvSpPr>
              <p:spPr>
                <a:xfrm>
                  <a:off x="8970462" y="3721753"/>
                  <a:ext cx="374460" cy="2462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45719" tIns="45719" rIns="45719" bIns="45719" numCol="1" anchor="ctr">
                  <a:spAutoFit/>
                </a:bodyPr>
                <a:lstStyle>
                  <a:defPPr>
                    <a:defRPr lang="en-US"/>
                  </a:defPPr>
                  <a:lvl1pPr marL="0" algn="ctr" defTabSz="914400" rtl="0" eaLnBrk="1" latinLnBrk="0" hangingPunct="1">
                    <a:defRPr sz="1200" b="1" kern="120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</a:rPr>
                    <a:t>3</a:t>
                  </a:r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→4</a:t>
                  </a:r>
                  <a:endParaRPr sz="1000">
                    <a:solidFill>
                      <a:schemeClr val="bg1"/>
                    </a:solidFill>
                    <a:latin typeface="Satoshi" pitchFamily="50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10414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Custom 675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B3A5C"/>
      </a:accent1>
      <a:accent2>
        <a:srgbClr val="7A8EA3"/>
      </a:accent2>
      <a:accent3>
        <a:srgbClr val="1B3A5C"/>
      </a:accent3>
      <a:accent4>
        <a:srgbClr val="7A8EA3"/>
      </a:accent4>
      <a:accent5>
        <a:srgbClr val="1B3A5C"/>
      </a:accent5>
      <a:accent6>
        <a:srgbClr val="7A8EA3"/>
      </a:accent6>
      <a:hlink>
        <a:srgbClr val="1B3A5C"/>
      </a:hlink>
      <a:folHlink>
        <a:srgbClr val="7A8E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Widescreen</PresentationFormat>
  <Paragraphs>114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Wingdings</vt:lpstr>
      <vt:lpstr>Aptos</vt:lpstr>
      <vt:lpstr>Satoshi</vt:lpstr>
      <vt:lpstr>Arial</vt:lpstr>
      <vt:lpstr>Satoshi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</dc:creator>
  <cp:lastModifiedBy>Slidelya User 01</cp:lastModifiedBy>
  <cp:revision>3</cp:revision>
  <dcterms:created xsi:type="dcterms:W3CDTF">2025-07-26T09:34:16Z</dcterms:created>
  <dcterms:modified xsi:type="dcterms:W3CDTF">2026-03-30T12:25:07Z</dcterms:modified>
</cp:coreProperties>
</file>